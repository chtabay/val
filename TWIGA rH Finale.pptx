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Kaushan Script" panose="03060602040705080205" pitchFamily="66"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CwBYHG4ozSEgMKGk0YBtWhtWl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d842e5c47e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d842e5c47e_0_4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d842e5c47e_0_4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gd842e5c47e_0_4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d83fd30aaf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gd83fd30aaf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e43107dc1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ge43107dc1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d842e5c47e_0_4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d842e5c47e_0_4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d842e5c47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gd842e5c47e_0_5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d842e5c47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gd842e5c47e_0_5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e43107dc1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6" name="Google Shape;236;ge43107dc16_0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d87025c01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gd87025c01f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e43107dc16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5" name="Google Shape;265;ge43107dc16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d842e5c47e_0_5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2" name="Google Shape;282;gd842e5c47e_0_58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d842e5c47e_0_13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2" name="Google Shape;322;gd842e5c47e_0_13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e43107dc16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7" name="Google Shape;337;ge43107dc16_0_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83fd30aaf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4" name="Google Shape;354;gd83fd30aaf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d842e5c47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4" name="Google Shape;364;gd842e5c47e_0_4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d842e5c47e_0_12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6" name="Google Shape;386;gd842e5c47e_0_12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842e5c47e_0_1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8" name="Google Shape;408;gd842e5c47e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d83fd30aaf_0_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0" name="Google Shape;430;gd83fd30aaf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d8e05dde71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5" name="Google Shape;435;gd8e05dde71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ise en page personnalisée 2">
  <p:cSld name="CUSTOM_5">
    <p:spTree>
      <p:nvGrpSpPr>
        <p:cNvPr id="1" name="Shape 33"/>
        <p:cNvGrpSpPr/>
        <p:nvPr/>
      </p:nvGrpSpPr>
      <p:grpSpPr>
        <a:xfrm>
          <a:off x="0" y="0"/>
          <a:ext cx="0" cy="0"/>
          <a:chOff x="0" y="0"/>
          <a:chExt cx="0" cy="0"/>
        </a:xfrm>
      </p:grpSpPr>
      <p:pic>
        <p:nvPicPr>
          <p:cNvPr id="34" name="Google Shape;34;gd4deaae8b2_0_14"/>
          <p:cNvPicPr preferRelativeResize="0"/>
          <p:nvPr/>
        </p:nvPicPr>
        <p:blipFill rotWithShape="1">
          <a:blip r:embed="rId2">
            <a:alphaModFix/>
          </a:blip>
          <a:srcRect/>
          <a:stretch/>
        </p:blipFill>
        <p:spPr>
          <a:xfrm>
            <a:off x="9572347" y="0"/>
            <a:ext cx="2619654" cy="6856514"/>
          </a:xfrm>
          <a:prstGeom prst="rect">
            <a:avLst/>
          </a:prstGeom>
          <a:noFill/>
          <a:ln>
            <a:noFill/>
          </a:ln>
        </p:spPr>
      </p:pic>
      <p:sp>
        <p:nvSpPr>
          <p:cNvPr id="35" name="Google Shape;35;gd4deaae8b2_0_14"/>
          <p:cNvSpPr/>
          <p:nvPr/>
        </p:nvSpPr>
        <p:spPr>
          <a:xfrm>
            <a:off x="0" y="0"/>
            <a:ext cx="12192000" cy="6858000"/>
          </a:xfrm>
          <a:prstGeom prst="rect">
            <a:avLst/>
          </a:prstGeom>
          <a:gradFill>
            <a:gsLst>
              <a:gs pos="0">
                <a:srgbClr val="671438"/>
              </a:gs>
              <a:gs pos="18000">
                <a:srgbClr val="951E50"/>
              </a:gs>
              <a:gs pos="38000">
                <a:srgbClr val="9C1F54"/>
              </a:gs>
              <a:gs pos="58000">
                <a:srgbClr val="B32461"/>
              </a:gs>
              <a:gs pos="78000">
                <a:srgbClr val="C9628E"/>
              </a:gs>
              <a:gs pos="88000">
                <a:srgbClr val="DEA0BB">
                  <a:alpha val="46666"/>
                </a:srgbClr>
              </a:gs>
              <a:gs pos="100000">
                <a:srgbClr val="DEA0BB">
                  <a:alpha val="24705"/>
                </a:srgbClr>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Kaushan Script"/>
              <a:ea typeface="Kaushan Script"/>
              <a:cs typeface="Kaushan Script"/>
              <a:sym typeface="Kaushan Script"/>
            </a:endParaRPr>
          </a:p>
        </p:txBody>
      </p:sp>
      <p:sp>
        <p:nvSpPr>
          <p:cNvPr id="36" name="Google Shape;36;gd4deaae8b2_0_14"/>
          <p:cNvSpPr txBox="1"/>
          <p:nvPr/>
        </p:nvSpPr>
        <p:spPr>
          <a:xfrm>
            <a:off x="1956025" y="3343625"/>
            <a:ext cx="2950200" cy="1323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0"/>
              <a:buFont typeface="Arial"/>
              <a:buNone/>
            </a:pPr>
            <a:r>
              <a:rPr lang="fr-FR" sz="8000" b="1" i="0" u="none" strike="noStrike" cap="none">
                <a:solidFill>
                  <a:srgbClr val="F8F8F8"/>
                </a:solidFill>
                <a:latin typeface="Kaushan Script"/>
                <a:ea typeface="Kaushan Script"/>
                <a:cs typeface="Kaushan Script"/>
                <a:sym typeface="Kaushan Script"/>
              </a:rPr>
              <a:t>Twiga</a:t>
            </a:r>
            <a:endParaRPr sz="8000" b="1" i="0" u="none" strike="noStrike" cap="none">
              <a:solidFill>
                <a:srgbClr val="F8F8F8"/>
              </a:solidFill>
              <a:latin typeface="Kaushan Script"/>
              <a:ea typeface="Kaushan Script"/>
              <a:cs typeface="Kaushan Script"/>
              <a:sym typeface="Kaushan Script"/>
            </a:endParaRPr>
          </a:p>
        </p:txBody>
      </p:sp>
      <p:sp>
        <p:nvSpPr>
          <p:cNvPr id="37" name="Google Shape;37;gd4deaae8b2_0_14"/>
          <p:cNvSpPr/>
          <p:nvPr/>
        </p:nvSpPr>
        <p:spPr>
          <a:xfrm>
            <a:off x="1632455" y="1023104"/>
            <a:ext cx="1051200" cy="9717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 name="Google Shape;38;gd4deaae8b2_0_14"/>
          <p:cNvSpPr/>
          <p:nvPr/>
        </p:nvSpPr>
        <p:spPr>
          <a:xfrm>
            <a:off x="988057" y="1501112"/>
            <a:ext cx="968100" cy="8133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 name="Google Shape;39;gd4deaae8b2_0_14"/>
          <p:cNvSpPr/>
          <p:nvPr/>
        </p:nvSpPr>
        <p:spPr>
          <a:xfrm>
            <a:off x="512250" y="460318"/>
            <a:ext cx="502500" cy="4662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 name="Google Shape;40;gd4deaae8b2_0_14"/>
          <p:cNvSpPr txBox="1"/>
          <p:nvPr/>
        </p:nvSpPr>
        <p:spPr>
          <a:xfrm>
            <a:off x="3925246" y="4482400"/>
            <a:ext cx="1376400" cy="3693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fr-FR" sz="1800" b="0" i="0" u="none" strike="noStrike" cap="none">
                <a:solidFill>
                  <a:srgbClr val="F8F8F8"/>
                </a:solidFill>
                <a:latin typeface="Calibri"/>
                <a:ea typeface="Calibri"/>
                <a:cs typeface="Calibri"/>
                <a:sym typeface="Calibri"/>
              </a:rPr>
              <a:t>Réussir par </a:t>
            </a:r>
            <a:r>
              <a:rPr lang="fr-FR" sz="1800" b="0" i="0" u="none" strike="noStrike" cap="none">
                <a:solidFill>
                  <a:srgbClr val="FEFFFF"/>
                </a:solidFill>
                <a:latin typeface="Calibri"/>
                <a:ea typeface="Calibri"/>
                <a:cs typeface="Calibri"/>
                <a:sym typeface="Calibri"/>
              </a:rPr>
              <a:t>l’</a:t>
            </a:r>
            <a:endParaRPr sz="1400" b="0" i="0" u="none" strike="noStrike" cap="none">
              <a:solidFill>
                <a:schemeClr val="accent1"/>
              </a:solidFill>
              <a:latin typeface="Arial"/>
              <a:ea typeface="Arial"/>
              <a:cs typeface="Arial"/>
              <a:sym typeface="Arial"/>
            </a:endParaRPr>
          </a:p>
        </p:txBody>
      </p:sp>
      <p:sp>
        <p:nvSpPr>
          <p:cNvPr id="41" name="Google Shape;41;gd4deaae8b2_0_14"/>
          <p:cNvSpPr txBox="1"/>
          <p:nvPr/>
        </p:nvSpPr>
        <p:spPr>
          <a:xfrm>
            <a:off x="1956025" y="4631400"/>
            <a:ext cx="2568600" cy="1323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000"/>
              <a:buFont typeface="Arial"/>
              <a:buNone/>
            </a:pPr>
            <a:r>
              <a:rPr lang="fr-FR" sz="8000" b="1" i="0" u="none" strike="noStrike" cap="none">
                <a:solidFill>
                  <a:srgbClr val="FEFFFF"/>
                </a:solidFill>
                <a:latin typeface="Kaushan Script"/>
                <a:ea typeface="Kaushan Script"/>
                <a:cs typeface="Kaushan Script"/>
                <a:sym typeface="Kaushan Script"/>
              </a:rPr>
              <a:t>R</a:t>
            </a:r>
            <a:r>
              <a:rPr lang="fr-FR" sz="8000" b="1" i="0" u="none" strike="noStrike" cap="none">
                <a:solidFill>
                  <a:schemeClr val="accent1"/>
                </a:solidFill>
                <a:latin typeface="Kaushan Script"/>
                <a:ea typeface="Kaushan Script"/>
                <a:cs typeface="Kaushan Script"/>
                <a:sym typeface="Kaushan Script"/>
              </a:rPr>
              <a:t>H</a:t>
            </a:r>
            <a:endParaRPr sz="8000" b="1" i="0" u="none" strike="noStrike" cap="none">
              <a:solidFill>
                <a:schemeClr val="accent1"/>
              </a:solidFill>
              <a:latin typeface="Kaushan Script"/>
              <a:ea typeface="Kaushan Script"/>
              <a:cs typeface="Kaushan Script"/>
              <a:sym typeface="Kaushan Script"/>
            </a:endParaRPr>
          </a:p>
        </p:txBody>
      </p:sp>
      <p:sp>
        <p:nvSpPr>
          <p:cNvPr id="42" name="Google Shape;42;gd4deaae8b2_0_14"/>
          <p:cNvSpPr txBox="1"/>
          <p:nvPr/>
        </p:nvSpPr>
        <p:spPr>
          <a:xfrm>
            <a:off x="4457750" y="4851700"/>
            <a:ext cx="843900" cy="4617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fr-FR" sz="1800" b="0" i="0" u="none" strike="noStrike" cap="none">
                <a:solidFill>
                  <a:schemeClr val="accent1"/>
                </a:solidFill>
                <a:latin typeface="Calibri"/>
                <a:ea typeface="Calibri"/>
                <a:cs typeface="Calibri"/>
                <a:sym typeface="Calibri"/>
              </a:rPr>
              <a:t>umain</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e de titre 2">
  <p:cSld name="TITLE_2">
    <p:spTree>
      <p:nvGrpSpPr>
        <p:cNvPr id="1" name="Shape 43"/>
        <p:cNvGrpSpPr/>
        <p:nvPr/>
      </p:nvGrpSpPr>
      <p:grpSpPr>
        <a:xfrm>
          <a:off x="0" y="0"/>
          <a:ext cx="0" cy="0"/>
          <a:chOff x="0" y="0"/>
          <a:chExt cx="0" cy="0"/>
        </a:xfrm>
      </p:grpSpPr>
      <p:sp>
        <p:nvSpPr>
          <p:cNvPr id="44" name="Google Shape;44;gd4d73a4ae8_0_75"/>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1 2">
  <p:cSld name="CUSTOM_3">
    <p:spTree>
      <p:nvGrpSpPr>
        <p:cNvPr id="1" name="Shape 45"/>
        <p:cNvGrpSpPr/>
        <p:nvPr/>
      </p:nvGrpSpPr>
      <p:grpSpPr>
        <a:xfrm>
          <a:off x="0" y="0"/>
          <a:ext cx="0" cy="0"/>
          <a:chOff x="0" y="0"/>
          <a:chExt cx="0" cy="0"/>
        </a:xfrm>
      </p:grpSpPr>
      <p:sp>
        <p:nvSpPr>
          <p:cNvPr id="46" name="Google Shape;46;gd4d73a4ae8_1_22"/>
          <p:cNvSpPr/>
          <p:nvPr/>
        </p:nvSpPr>
        <p:spPr>
          <a:xfrm>
            <a:off x="-37450" y="-18150"/>
            <a:ext cx="3248100" cy="6894300"/>
          </a:xfrm>
          <a:prstGeom prst="rect">
            <a:avLst/>
          </a:prstGeom>
          <a:gradFill>
            <a:gsLst>
              <a:gs pos="0">
                <a:srgbClr val="671438"/>
              </a:gs>
              <a:gs pos="26000">
                <a:srgbClr val="951E50"/>
              </a:gs>
              <a:gs pos="52000">
                <a:srgbClr val="B32461"/>
              </a:gs>
              <a:gs pos="78000">
                <a:srgbClr val="D586A8"/>
              </a:gs>
              <a:gs pos="99110">
                <a:schemeClr val="lt1"/>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 name="Google Shape;47;gd4d73a4ae8_1_22"/>
          <p:cNvSpPr txBox="1">
            <a:spLocks noGrp="1"/>
          </p:cNvSpPr>
          <p:nvPr>
            <p:ph type="title"/>
          </p:nvPr>
        </p:nvSpPr>
        <p:spPr>
          <a:xfrm>
            <a:off x="3783087" y="713975"/>
            <a:ext cx="7585200" cy="12810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6A5AA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8" name="Google Shape;48;gd4d73a4ae8_1_22"/>
          <p:cNvSpPr txBox="1">
            <a:spLocks noGrp="1"/>
          </p:cNvSpPr>
          <p:nvPr>
            <p:ph type="body" idx="1"/>
          </p:nvPr>
        </p:nvSpPr>
        <p:spPr>
          <a:xfrm>
            <a:off x="3779927" y="2223468"/>
            <a:ext cx="7588200" cy="37776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9" name="Google Shape;49;gd4d73a4ae8_1_22"/>
          <p:cNvSpPr/>
          <p:nvPr/>
        </p:nvSpPr>
        <p:spPr>
          <a:xfrm>
            <a:off x="1632455" y="1023104"/>
            <a:ext cx="1051200" cy="9717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 name="Google Shape;50;gd4d73a4ae8_1_22"/>
          <p:cNvSpPr/>
          <p:nvPr/>
        </p:nvSpPr>
        <p:spPr>
          <a:xfrm>
            <a:off x="988057" y="1501112"/>
            <a:ext cx="968100" cy="8133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 name="Google Shape;51;gd4d73a4ae8_1_22"/>
          <p:cNvSpPr/>
          <p:nvPr/>
        </p:nvSpPr>
        <p:spPr>
          <a:xfrm>
            <a:off x="512250" y="460318"/>
            <a:ext cx="502500" cy="4662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 name="Google Shape;52;gd4d73a4ae8_1_22"/>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e de titre 2 2">
  <p:cSld name="TITLE_2_2">
    <p:spTree>
      <p:nvGrpSpPr>
        <p:cNvPr id="1" name="Shape 53"/>
        <p:cNvGrpSpPr/>
        <p:nvPr/>
      </p:nvGrpSpPr>
      <p:grpSpPr>
        <a:xfrm>
          <a:off x="0" y="0"/>
          <a:ext cx="0" cy="0"/>
          <a:chOff x="0" y="0"/>
          <a:chExt cx="0" cy="0"/>
        </a:xfrm>
      </p:grpSpPr>
      <p:sp>
        <p:nvSpPr>
          <p:cNvPr id="54" name="Google Shape;54;gd4d73a4ae8_1_6"/>
          <p:cNvSpPr/>
          <p:nvPr/>
        </p:nvSpPr>
        <p:spPr>
          <a:xfrm>
            <a:off x="1632455" y="1023104"/>
            <a:ext cx="1051200" cy="9717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gd4d73a4ae8_1_6"/>
          <p:cNvSpPr/>
          <p:nvPr/>
        </p:nvSpPr>
        <p:spPr>
          <a:xfrm>
            <a:off x="988057" y="1501112"/>
            <a:ext cx="968100" cy="8133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gd4d73a4ae8_1_6"/>
          <p:cNvSpPr/>
          <p:nvPr/>
        </p:nvSpPr>
        <p:spPr>
          <a:xfrm>
            <a:off x="512250" y="460318"/>
            <a:ext cx="502500" cy="4662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 name="Google Shape;57;gd4d73a4ae8_1_6"/>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1 1 1">
  <p:cSld name="CUSTOM_1_1">
    <p:spTree>
      <p:nvGrpSpPr>
        <p:cNvPr id="1" name="Shape 58"/>
        <p:cNvGrpSpPr/>
        <p:nvPr/>
      </p:nvGrpSpPr>
      <p:grpSpPr>
        <a:xfrm>
          <a:off x="0" y="0"/>
          <a:ext cx="0" cy="0"/>
          <a:chOff x="0" y="0"/>
          <a:chExt cx="0" cy="0"/>
        </a:xfrm>
      </p:grpSpPr>
      <p:sp>
        <p:nvSpPr>
          <p:cNvPr id="59" name="Google Shape;59;gd4d73a4ae8_1_67"/>
          <p:cNvSpPr/>
          <p:nvPr/>
        </p:nvSpPr>
        <p:spPr>
          <a:xfrm rot="10800000">
            <a:off x="-37450" y="-18150"/>
            <a:ext cx="3248100" cy="6894300"/>
          </a:xfrm>
          <a:prstGeom prst="rect">
            <a:avLst/>
          </a:prstGeom>
          <a:gradFill>
            <a:gsLst>
              <a:gs pos="0">
                <a:srgbClr val="671438"/>
              </a:gs>
              <a:gs pos="26000">
                <a:srgbClr val="951E50"/>
              </a:gs>
              <a:gs pos="52000">
                <a:srgbClr val="B32461"/>
              </a:gs>
              <a:gs pos="78000">
                <a:srgbClr val="D586A8"/>
              </a:gs>
              <a:gs pos="99110">
                <a:schemeClr val="lt1"/>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 name="Google Shape;60;gd4d73a4ae8_1_67"/>
          <p:cNvSpPr txBox="1">
            <a:spLocks noGrp="1"/>
          </p:cNvSpPr>
          <p:nvPr>
            <p:ph type="title"/>
          </p:nvPr>
        </p:nvSpPr>
        <p:spPr>
          <a:xfrm>
            <a:off x="3783087" y="713975"/>
            <a:ext cx="7585200" cy="12810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6A5AA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 name="Google Shape;61;gd4d73a4ae8_1_67"/>
          <p:cNvSpPr txBox="1">
            <a:spLocks noGrp="1"/>
          </p:cNvSpPr>
          <p:nvPr>
            <p:ph type="body" idx="1"/>
          </p:nvPr>
        </p:nvSpPr>
        <p:spPr>
          <a:xfrm>
            <a:off x="3779927" y="2223468"/>
            <a:ext cx="7588200" cy="37776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2" name="Google Shape;62;gd4d73a4ae8_1_67"/>
          <p:cNvSpPr/>
          <p:nvPr/>
        </p:nvSpPr>
        <p:spPr>
          <a:xfrm>
            <a:off x="1632455" y="1023104"/>
            <a:ext cx="1051200" cy="9717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 name="Google Shape;63;gd4d73a4ae8_1_67"/>
          <p:cNvSpPr/>
          <p:nvPr/>
        </p:nvSpPr>
        <p:spPr>
          <a:xfrm>
            <a:off x="988057" y="1501112"/>
            <a:ext cx="968100" cy="8133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gd4d73a4ae8_1_67"/>
          <p:cNvSpPr/>
          <p:nvPr/>
        </p:nvSpPr>
        <p:spPr>
          <a:xfrm>
            <a:off x="512250" y="460318"/>
            <a:ext cx="502500" cy="4662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 name="Google Shape;65;gd4d73a4ae8_1_67"/>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2 1">
  <p:cSld name="CUSTOM_2_1">
    <p:spTree>
      <p:nvGrpSpPr>
        <p:cNvPr id="1" name="Shape 66"/>
        <p:cNvGrpSpPr/>
        <p:nvPr/>
      </p:nvGrpSpPr>
      <p:grpSpPr>
        <a:xfrm>
          <a:off x="0" y="0"/>
          <a:ext cx="0" cy="0"/>
          <a:chOff x="0" y="0"/>
          <a:chExt cx="0" cy="0"/>
        </a:xfrm>
      </p:grpSpPr>
      <p:sp>
        <p:nvSpPr>
          <p:cNvPr id="67" name="Google Shape;67;gd4d73a4ae8_0_24"/>
          <p:cNvSpPr/>
          <p:nvPr/>
        </p:nvSpPr>
        <p:spPr>
          <a:xfrm>
            <a:off x="0" y="0"/>
            <a:ext cx="12192000" cy="6858000"/>
          </a:xfrm>
          <a:prstGeom prst="rect">
            <a:avLst/>
          </a:prstGeom>
          <a:gradFill>
            <a:gsLst>
              <a:gs pos="0">
                <a:srgbClr val="671438"/>
              </a:gs>
              <a:gs pos="18000">
                <a:srgbClr val="951E50"/>
              </a:gs>
              <a:gs pos="38000">
                <a:srgbClr val="9C1F54"/>
              </a:gs>
              <a:gs pos="58000">
                <a:srgbClr val="B32461"/>
              </a:gs>
              <a:gs pos="76000">
                <a:srgbClr val="DEA0BB"/>
              </a:gs>
              <a:gs pos="95580">
                <a:srgbClr val="F8F8F8"/>
              </a:gs>
              <a:gs pos="100000">
                <a:srgbClr val="F8F8F8"/>
              </a:gs>
            </a:gsLst>
            <a:lin ang="0" scaled="0"/>
          </a:gradFill>
          <a:ln w="15875" cap="rnd" cmpd="sng">
            <a:solidFill>
              <a:srgbClr val="BA93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Kaushan Script"/>
              <a:ea typeface="Kaushan Script"/>
              <a:cs typeface="Kaushan Script"/>
              <a:sym typeface="Kaushan Script"/>
            </a:endParaRPr>
          </a:p>
        </p:txBody>
      </p:sp>
      <p:sp>
        <p:nvSpPr>
          <p:cNvPr id="68" name="Google Shape;68;gd4d73a4ae8_0_24"/>
          <p:cNvSpPr/>
          <p:nvPr/>
        </p:nvSpPr>
        <p:spPr>
          <a:xfrm>
            <a:off x="1632455" y="1023104"/>
            <a:ext cx="1051200" cy="9717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 name="Google Shape;69;gd4d73a4ae8_0_24"/>
          <p:cNvSpPr/>
          <p:nvPr/>
        </p:nvSpPr>
        <p:spPr>
          <a:xfrm>
            <a:off x="988057" y="1501112"/>
            <a:ext cx="968100" cy="8133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 name="Google Shape;70;gd4d73a4ae8_0_24"/>
          <p:cNvSpPr/>
          <p:nvPr/>
        </p:nvSpPr>
        <p:spPr>
          <a:xfrm>
            <a:off x="512250" y="460318"/>
            <a:ext cx="502500" cy="4662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 name="Google Shape;71;gd4d73a4ae8_0_24"/>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ise en page personnalisée 3">
  <p:cSld name="CUSTOM_6">
    <p:spTree>
      <p:nvGrpSpPr>
        <p:cNvPr id="1" name="Shape 72"/>
        <p:cNvGrpSpPr/>
        <p:nvPr/>
      </p:nvGrpSpPr>
      <p:grpSpPr>
        <a:xfrm>
          <a:off x="0" y="0"/>
          <a:ext cx="0" cy="0"/>
          <a:chOff x="0" y="0"/>
          <a:chExt cx="0" cy="0"/>
        </a:xfrm>
      </p:grpSpPr>
      <p:sp>
        <p:nvSpPr>
          <p:cNvPr id="73" name="Google Shape;73;gd4deaae8b2_0_25"/>
          <p:cNvSpPr/>
          <p:nvPr/>
        </p:nvSpPr>
        <p:spPr>
          <a:xfrm>
            <a:off x="0" y="0"/>
            <a:ext cx="12192000" cy="6858000"/>
          </a:xfrm>
          <a:prstGeom prst="rect">
            <a:avLst/>
          </a:prstGeom>
          <a:gradFill>
            <a:gsLst>
              <a:gs pos="0">
                <a:srgbClr val="671438"/>
              </a:gs>
              <a:gs pos="18000">
                <a:srgbClr val="951E50"/>
              </a:gs>
              <a:gs pos="38000">
                <a:srgbClr val="9C1F54"/>
              </a:gs>
              <a:gs pos="58000">
                <a:srgbClr val="B32461"/>
              </a:gs>
              <a:gs pos="76000">
                <a:srgbClr val="DEA0BB"/>
              </a:gs>
              <a:gs pos="95580">
                <a:srgbClr val="F8F8F8"/>
              </a:gs>
              <a:gs pos="100000">
                <a:srgbClr val="F8F8F8"/>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Kaushan Script"/>
              <a:ea typeface="Kaushan Script"/>
              <a:cs typeface="Kaushan Script"/>
              <a:sym typeface="Kaushan Script"/>
            </a:endParaRPr>
          </a:p>
        </p:txBody>
      </p:sp>
      <p:sp>
        <p:nvSpPr>
          <p:cNvPr id="74" name="Google Shape;74;gd4deaae8b2_0_25"/>
          <p:cNvSpPr txBox="1"/>
          <p:nvPr/>
        </p:nvSpPr>
        <p:spPr>
          <a:xfrm>
            <a:off x="1956025" y="3343625"/>
            <a:ext cx="2568600" cy="1323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000"/>
              <a:buFont typeface="Arial"/>
              <a:buNone/>
            </a:pPr>
            <a:r>
              <a:rPr lang="fr-FR" sz="8000" b="1" i="0" u="none" strike="noStrike" cap="none">
                <a:solidFill>
                  <a:srgbClr val="F8F8F8"/>
                </a:solidFill>
                <a:latin typeface="Kaushan Script"/>
                <a:ea typeface="Kaushan Script"/>
                <a:cs typeface="Kaushan Script"/>
                <a:sym typeface="Kaushan Script"/>
              </a:rPr>
              <a:t>Twiga</a:t>
            </a:r>
            <a:endParaRPr sz="8000" b="1" i="0" u="none" strike="noStrike" cap="none">
              <a:solidFill>
                <a:srgbClr val="F8F8F8"/>
              </a:solidFill>
              <a:latin typeface="Kaushan Script"/>
              <a:ea typeface="Kaushan Script"/>
              <a:cs typeface="Kaushan Script"/>
              <a:sym typeface="Kaushan Script"/>
            </a:endParaRPr>
          </a:p>
        </p:txBody>
      </p:sp>
      <p:sp>
        <p:nvSpPr>
          <p:cNvPr id="75" name="Google Shape;75;gd4deaae8b2_0_25"/>
          <p:cNvSpPr/>
          <p:nvPr/>
        </p:nvSpPr>
        <p:spPr>
          <a:xfrm>
            <a:off x="1632455" y="1023104"/>
            <a:ext cx="1051200" cy="9717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 name="Google Shape;76;gd4deaae8b2_0_25"/>
          <p:cNvSpPr/>
          <p:nvPr/>
        </p:nvSpPr>
        <p:spPr>
          <a:xfrm>
            <a:off x="988057" y="1501112"/>
            <a:ext cx="968100" cy="8133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 name="Google Shape;77;gd4deaae8b2_0_25"/>
          <p:cNvSpPr/>
          <p:nvPr/>
        </p:nvSpPr>
        <p:spPr>
          <a:xfrm>
            <a:off x="512250" y="460318"/>
            <a:ext cx="502500" cy="4662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 name="Google Shape;78;gd4deaae8b2_0_25"/>
          <p:cNvSpPr txBox="1"/>
          <p:nvPr/>
        </p:nvSpPr>
        <p:spPr>
          <a:xfrm>
            <a:off x="3925246" y="4482400"/>
            <a:ext cx="1376400" cy="3693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fr-FR" sz="1800" b="0" i="0" u="none" strike="noStrike" cap="none">
                <a:solidFill>
                  <a:srgbClr val="F8F8F8"/>
                </a:solidFill>
                <a:latin typeface="Calibri"/>
                <a:ea typeface="Calibri"/>
                <a:cs typeface="Calibri"/>
                <a:sym typeface="Calibri"/>
              </a:rPr>
              <a:t>Réussir par </a:t>
            </a:r>
            <a:r>
              <a:rPr lang="fr-FR" sz="1800" b="0" i="0" u="none" strike="noStrike" cap="none">
                <a:solidFill>
                  <a:srgbClr val="FEFFFF"/>
                </a:solidFill>
                <a:latin typeface="Calibri"/>
                <a:ea typeface="Calibri"/>
                <a:cs typeface="Calibri"/>
                <a:sym typeface="Calibri"/>
              </a:rPr>
              <a:t>l’</a:t>
            </a:r>
            <a:endParaRPr sz="1400" b="0" i="0" u="none" strike="noStrike" cap="none">
              <a:solidFill>
                <a:schemeClr val="accent1"/>
              </a:solidFill>
              <a:latin typeface="Arial"/>
              <a:ea typeface="Arial"/>
              <a:cs typeface="Arial"/>
              <a:sym typeface="Arial"/>
            </a:endParaRPr>
          </a:p>
        </p:txBody>
      </p:sp>
      <p:sp>
        <p:nvSpPr>
          <p:cNvPr id="79" name="Google Shape;79;gd4deaae8b2_0_25"/>
          <p:cNvSpPr txBox="1"/>
          <p:nvPr/>
        </p:nvSpPr>
        <p:spPr>
          <a:xfrm>
            <a:off x="1956025" y="4631400"/>
            <a:ext cx="2568600" cy="1323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000"/>
              <a:buFont typeface="Arial"/>
              <a:buNone/>
            </a:pPr>
            <a:r>
              <a:rPr lang="fr-FR" sz="8000" b="1" i="0" u="none" strike="noStrike" cap="none">
                <a:solidFill>
                  <a:srgbClr val="FEFFFF"/>
                </a:solidFill>
                <a:latin typeface="Kaushan Script"/>
                <a:ea typeface="Kaushan Script"/>
                <a:cs typeface="Kaushan Script"/>
                <a:sym typeface="Kaushan Script"/>
              </a:rPr>
              <a:t>R</a:t>
            </a:r>
            <a:r>
              <a:rPr lang="fr-FR" sz="8000" b="1" i="0" u="none" strike="noStrike" cap="none">
                <a:solidFill>
                  <a:schemeClr val="accent1"/>
                </a:solidFill>
                <a:latin typeface="Kaushan Script"/>
                <a:ea typeface="Kaushan Script"/>
                <a:cs typeface="Kaushan Script"/>
                <a:sym typeface="Kaushan Script"/>
              </a:rPr>
              <a:t>H</a:t>
            </a:r>
            <a:endParaRPr sz="8000" b="1" i="0" u="none" strike="noStrike" cap="none">
              <a:solidFill>
                <a:schemeClr val="accent1"/>
              </a:solidFill>
              <a:latin typeface="Kaushan Script"/>
              <a:ea typeface="Kaushan Script"/>
              <a:cs typeface="Kaushan Script"/>
              <a:sym typeface="Kaushan Script"/>
            </a:endParaRPr>
          </a:p>
        </p:txBody>
      </p:sp>
      <p:sp>
        <p:nvSpPr>
          <p:cNvPr id="80" name="Google Shape;80;gd4deaae8b2_0_25"/>
          <p:cNvSpPr txBox="1"/>
          <p:nvPr/>
        </p:nvSpPr>
        <p:spPr>
          <a:xfrm>
            <a:off x="4457750" y="4851700"/>
            <a:ext cx="843900" cy="4617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fr-FR" sz="1800" b="0" i="0" u="none" strike="noStrike" cap="none">
                <a:solidFill>
                  <a:schemeClr val="accent1"/>
                </a:solidFill>
                <a:latin typeface="Calibri"/>
                <a:ea typeface="Calibri"/>
                <a:cs typeface="Calibri"/>
                <a:sym typeface="Calibri"/>
              </a:rPr>
              <a:t>umain</a:t>
            </a:r>
            <a:endParaRPr sz="1400" b="0" i="0" u="none" strike="noStrike" cap="none">
              <a:solidFill>
                <a:srgbClr val="000000"/>
              </a:solidFill>
              <a:latin typeface="Arial"/>
              <a:ea typeface="Arial"/>
              <a:cs typeface="Arial"/>
              <a:sym typeface="Arial"/>
            </a:endParaRPr>
          </a:p>
        </p:txBody>
      </p:sp>
      <p:sp>
        <p:nvSpPr>
          <p:cNvPr id="81" name="Google Shape;81;gd4deaae8b2_0_25"/>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82"/>
        <p:cNvGrpSpPr/>
        <p:nvPr/>
      </p:nvGrpSpPr>
      <p:grpSpPr>
        <a:xfrm>
          <a:off x="0" y="0"/>
          <a:ext cx="0" cy="0"/>
          <a:chOff x="0" y="0"/>
          <a:chExt cx="0" cy="0"/>
        </a:xfrm>
      </p:grpSpPr>
      <p:sp>
        <p:nvSpPr>
          <p:cNvPr id="83" name="Google Shape;83;gd4d73a4ae8_0_0"/>
          <p:cNvSpPr/>
          <p:nvPr/>
        </p:nvSpPr>
        <p:spPr>
          <a:xfrm>
            <a:off x="-37450" y="-18150"/>
            <a:ext cx="3248100" cy="6894300"/>
          </a:xfrm>
          <a:prstGeom prst="rect">
            <a:avLst/>
          </a:prstGeom>
          <a:gradFill>
            <a:gsLst>
              <a:gs pos="0">
                <a:srgbClr val="671438"/>
              </a:gs>
              <a:gs pos="26000">
                <a:srgbClr val="951E50"/>
              </a:gs>
              <a:gs pos="52000">
                <a:srgbClr val="B32461"/>
              </a:gs>
              <a:gs pos="78000">
                <a:srgbClr val="D586A8"/>
              </a:gs>
              <a:gs pos="99110">
                <a:schemeClr val="lt1"/>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4" name="Google Shape;84;gd4d73a4ae8_0_0"/>
          <p:cNvSpPr txBox="1">
            <a:spLocks noGrp="1"/>
          </p:cNvSpPr>
          <p:nvPr>
            <p:ph type="title"/>
          </p:nvPr>
        </p:nvSpPr>
        <p:spPr>
          <a:xfrm>
            <a:off x="3783087" y="713975"/>
            <a:ext cx="7585200" cy="12810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6A5AA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5" name="Google Shape;85;gd4d73a4ae8_0_0"/>
          <p:cNvSpPr txBox="1">
            <a:spLocks noGrp="1"/>
          </p:cNvSpPr>
          <p:nvPr>
            <p:ph type="body" idx="1"/>
          </p:nvPr>
        </p:nvSpPr>
        <p:spPr>
          <a:xfrm>
            <a:off x="3779927" y="2223468"/>
            <a:ext cx="7588200" cy="37776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6" name="Google Shape;86;gd4d73a4ae8_0_0"/>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1 1">
  <p:cSld name="CUSTOM_1">
    <p:spTree>
      <p:nvGrpSpPr>
        <p:cNvPr id="1" name="Shape 87"/>
        <p:cNvGrpSpPr/>
        <p:nvPr/>
      </p:nvGrpSpPr>
      <p:grpSpPr>
        <a:xfrm>
          <a:off x="0" y="0"/>
          <a:ext cx="0" cy="0"/>
          <a:chOff x="0" y="0"/>
          <a:chExt cx="0" cy="0"/>
        </a:xfrm>
      </p:grpSpPr>
      <p:sp>
        <p:nvSpPr>
          <p:cNvPr id="88" name="Google Shape;88;gd4d73a4ae8_0_6"/>
          <p:cNvSpPr/>
          <p:nvPr/>
        </p:nvSpPr>
        <p:spPr>
          <a:xfrm rot="10800000">
            <a:off x="-37450" y="-18150"/>
            <a:ext cx="3248100" cy="6894300"/>
          </a:xfrm>
          <a:prstGeom prst="rect">
            <a:avLst/>
          </a:prstGeom>
          <a:gradFill>
            <a:gsLst>
              <a:gs pos="0">
                <a:srgbClr val="671438"/>
              </a:gs>
              <a:gs pos="26000">
                <a:srgbClr val="951E50"/>
              </a:gs>
              <a:gs pos="52000">
                <a:srgbClr val="B32461"/>
              </a:gs>
              <a:gs pos="78000">
                <a:srgbClr val="D586A8"/>
              </a:gs>
              <a:gs pos="99110">
                <a:schemeClr val="lt1"/>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9" name="Google Shape;89;gd4d73a4ae8_0_6"/>
          <p:cNvSpPr txBox="1">
            <a:spLocks noGrp="1"/>
          </p:cNvSpPr>
          <p:nvPr>
            <p:ph type="title"/>
          </p:nvPr>
        </p:nvSpPr>
        <p:spPr>
          <a:xfrm>
            <a:off x="3783087" y="713975"/>
            <a:ext cx="7585200" cy="12810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6A5AA0"/>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0" name="Google Shape;90;gd4d73a4ae8_0_6"/>
          <p:cNvSpPr txBox="1">
            <a:spLocks noGrp="1"/>
          </p:cNvSpPr>
          <p:nvPr>
            <p:ph type="body" idx="1"/>
          </p:nvPr>
        </p:nvSpPr>
        <p:spPr>
          <a:xfrm>
            <a:off x="3779927" y="2223468"/>
            <a:ext cx="7588200" cy="37776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100000"/>
              </a:lnSpc>
              <a:spcBef>
                <a:spcPts val="10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 name="Google Shape;91;gd4d73a4ae8_0_6"/>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apositive de titre 2 1">
  <p:cSld name="TITLE_2_1">
    <p:spTree>
      <p:nvGrpSpPr>
        <p:cNvPr id="1" name="Shape 92"/>
        <p:cNvGrpSpPr/>
        <p:nvPr/>
      </p:nvGrpSpPr>
      <p:grpSpPr>
        <a:xfrm>
          <a:off x="0" y="0"/>
          <a:ext cx="0" cy="0"/>
          <a:chOff x="0" y="0"/>
          <a:chExt cx="0" cy="0"/>
        </a:xfrm>
      </p:grpSpPr>
      <p:sp>
        <p:nvSpPr>
          <p:cNvPr id="93" name="Google Shape;93;gd4d73a4ae8_0_81"/>
          <p:cNvSpPr/>
          <p:nvPr/>
        </p:nvSpPr>
        <p:spPr>
          <a:xfrm rot="10800000">
            <a:off x="8979875" y="-18150"/>
            <a:ext cx="3248100" cy="6894300"/>
          </a:xfrm>
          <a:prstGeom prst="rect">
            <a:avLst/>
          </a:prstGeom>
          <a:gradFill>
            <a:gsLst>
              <a:gs pos="0">
                <a:srgbClr val="671438"/>
              </a:gs>
              <a:gs pos="26000">
                <a:srgbClr val="951E50"/>
              </a:gs>
              <a:gs pos="52000">
                <a:srgbClr val="B32461"/>
              </a:gs>
              <a:gs pos="78000">
                <a:srgbClr val="D586A8"/>
              </a:gs>
              <a:gs pos="99110">
                <a:schemeClr val="lt1"/>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 name="Google Shape;94;gd4d73a4ae8_0_81"/>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apositive de titre 2 1 1">
  <p:cSld name="TITLE_2_1_1">
    <p:spTree>
      <p:nvGrpSpPr>
        <p:cNvPr id="1" name="Shape 95"/>
        <p:cNvGrpSpPr/>
        <p:nvPr/>
      </p:nvGrpSpPr>
      <p:grpSpPr>
        <a:xfrm>
          <a:off x="0" y="0"/>
          <a:ext cx="0" cy="0"/>
          <a:chOff x="0" y="0"/>
          <a:chExt cx="0" cy="0"/>
        </a:xfrm>
      </p:grpSpPr>
      <p:sp>
        <p:nvSpPr>
          <p:cNvPr id="96" name="Google Shape;96;gd4d73a4ae8_0_90"/>
          <p:cNvSpPr/>
          <p:nvPr/>
        </p:nvSpPr>
        <p:spPr>
          <a:xfrm>
            <a:off x="8994275" y="-18150"/>
            <a:ext cx="3248100" cy="6894300"/>
          </a:xfrm>
          <a:prstGeom prst="rect">
            <a:avLst/>
          </a:prstGeom>
          <a:gradFill>
            <a:gsLst>
              <a:gs pos="0">
                <a:srgbClr val="671438"/>
              </a:gs>
              <a:gs pos="26000">
                <a:srgbClr val="951E50"/>
              </a:gs>
              <a:gs pos="52000">
                <a:srgbClr val="B32461"/>
              </a:gs>
              <a:gs pos="78000">
                <a:srgbClr val="D586A8"/>
              </a:gs>
              <a:gs pos="99110">
                <a:schemeClr val="lt1"/>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gd4d73a4ae8_0_90"/>
          <p:cNvSpPr txBox="1"/>
          <p:nvPr/>
        </p:nvSpPr>
        <p:spPr>
          <a:xfrm rot="-5400000">
            <a:off x="10365900" y="4913650"/>
            <a:ext cx="3060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400"/>
              <a:buFont typeface="Arial"/>
              <a:buNone/>
            </a:pPr>
            <a:r>
              <a:rPr lang="fr-FR" sz="1400" b="0" i="0" u="none" strike="noStrike" cap="none">
                <a:solidFill>
                  <a:srgbClr val="B7B7B7"/>
                </a:solidFill>
                <a:latin typeface="Arial"/>
                <a:ea typeface="Arial"/>
                <a:cs typeface="Arial"/>
                <a:sym typeface="Arial"/>
              </a:rPr>
              <a:t>© Tous droits réservés</a:t>
            </a:r>
            <a:endParaRPr sz="1400" b="0" i="0" u="none" strike="noStrike" cap="none">
              <a:solidFill>
                <a:srgbClr val="B7B7B7"/>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FD5D1"/>
            </a:gs>
          </a:gsLst>
          <a:path path="circle">
            <a:fillToRect r="100000" b="100000"/>
          </a:path>
          <a:tileRect l="-100000" t="-100000"/>
        </a:gradFill>
        <a:effectLst/>
      </p:bgPr>
    </p:bg>
    <p:spTree>
      <p:nvGrpSpPr>
        <p:cNvPr id="1" name="Shape 5"/>
        <p:cNvGrpSpPr/>
        <p:nvPr/>
      </p:nvGrpSpPr>
      <p:grpSpPr>
        <a:xfrm>
          <a:off x="0" y="0"/>
          <a:ext cx="0" cy="0"/>
          <a:chOff x="0" y="0"/>
          <a:chExt cx="0" cy="0"/>
        </a:xfrm>
      </p:grpSpPr>
      <p:grpSp>
        <p:nvGrpSpPr>
          <p:cNvPr id="6" name="Google Shape;6;p6"/>
          <p:cNvGrpSpPr/>
          <p:nvPr/>
        </p:nvGrpSpPr>
        <p:grpSpPr>
          <a:xfrm>
            <a:off x="1" y="228600"/>
            <a:ext cx="2851516" cy="6638628"/>
            <a:chOff x="2487613" y="285750"/>
            <a:chExt cx="2428875" cy="5654676"/>
          </a:xfrm>
        </p:grpSpPr>
        <p:sp>
          <p:nvSpPr>
            <p:cNvPr id="7" name="Google Shape;7;p6"/>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8;p6"/>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9;p6"/>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10;p6"/>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6"/>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6"/>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6"/>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6"/>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6"/>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6"/>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6"/>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6"/>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 name="Google Shape;19;p6"/>
          <p:cNvGrpSpPr/>
          <p:nvPr/>
        </p:nvGrpSpPr>
        <p:grpSpPr>
          <a:xfrm>
            <a:off x="27222" y="-786"/>
            <a:ext cx="2356674" cy="6854039"/>
            <a:chOff x="6627813" y="194833"/>
            <a:chExt cx="1952625" cy="5678918"/>
          </a:xfrm>
        </p:grpSpPr>
        <p:sp>
          <p:nvSpPr>
            <p:cNvPr id="20" name="Google Shape;20;p6"/>
            <p:cNvSpPr/>
            <p:nvPr/>
          </p:nvSpPr>
          <p:spPr>
            <a:xfrm>
              <a:off x="6627813" y="194833"/>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6"/>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6"/>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6"/>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6"/>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6"/>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6"/>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6"/>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6"/>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6"/>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6"/>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6"/>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 name="Google Shape;32;p6"/>
          <p:cNvSpPr/>
          <p:nvPr/>
        </p:nvSpPr>
        <p:spPr>
          <a:xfrm>
            <a:off x="0" y="0"/>
            <a:ext cx="182880" cy="68580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efigaro.fr/conjoncture/2017/07/17/20002-20170717ARTFIG00212-une-etude-affirme-que-85-des-emplois-de-2030-n-existent-pas-aujourd-hui.ph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challenges.fr/entreprise/vie-de-bureau/bien-etre-au-travail-pourquoi-les-salaries-francais-sont-parmi-les-plus-desengages-d-europe_595166"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gd842e5c47e_0_437"/>
          <p:cNvPicPr preferRelativeResize="0"/>
          <p:nvPr/>
        </p:nvPicPr>
        <p:blipFill rotWithShape="1">
          <a:blip r:embed="rId3">
            <a:alphaModFix/>
          </a:blip>
          <a:srcRect/>
          <a:stretch/>
        </p:blipFill>
        <p:spPr>
          <a:xfrm>
            <a:off x="431631" y="4301625"/>
            <a:ext cx="1642001" cy="23280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d842e5c47e_0_445"/>
          <p:cNvSpPr/>
          <p:nvPr/>
        </p:nvSpPr>
        <p:spPr>
          <a:xfrm>
            <a:off x="6054325" y="4927975"/>
            <a:ext cx="5480400" cy="15438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3300"/>
              <a:buFont typeface="Arial"/>
              <a:buNone/>
            </a:pPr>
            <a:r>
              <a:rPr lang="fr-FR" sz="3300" b="1" i="0" u="none" strike="noStrike" cap="none">
                <a:solidFill>
                  <a:schemeClr val="accent1"/>
                </a:solidFill>
                <a:latin typeface="Calibri"/>
                <a:ea typeface="Calibri"/>
                <a:cs typeface="Calibri"/>
                <a:sym typeface="Calibri"/>
              </a:rPr>
              <a:t>20 %</a:t>
            </a:r>
            <a:r>
              <a:rPr lang="fr-FR" sz="1900" b="0" i="0" u="none" strike="noStrike" cap="none">
                <a:solidFill>
                  <a:srgbClr val="FEFFFF"/>
                </a:solidFill>
                <a:latin typeface="Calibri"/>
                <a:ea typeface="Calibri"/>
                <a:cs typeface="Calibri"/>
                <a:sym typeface="Calibri"/>
              </a:rPr>
              <a:t> des nouveaux arrivants dans une entreprise ont envie de la quitter </a:t>
            </a:r>
            <a:r>
              <a:rPr lang="fr-FR" sz="3300" b="1" i="0" u="none" strike="noStrike" cap="none">
                <a:solidFill>
                  <a:schemeClr val="accent1"/>
                </a:solidFill>
                <a:latin typeface="Calibri"/>
                <a:ea typeface="Calibri"/>
                <a:cs typeface="Calibri"/>
                <a:sym typeface="Calibri"/>
              </a:rPr>
              <a:t>dès le 1</a:t>
            </a:r>
            <a:r>
              <a:rPr lang="fr-FR" sz="3300" b="1" i="0" u="none" strike="noStrike" cap="none" baseline="30000">
                <a:solidFill>
                  <a:schemeClr val="accent1"/>
                </a:solidFill>
                <a:latin typeface="Calibri"/>
                <a:ea typeface="Calibri"/>
                <a:cs typeface="Calibri"/>
                <a:sym typeface="Calibri"/>
              </a:rPr>
              <a:t>er</a:t>
            </a:r>
            <a:r>
              <a:rPr lang="fr-FR" sz="3300" b="1" i="0" u="none" strike="noStrike" cap="none">
                <a:solidFill>
                  <a:schemeClr val="accent1"/>
                </a:solidFill>
                <a:latin typeface="Calibri"/>
                <a:ea typeface="Calibri"/>
                <a:cs typeface="Calibri"/>
                <a:sym typeface="Calibri"/>
              </a:rPr>
              <a:t> jour</a:t>
            </a:r>
            <a:r>
              <a:rPr lang="fr-FR" sz="3300" b="1" i="0" u="none" strike="noStrike" cap="none">
                <a:solidFill>
                  <a:srgbClr val="FEFFFF"/>
                </a:solidFill>
                <a:latin typeface="Calibri"/>
                <a:ea typeface="Calibri"/>
                <a:cs typeface="Calibri"/>
                <a:sym typeface="Calibri"/>
              </a:rPr>
              <a:t>.</a:t>
            </a:r>
            <a:endParaRPr sz="3300" b="1" i="0" u="none" strike="noStrike" cap="none">
              <a:solidFill>
                <a:srgbClr val="FEFFFF"/>
              </a:solidFill>
              <a:latin typeface="Calibri"/>
              <a:ea typeface="Calibri"/>
              <a:cs typeface="Calibri"/>
              <a:sym typeface="Calibri"/>
            </a:endParaRPr>
          </a:p>
          <a:p>
            <a:pPr marL="0" marR="0" lvl="0" indent="0" algn="r" rtl="0">
              <a:lnSpc>
                <a:spcPct val="115000"/>
              </a:lnSpc>
              <a:spcBef>
                <a:spcPts val="0"/>
              </a:spcBef>
              <a:spcAft>
                <a:spcPts val="0"/>
              </a:spcAft>
              <a:buClr>
                <a:srgbClr val="000000"/>
              </a:buClr>
              <a:buSzPts val="1600"/>
              <a:buFont typeface="Arial"/>
              <a:buNone/>
            </a:pPr>
            <a:r>
              <a:rPr lang="fr-FR" sz="1600" b="0" i="1" u="none" strike="noStrike" cap="none">
                <a:solidFill>
                  <a:srgbClr val="FEFFFF"/>
                </a:solidFill>
                <a:latin typeface="Calibri"/>
                <a:ea typeface="Calibri"/>
                <a:cs typeface="Calibri"/>
                <a:sym typeface="Calibri"/>
              </a:rPr>
              <a:t>(source: Observatoire SIRH- 2019)</a:t>
            </a:r>
            <a:endParaRPr sz="1600" b="0" i="1" u="none" strike="noStrike" cap="none">
              <a:solidFill>
                <a:srgbClr val="FEFFFF"/>
              </a:solidFill>
              <a:latin typeface="Calibri"/>
              <a:ea typeface="Calibri"/>
              <a:cs typeface="Calibri"/>
              <a:sym typeface="Calibri"/>
            </a:endParaRPr>
          </a:p>
        </p:txBody>
      </p:sp>
      <p:sp>
        <p:nvSpPr>
          <p:cNvPr id="108" name="Google Shape;108;gd842e5c47e_0_445"/>
          <p:cNvSpPr/>
          <p:nvPr/>
        </p:nvSpPr>
        <p:spPr>
          <a:xfrm>
            <a:off x="2235150" y="3994063"/>
            <a:ext cx="6828000" cy="1024500"/>
          </a:xfrm>
          <a:prstGeom prst="rect">
            <a:avLst/>
          </a:prstGeom>
          <a:solidFill>
            <a:srgbClr val="FEFFFF"/>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3300"/>
              <a:buFont typeface="Arial"/>
              <a:buNone/>
            </a:pPr>
            <a:r>
              <a:rPr lang="fr-FR" sz="3300" b="1" i="0" u="none" strike="noStrike" cap="none">
                <a:solidFill>
                  <a:schemeClr val="dk2"/>
                </a:solidFill>
                <a:latin typeface="Calibri"/>
                <a:ea typeface="Calibri"/>
                <a:cs typeface="Calibri"/>
                <a:sym typeface="Calibri"/>
              </a:rPr>
              <a:t>30 %</a:t>
            </a:r>
            <a:r>
              <a:rPr lang="fr-FR" sz="3300" b="0" i="0" u="none" strike="noStrike" cap="none">
                <a:solidFill>
                  <a:schemeClr val="dk2"/>
                </a:solidFill>
                <a:latin typeface="Calibri"/>
                <a:ea typeface="Calibri"/>
                <a:cs typeface="Calibri"/>
                <a:sym typeface="Calibri"/>
              </a:rPr>
              <a:t> </a:t>
            </a:r>
            <a:r>
              <a:rPr lang="fr-FR" sz="1900" b="0" i="0" u="none" strike="noStrike" cap="none">
                <a:solidFill>
                  <a:schemeClr val="lt1"/>
                </a:solidFill>
                <a:latin typeface="Calibri"/>
                <a:ea typeface="Calibri"/>
                <a:cs typeface="Calibri"/>
                <a:sym typeface="Calibri"/>
              </a:rPr>
              <a:t>des métiers de 2030 n’existent pas à l’heure actuelle.</a:t>
            </a:r>
            <a:endParaRPr sz="1900" b="0" i="0" u="none" strike="noStrike" cap="none">
              <a:solidFill>
                <a:schemeClr val="lt1"/>
              </a:solidFill>
              <a:latin typeface="Calibri"/>
              <a:ea typeface="Calibri"/>
              <a:cs typeface="Calibri"/>
              <a:sym typeface="Calibri"/>
            </a:endParaRPr>
          </a:p>
          <a:p>
            <a:pPr marL="0" marR="0" lvl="0" indent="0" algn="r" rtl="0">
              <a:lnSpc>
                <a:spcPct val="115000"/>
              </a:lnSpc>
              <a:spcBef>
                <a:spcPts val="0"/>
              </a:spcBef>
              <a:spcAft>
                <a:spcPts val="0"/>
              </a:spcAft>
              <a:buClr>
                <a:srgbClr val="000000"/>
              </a:buClr>
              <a:buSzPts val="1600"/>
              <a:buFont typeface="Arial"/>
              <a:buNone/>
            </a:pPr>
            <a:r>
              <a:rPr lang="fr-FR" sz="1600" b="0" i="1" u="none" strike="noStrike" cap="none">
                <a:solidFill>
                  <a:schemeClr val="lt1"/>
                </a:solidFill>
                <a:latin typeface="Calibri"/>
                <a:ea typeface="Calibri"/>
                <a:cs typeface="Calibri"/>
                <a:sym typeface="Calibri"/>
              </a:rPr>
              <a:t>(source : étude de la société Dell de 2017 publiée dans </a:t>
            </a:r>
            <a:r>
              <a:rPr lang="fr-FR" sz="1600" b="0" i="1" u="none" strike="noStrike" cap="none">
                <a:solidFill>
                  <a:schemeClr val="lt1"/>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Le Figaro</a:t>
            </a:r>
            <a:r>
              <a:rPr lang="fr-FR" sz="1600" b="0" i="1" u="none" strike="noStrike" cap="none">
                <a:solidFill>
                  <a:schemeClr val="lt1"/>
                </a:solidFill>
                <a:latin typeface="Calibri"/>
                <a:ea typeface="Calibri"/>
                <a:cs typeface="Calibri"/>
                <a:sym typeface="Calibri"/>
              </a:rPr>
              <a:t>- Mars 2019)</a:t>
            </a:r>
            <a:endParaRPr sz="1600" b="0" i="1" u="none" strike="noStrike" cap="none">
              <a:solidFill>
                <a:schemeClr val="lt1"/>
              </a:solidFill>
              <a:latin typeface="Calibri"/>
              <a:ea typeface="Calibri"/>
              <a:cs typeface="Calibri"/>
              <a:sym typeface="Calibri"/>
            </a:endParaRPr>
          </a:p>
        </p:txBody>
      </p:sp>
      <p:sp>
        <p:nvSpPr>
          <p:cNvPr id="109" name="Google Shape;109;gd842e5c47e_0_445"/>
          <p:cNvSpPr/>
          <p:nvPr/>
        </p:nvSpPr>
        <p:spPr>
          <a:xfrm>
            <a:off x="2734750" y="2478825"/>
            <a:ext cx="8095200" cy="11115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3300"/>
              <a:buFont typeface="Arial"/>
              <a:buNone/>
            </a:pPr>
            <a:r>
              <a:rPr lang="fr-FR" sz="3300" b="1" i="0" u="none" strike="noStrike" cap="none">
                <a:solidFill>
                  <a:schemeClr val="accent1"/>
                </a:solidFill>
                <a:latin typeface="Calibri"/>
                <a:ea typeface="Calibri"/>
                <a:cs typeface="Calibri"/>
                <a:sym typeface="Calibri"/>
              </a:rPr>
              <a:t>97 Mds €</a:t>
            </a:r>
            <a:r>
              <a:rPr lang="fr-FR" sz="1900" b="0" i="0" u="none" strike="noStrike" cap="none">
                <a:solidFill>
                  <a:srgbClr val="FEFFFF"/>
                </a:solidFill>
                <a:latin typeface="Calibri"/>
                <a:ea typeface="Calibri"/>
                <a:cs typeface="Calibri"/>
                <a:sym typeface="Calibri"/>
              </a:rPr>
              <a:t>,</a:t>
            </a:r>
            <a:r>
              <a:rPr lang="fr-FR" sz="1900" b="1" i="0" u="none" strike="noStrike" cap="none">
                <a:solidFill>
                  <a:srgbClr val="FEFFFF"/>
                </a:solidFill>
                <a:latin typeface="Calibri"/>
                <a:ea typeface="Calibri"/>
                <a:cs typeface="Calibri"/>
                <a:sym typeface="Calibri"/>
              </a:rPr>
              <a:t> </a:t>
            </a:r>
            <a:r>
              <a:rPr lang="fr-FR" sz="1900" b="0" i="0" u="none" strike="noStrike" cap="none">
                <a:solidFill>
                  <a:srgbClr val="FEFFFF"/>
                </a:solidFill>
                <a:latin typeface="Calibri"/>
                <a:ea typeface="Calibri"/>
                <a:cs typeface="Calibri"/>
                <a:sym typeface="Calibri"/>
              </a:rPr>
              <a:t>c’est le </a:t>
            </a:r>
            <a:r>
              <a:rPr lang="fr-FR" sz="1900" b="1" i="0" u="none" strike="noStrike" cap="none">
                <a:solidFill>
                  <a:srgbClr val="FEFFFF"/>
                </a:solidFill>
                <a:latin typeface="Calibri"/>
                <a:ea typeface="Calibri"/>
                <a:cs typeface="Calibri"/>
                <a:sym typeface="Calibri"/>
              </a:rPr>
              <a:t>coût annuel </a:t>
            </a:r>
            <a:r>
              <a:rPr lang="fr-FR" sz="1900" b="0" i="0" u="none" strike="noStrike" cap="none">
                <a:solidFill>
                  <a:srgbClr val="FEFFFF"/>
                </a:solidFill>
                <a:latin typeface="Calibri"/>
                <a:ea typeface="Calibri"/>
                <a:cs typeface="Calibri"/>
                <a:sym typeface="Calibri"/>
              </a:rPr>
              <a:t>du désengagement au travail en France.</a:t>
            </a:r>
            <a:endParaRPr sz="1900" b="0" i="0" u="none" strike="noStrike" cap="none">
              <a:solidFill>
                <a:srgbClr val="FEFFFF"/>
              </a:solidFill>
              <a:latin typeface="Calibri"/>
              <a:ea typeface="Calibri"/>
              <a:cs typeface="Calibri"/>
              <a:sym typeface="Calibri"/>
            </a:endParaRPr>
          </a:p>
          <a:p>
            <a:pPr marL="0" marR="0" lvl="0" indent="0" algn="r" rtl="0">
              <a:lnSpc>
                <a:spcPct val="115000"/>
              </a:lnSpc>
              <a:spcBef>
                <a:spcPts val="0"/>
              </a:spcBef>
              <a:spcAft>
                <a:spcPts val="0"/>
              </a:spcAft>
              <a:buClr>
                <a:srgbClr val="000000"/>
              </a:buClr>
              <a:buSzPts val="1600"/>
              <a:buFont typeface="Arial"/>
              <a:buNone/>
            </a:pPr>
            <a:r>
              <a:rPr lang="fr-FR" sz="1600" b="0" i="1" u="none" strike="noStrike" cap="none">
                <a:solidFill>
                  <a:srgbClr val="FEFFFF"/>
                </a:solidFill>
                <a:latin typeface="Calibri"/>
                <a:ea typeface="Calibri"/>
                <a:cs typeface="Calibri"/>
                <a:sym typeface="Calibri"/>
              </a:rPr>
              <a:t>(Source : </a:t>
            </a:r>
            <a:r>
              <a:rPr lang="fr-FR" sz="1600" b="0" i="1" u="none" strike="noStrike" cap="none">
                <a:solidFill>
                  <a:srgbClr val="FEFFFF"/>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étude Gallup / Challenges.fr</a:t>
            </a:r>
            <a:r>
              <a:rPr lang="fr-FR" sz="1600" b="0" i="1" u="none" strike="noStrike" cap="none">
                <a:solidFill>
                  <a:srgbClr val="FEFFFF"/>
                </a:solidFill>
                <a:latin typeface="Calibri"/>
                <a:ea typeface="Calibri"/>
                <a:cs typeface="Calibri"/>
                <a:sym typeface="Calibri"/>
              </a:rPr>
              <a:t>- Mars 2019)</a:t>
            </a:r>
            <a:endParaRPr sz="1600" b="0" i="1" u="none" strike="noStrike" cap="none">
              <a:solidFill>
                <a:srgbClr val="FEFFFF"/>
              </a:solidFill>
              <a:latin typeface="Calibri"/>
              <a:ea typeface="Calibri"/>
              <a:cs typeface="Calibri"/>
              <a:sym typeface="Calibri"/>
            </a:endParaRPr>
          </a:p>
        </p:txBody>
      </p:sp>
      <p:sp>
        <p:nvSpPr>
          <p:cNvPr id="110" name="Google Shape;110;gd842e5c47e_0_445"/>
          <p:cNvSpPr txBox="1">
            <a:spLocks noGrp="1"/>
          </p:cNvSpPr>
          <p:nvPr>
            <p:ph type="title"/>
          </p:nvPr>
        </p:nvSpPr>
        <p:spPr>
          <a:xfrm>
            <a:off x="2920525" y="454175"/>
            <a:ext cx="8493300" cy="661800"/>
          </a:xfrm>
          <a:prstGeom prst="rect">
            <a:avLst/>
          </a:prstGeom>
          <a:noFill/>
          <a:ln>
            <a:noFill/>
          </a:ln>
        </p:spPr>
        <p:txBody>
          <a:bodyPr spcFirstLastPara="1" wrap="square" lIns="240000" tIns="45700" rIns="48000" bIns="45700" anchor="ctr" anchorCtr="0">
            <a:no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POURQUOI PRENDRE SOIN DE VOS SALARIÉS?</a:t>
            </a:r>
            <a:endParaRPr sz="3300" b="1" i="0" u="none" strike="noStrike" cap="none">
              <a:solidFill>
                <a:schemeClr val="dk2"/>
              </a:solidFill>
              <a:latin typeface="Calibri"/>
              <a:ea typeface="Calibri"/>
              <a:cs typeface="Calibri"/>
              <a:sym typeface="Calibri"/>
            </a:endParaRPr>
          </a:p>
        </p:txBody>
      </p:sp>
      <p:sp>
        <p:nvSpPr>
          <p:cNvPr id="111" name="Google Shape;111;gd842e5c47e_0_445"/>
          <p:cNvSpPr/>
          <p:nvPr/>
        </p:nvSpPr>
        <p:spPr>
          <a:xfrm>
            <a:off x="2235150" y="1115975"/>
            <a:ext cx="4019100" cy="11115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3300"/>
              <a:buFont typeface="Arial"/>
              <a:buNone/>
            </a:pPr>
            <a:r>
              <a:rPr lang="fr-FR" sz="3300" b="1" i="0" u="none" strike="noStrike" cap="none">
                <a:solidFill>
                  <a:schemeClr val="accent1"/>
                </a:solidFill>
                <a:latin typeface="Calibri"/>
                <a:ea typeface="Calibri"/>
                <a:cs typeface="Calibri"/>
                <a:sym typeface="Calibri"/>
              </a:rPr>
              <a:t>6 %</a:t>
            </a:r>
            <a:r>
              <a:rPr lang="fr-FR" sz="3300" b="0" i="0" u="none" strike="noStrike" cap="none">
                <a:solidFill>
                  <a:schemeClr val="accent4"/>
                </a:solidFill>
                <a:latin typeface="Calibri"/>
                <a:ea typeface="Calibri"/>
                <a:cs typeface="Calibri"/>
                <a:sym typeface="Calibri"/>
              </a:rPr>
              <a:t> </a:t>
            </a:r>
            <a:r>
              <a:rPr lang="fr-FR" sz="1900" b="0" i="0" u="none" strike="noStrike" cap="none">
                <a:solidFill>
                  <a:srgbClr val="FEFFFF"/>
                </a:solidFill>
                <a:latin typeface="Calibri"/>
                <a:ea typeface="Calibri"/>
                <a:cs typeface="Calibri"/>
                <a:sym typeface="Calibri"/>
              </a:rPr>
              <a:t>des salariés français s’estiment fortement engagés dans leur travail.</a:t>
            </a:r>
            <a:endParaRPr sz="1600" b="0" i="1" u="none" strike="noStrike" cap="none">
              <a:solidFill>
                <a:srgbClr val="FEFFFF"/>
              </a:solidFill>
              <a:latin typeface="Calibri"/>
              <a:ea typeface="Calibri"/>
              <a:cs typeface="Calibri"/>
              <a:sym typeface="Calibri"/>
            </a:endParaRPr>
          </a:p>
        </p:txBody>
      </p:sp>
      <p:sp>
        <p:nvSpPr>
          <p:cNvPr id="112" name="Google Shape;112;gd842e5c47e_0_445"/>
          <p:cNvSpPr/>
          <p:nvPr/>
        </p:nvSpPr>
        <p:spPr>
          <a:xfrm>
            <a:off x="5899825" y="1756125"/>
            <a:ext cx="5332200" cy="812100"/>
          </a:xfrm>
          <a:prstGeom prst="rect">
            <a:avLst/>
          </a:prstGeom>
          <a:solidFill>
            <a:srgbClr val="FEFFFF"/>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3300"/>
              <a:buFont typeface="Arial"/>
              <a:buNone/>
            </a:pPr>
            <a:r>
              <a:rPr lang="fr-FR" sz="3300" b="1" i="0" u="none" strike="noStrike" cap="none">
                <a:solidFill>
                  <a:schemeClr val="dk2"/>
                </a:solidFill>
                <a:latin typeface="Calibri"/>
                <a:ea typeface="Calibri"/>
                <a:cs typeface="Calibri"/>
                <a:sym typeface="Calibri"/>
              </a:rPr>
              <a:t>20%</a:t>
            </a:r>
            <a:r>
              <a:rPr lang="fr-FR" sz="1900" b="0" i="0" u="none" strike="noStrike" cap="none">
                <a:solidFill>
                  <a:schemeClr val="lt1"/>
                </a:solidFill>
                <a:latin typeface="Calibri"/>
                <a:ea typeface="Calibri"/>
                <a:cs typeface="Calibri"/>
                <a:sym typeface="Calibri"/>
              </a:rPr>
              <a:t> des salariés français s’estiment désengagés.</a:t>
            </a:r>
            <a:endParaRPr sz="1600" b="0" i="1"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d83fd30aaf_0_8"/>
          <p:cNvSpPr/>
          <p:nvPr/>
        </p:nvSpPr>
        <p:spPr>
          <a:xfrm>
            <a:off x="7477167" y="385136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MA DÉMARCHE</a:t>
            </a:r>
            <a:endParaRPr sz="2200" b="1" i="0" u="none" strike="noStrike" cap="none">
              <a:solidFill>
                <a:schemeClr val="dk2"/>
              </a:solidFill>
              <a:latin typeface="Calibri"/>
              <a:ea typeface="Calibri"/>
              <a:cs typeface="Calibri"/>
              <a:sym typeface="Calibri"/>
            </a:endParaRPr>
          </a:p>
        </p:txBody>
      </p:sp>
      <p:sp>
        <p:nvSpPr>
          <p:cNvPr id="118" name="Google Shape;118;gd83fd30aaf_0_8"/>
          <p:cNvSpPr/>
          <p:nvPr/>
        </p:nvSpPr>
        <p:spPr>
          <a:xfrm>
            <a:off x="6055401" y="2700925"/>
            <a:ext cx="4107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VOS BESOINS/MON OFFRE</a:t>
            </a:r>
            <a:endParaRPr sz="2200" b="1" i="0" u="none" strike="noStrike" cap="none">
              <a:solidFill>
                <a:schemeClr val="dk2"/>
              </a:solidFill>
              <a:latin typeface="Calibri"/>
              <a:ea typeface="Calibri"/>
              <a:cs typeface="Calibri"/>
              <a:sym typeface="Calibri"/>
            </a:endParaRPr>
          </a:p>
        </p:txBody>
      </p:sp>
      <p:sp>
        <p:nvSpPr>
          <p:cNvPr id="119" name="Google Shape;119;gd83fd30aaf_0_8"/>
          <p:cNvSpPr/>
          <p:nvPr/>
        </p:nvSpPr>
        <p:spPr>
          <a:xfrm>
            <a:off x="4545822" y="156809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VOTRE CONTEXTE</a:t>
            </a:r>
            <a:endParaRPr sz="2200" b="1" i="0" u="none" strike="noStrike" cap="none">
              <a:solidFill>
                <a:schemeClr val="dk2"/>
              </a:solidFill>
              <a:latin typeface="Calibri"/>
              <a:ea typeface="Calibri"/>
              <a:cs typeface="Calibri"/>
              <a:sym typeface="Calibri"/>
            </a:endParaRPr>
          </a:p>
        </p:txBody>
      </p:sp>
      <p:sp>
        <p:nvSpPr>
          <p:cNvPr id="120" name="Google Shape;120;gd83fd30aaf_0_8"/>
          <p:cNvSpPr/>
          <p:nvPr/>
        </p:nvSpPr>
        <p:spPr>
          <a:xfrm>
            <a:off x="8938025" y="5001825"/>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QUI SUIS-JE ?</a:t>
            </a:r>
            <a:endParaRPr sz="2200" b="1" i="0" u="none" strike="noStrike" cap="none">
              <a:solidFill>
                <a:schemeClr val="dk2"/>
              </a:solidFill>
              <a:latin typeface="Calibri"/>
              <a:ea typeface="Calibri"/>
              <a:cs typeface="Calibri"/>
              <a:sym typeface="Calibri"/>
            </a:endParaRPr>
          </a:p>
        </p:txBody>
      </p:sp>
      <p:sp>
        <p:nvSpPr>
          <p:cNvPr id="121" name="Google Shape;121;gd83fd30aaf_0_8"/>
          <p:cNvSpPr/>
          <p:nvPr/>
        </p:nvSpPr>
        <p:spPr>
          <a:xfrm>
            <a:off x="4137650" y="160335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2" name="Google Shape;122;gd83fd30aaf_0_8"/>
          <p:cNvSpPr/>
          <p:nvPr/>
        </p:nvSpPr>
        <p:spPr>
          <a:xfrm>
            <a:off x="5620183" y="273617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3" name="Google Shape;123;gd83fd30aaf_0_8"/>
          <p:cNvSpPr/>
          <p:nvPr/>
        </p:nvSpPr>
        <p:spPr>
          <a:xfrm>
            <a:off x="7102717" y="386900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24" name="Google Shape;124;gd83fd30aaf_0_8"/>
          <p:cNvSpPr/>
          <p:nvPr/>
        </p:nvSpPr>
        <p:spPr>
          <a:xfrm>
            <a:off x="8585250" y="500182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25" name="Google Shape;125;gd83fd30aaf_0_8"/>
          <p:cNvPicPr preferRelativeResize="0"/>
          <p:nvPr/>
        </p:nvPicPr>
        <p:blipFill rotWithShape="1">
          <a:blip r:embed="rId3">
            <a:alphaModFix/>
          </a:blip>
          <a:srcRect/>
          <a:stretch/>
        </p:blipFill>
        <p:spPr>
          <a:xfrm>
            <a:off x="969547" y="0"/>
            <a:ext cx="2619654" cy="6858000"/>
          </a:xfrm>
          <a:prstGeom prst="rect">
            <a:avLst/>
          </a:prstGeom>
          <a:noFill/>
          <a:ln>
            <a:noFill/>
          </a:ln>
          <a:effectLst>
            <a:outerShdw blurRad="50800" dist="38100" dir="2700000" algn="tl" rotWithShape="0">
              <a:srgbClr val="000000">
                <a:alpha val="40000"/>
              </a:srgbClr>
            </a:outerShdw>
          </a:effectLst>
        </p:spPr>
      </p:pic>
      <p:sp>
        <p:nvSpPr>
          <p:cNvPr id="126" name="Google Shape;126;gd83fd30aaf_0_8"/>
          <p:cNvSpPr/>
          <p:nvPr/>
        </p:nvSpPr>
        <p:spPr>
          <a:xfrm>
            <a:off x="1965278" y="4135272"/>
            <a:ext cx="2169900" cy="20061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7" name="Google Shape;127;gd83fd30aaf_0_8"/>
          <p:cNvSpPr/>
          <p:nvPr/>
        </p:nvSpPr>
        <p:spPr>
          <a:xfrm>
            <a:off x="2427787" y="348024"/>
            <a:ext cx="1390200" cy="13845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8" name="Google Shape;128;gd83fd30aaf_0_8"/>
          <p:cNvSpPr/>
          <p:nvPr/>
        </p:nvSpPr>
        <p:spPr>
          <a:xfrm>
            <a:off x="969550" y="4835100"/>
            <a:ext cx="1764600" cy="17439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d83fd30aaf_0_8"/>
          <p:cNvSpPr/>
          <p:nvPr/>
        </p:nvSpPr>
        <p:spPr>
          <a:xfrm rot="-5400000">
            <a:off x="391478" y="1176628"/>
            <a:ext cx="459775" cy="1242725"/>
          </a:xfrm>
          <a:prstGeom prst="flowChartOffpageConnector">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e43107dc16_0_0"/>
          <p:cNvSpPr/>
          <p:nvPr/>
        </p:nvSpPr>
        <p:spPr>
          <a:xfrm>
            <a:off x="7477167" y="385136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MA DÉMARCHE</a:t>
            </a:r>
            <a:endParaRPr sz="2200" b="1" i="0" u="none" strike="noStrike" cap="none">
              <a:solidFill>
                <a:schemeClr val="dk2"/>
              </a:solidFill>
              <a:latin typeface="Calibri"/>
              <a:ea typeface="Calibri"/>
              <a:cs typeface="Calibri"/>
              <a:sym typeface="Calibri"/>
            </a:endParaRPr>
          </a:p>
        </p:txBody>
      </p:sp>
      <p:sp>
        <p:nvSpPr>
          <p:cNvPr id="135" name="Google Shape;135;ge43107dc16_0_0"/>
          <p:cNvSpPr/>
          <p:nvPr/>
        </p:nvSpPr>
        <p:spPr>
          <a:xfrm>
            <a:off x="6055401" y="2700925"/>
            <a:ext cx="4107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VOS BESOINS/MON OFFRE</a:t>
            </a:r>
            <a:endParaRPr sz="2200" b="1" i="0" u="none" strike="noStrike" cap="none">
              <a:solidFill>
                <a:schemeClr val="dk2"/>
              </a:solidFill>
              <a:latin typeface="Calibri"/>
              <a:ea typeface="Calibri"/>
              <a:cs typeface="Calibri"/>
              <a:sym typeface="Calibri"/>
            </a:endParaRPr>
          </a:p>
        </p:txBody>
      </p:sp>
      <p:sp>
        <p:nvSpPr>
          <p:cNvPr id="136" name="Google Shape;136;ge43107dc16_0_0"/>
          <p:cNvSpPr/>
          <p:nvPr/>
        </p:nvSpPr>
        <p:spPr>
          <a:xfrm>
            <a:off x="4545822" y="156809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VOTRE CONTEXTE</a:t>
            </a:r>
            <a:endParaRPr sz="2200" b="1" i="0" u="none" strike="noStrike" cap="none">
              <a:solidFill>
                <a:schemeClr val="dk2"/>
              </a:solidFill>
              <a:latin typeface="Calibri"/>
              <a:ea typeface="Calibri"/>
              <a:cs typeface="Calibri"/>
              <a:sym typeface="Calibri"/>
            </a:endParaRPr>
          </a:p>
        </p:txBody>
      </p:sp>
      <p:sp>
        <p:nvSpPr>
          <p:cNvPr id="137" name="Google Shape;137;ge43107dc16_0_0"/>
          <p:cNvSpPr/>
          <p:nvPr/>
        </p:nvSpPr>
        <p:spPr>
          <a:xfrm>
            <a:off x="8938025" y="5001825"/>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QUI SUIS-JE ?</a:t>
            </a:r>
            <a:endParaRPr sz="2200" b="1" i="0" u="none" strike="noStrike" cap="none">
              <a:solidFill>
                <a:schemeClr val="dk2"/>
              </a:solidFill>
              <a:latin typeface="Calibri"/>
              <a:ea typeface="Calibri"/>
              <a:cs typeface="Calibri"/>
              <a:sym typeface="Calibri"/>
            </a:endParaRPr>
          </a:p>
        </p:txBody>
      </p:sp>
      <p:sp>
        <p:nvSpPr>
          <p:cNvPr id="138" name="Google Shape;138;ge43107dc16_0_0"/>
          <p:cNvSpPr/>
          <p:nvPr/>
        </p:nvSpPr>
        <p:spPr>
          <a:xfrm>
            <a:off x="4137650" y="1603350"/>
            <a:ext cx="637800" cy="585000"/>
          </a:xfrm>
          <a:prstGeom prst="rect">
            <a:avLst/>
          </a:prstGeom>
          <a:solidFill>
            <a:schemeClr val="dk2"/>
          </a:solid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39" name="Google Shape;139;ge43107dc16_0_0"/>
          <p:cNvSpPr/>
          <p:nvPr/>
        </p:nvSpPr>
        <p:spPr>
          <a:xfrm>
            <a:off x="5620183" y="273617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40" name="Google Shape;140;ge43107dc16_0_0"/>
          <p:cNvSpPr/>
          <p:nvPr/>
        </p:nvSpPr>
        <p:spPr>
          <a:xfrm>
            <a:off x="7102717" y="386900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41" name="Google Shape;141;ge43107dc16_0_0"/>
          <p:cNvSpPr/>
          <p:nvPr/>
        </p:nvSpPr>
        <p:spPr>
          <a:xfrm>
            <a:off x="8585250" y="500182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42" name="Google Shape;142;ge43107dc16_0_0"/>
          <p:cNvPicPr preferRelativeResize="0"/>
          <p:nvPr/>
        </p:nvPicPr>
        <p:blipFill rotWithShape="1">
          <a:blip r:embed="rId3">
            <a:alphaModFix/>
          </a:blip>
          <a:srcRect/>
          <a:stretch/>
        </p:blipFill>
        <p:spPr>
          <a:xfrm>
            <a:off x="969547" y="0"/>
            <a:ext cx="2619654" cy="6858000"/>
          </a:xfrm>
          <a:prstGeom prst="rect">
            <a:avLst/>
          </a:prstGeom>
          <a:noFill/>
          <a:ln>
            <a:noFill/>
          </a:ln>
          <a:effectLst>
            <a:outerShdw blurRad="50800" dist="38100" dir="2700000" algn="tl" rotWithShape="0">
              <a:srgbClr val="000000">
                <a:alpha val="40000"/>
              </a:srgbClr>
            </a:outerShdw>
          </a:effectLst>
        </p:spPr>
      </p:pic>
      <p:sp>
        <p:nvSpPr>
          <p:cNvPr id="143" name="Google Shape;143;ge43107dc16_0_0"/>
          <p:cNvSpPr/>
          <p:nvPr/>
        </p:nvSpPr>
        <p:spPr>
          <a:xfrm>
            <a:off x="1965278" y="4135272"/>
            <a:ext cx="2169900" cy="20061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 name="Google Shape;144;ge43107dc16_0_0"/>
          <p:cNvSpPr/>
          <p:nvPr/>
        </p:nvSpPr>
        <p:spPr>
          <a:xfrm>
            <a:off x="2427787" y="348024"/>
            <a:ext cx="1390200" cy="13845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 name="Google Shape;145;ge43107dc16_0_0"/>
          <p:cNvSpPr/>
          <p:nvPr/>
        </p:nvSpPr>
        <p:spPr>
          <a:xfrm>
            <a:off x="969550" y="4835100"/>
            <a:ext cx="1764600" cy="17439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6" name="Google Shape;146;ge43107dc16_0_0"/>
          <p:cNvSpPr/>
          <p:nvPr/>
        </p:nvSpPr>
        <p:spPr>
          <a:xfrm rot="-5400000">
            <a:off x="391478" y="1176628"/>
            <a:ext cx="459775" cy="1242725"/>
          </a:xfrm>
          <a:prstGeom prst="flowChartOffpageConnector">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d842e5c47e_0_492"/>
          <p:cNvSpPr/>
          <p:nvPr/>
        </p:nvSpPr>
        <p:spPr>
          <a:xfrm>
            <a:off x="1402700" y="2870133"/>
            <a:ext cx="4971600" cy="1068900"/>
          </a:xfrm>
          <a:prstGeom prst="roundRect">
            <a:avLst>
              <a:gd name="adj" fmla="val 16667"/>
            </a:avLst>
          </a:prstGeom>
          <a:solidFill>
            <a:schemeClr val="lt2"/>
          </a:solidFill>
          <a:ln>
            <a:noFill/>
          </a:ln>
          <a:effectLst>
            <a:outerShdw blurRad="57150" dist="19050" dir="5400000" algn="bl" rotWithShape="0">
              <a:srgbClr val="000000">
                <a:alpha val="49019"/>
              </a:srgbClr>
            </a:outerShdw>
          </a:effectLst>
        </p:spPr>
        <p:txBody>
          <a:bodyPr spcFirstLastPara="1" wrap="square" lIns="365725" tIns="121900" rIns="121900" bIns="121900" anchor="ctr" anchorCtr="0">
            <a:noAutofit/>
          </a:bodyPr>
          <a:lstStyle/>
          <a:p>
            <a:pPr marL="0" marR="0" lvl="0" indent="0" algn="l" rtl="0">
              <a:lnSpc>
                <a:spcPct val="100000"/>
              </a:lnSpc>
              <a:spcBef>
                <a:spcPts val="0"/>
              </a:spcBef>
              <a:spcAft>
                <a:spcPts val="0"/>
              </a:spcAft>
              <a:buClr>
                <a:schemeClr val="dk1"/>
              </a:buClr>
              <a:buSzPts val="1500"/>
              <a:buFont typeface="Arial"/>
              <a:buNone/>
            </a:pPr>
            <a:r>
              <a:rPr lang="fr-FR" sz="1900" b="1" i="0" u="none" strike="noStrike" cap="none">
                <a:solidFill>
                  <a:schemeClr val="dk2"/>
                </a:solidFill>
                <a:latin typeface="Calibri"/>
                <a:ea typeface="Calibri"/>
                <a:cs typeface="Calibri"/>
                <a:sym typeface="Calibri"/>
              </a:rPr>
              <a:t>Votre entreprise est jeune</a:t>
            </a:r>
            <a:br>
              <a:rPr lang="fr-FR" sz="1900" b="1" i="0" u="none" strike="noStrike" cap="none">
                <a:solidFill>
                  <a:schemeClr val="dk2"/>
                </a:solidFill>
                <a:latin typeface="Calibri"/>
                <a:ea typeface="Calibri"/>
                <a:cs typeface="Calibri"/>
                <a:sym typeface="Calibri"/>
              </a:rPr>
            </a:br>
            <a:r>
              <a:rPr lang="fr-FR" sz="1900" b="1" i="0" u="none" strike="noStrike" cap="none">
                <a:solidFill>
                  <a:schemeClr val="dk2"/>
                </a:solidFill>
                <a:latin typeface="Calibri"/>
                <a:ea typeface="Calibri"/>
                <a:cs typeface="Calibri"/>
                <a:sym typeface="Calibri"/>
              </a:rPr>
              <a:t>et vous souhaitez ...</a:t>
            </a:r>
            <a:endParaRPr sz="1900" b="1" i="0" u="none" strike="noStrike" cap="none">
              <a:solidFill>
                <a:schemeClr val="dk2"/>
              </a:solidFill>
              <a:latin typeface="Calibri"/>
              <a:ea typeface="Calibri"/>
              <a:cs typeface="Calibri"/>
              <a:sym typeface="Calibri"/>
            </a:endParaRPr>
          </a:p>
        </p:txBody>
      </p:sp>
      <p:sp>
        <p:nvSpPr>
          <p:cNvPr id="152" name="Google Shape;152;gd842e5c47e_0_492"/>
          <p:cNvSpPr/>
          <p:nvPr/>
        </p:nvSpPr>
        <p:spPr>
          <a:xfrm rot="-899989">
            <a:off x="5776419" y="1949621"/>
            <a:ext cx="2124075" cy="1228725"/>
          </a:xfrm>
          <a:custGeom>
            <a:avLst/>
            <a:gdLst/>
            <a:ahLst/>
            <a:cxnLst/>
            <a:rect l="l" t="t" r="r" b="b"/>
            <a:pathLst>
              <a:path w="353" h="204" extrusionOk="0">
                <a:moveTo>
                  <a:pt x="348" y="69"/>
                </a:moveTo>
                <a:cubicBezTo>
                  <a:pt x="353" y="83"/>
                  <a:pt x="345" y="98"/>
                  <a:pt x="332" y="103"/>
                </a:cubicBezTo>
                <a:cubicBezTo>
                  <a:pt x="55" y="200"/>
                  <a:pt x="55" y="200"/>
                  <a:pt x="55" y="200"/>
                </a:cubicBezTo>
                <a:cubicBezTo>
                  <a:pt x="42" y="204"/>
                  <a:pt x="27" y="197"/>
                  <a:pt x="22" y="184"/>
                </a:cubicBezTo>
                <a:cubicBezTo>
                  <a:pt x="5" y="135"/>
                  <a:pt x="5" y="135"/>
                  <a:pt x="5" y="135"/>
                </a:cubicBezTo>
                <a:cubicBezTo>
                  <a:pt x="0" y="122"/>
                  <a:pt x="7" y="107"/>
                  <a:pt x="21" y="102"/>
                </a:cubicBezTo>
                <a:cubicBezTo>
                  <a:pt x="297" y="5"/>
                  <a:pt x="297" y="5"/>
                  <a:pt x="297" y="5"/>
                </a:cubicBezTo>
                <a:cubicBezTo>
                  <a:pt x="311" y="0"/>
                  <a:pt x="326" y="7"/>
                  <a:pt x="331" y="21"/>
                </a:cubicBezTo>
                <a:lnTo>
                  <a:pt x="348" y="69"/>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53" name="Google Shape;153;gd842e5c47e_0_492"/>
          <p:cNvSpPr/>
          <p:nvPr/>
        </p:nvSpPr>
        <p:spPr>
          <a:xfrm rot="-463979">
            <a:off x="5979619" y="2503658"/>
            <a:ext cx="2124075" cy="890588"/>
          </a:xfrm>
          <a:custGeom>
            <a:avLst/>
            <a:gdLst/>
            <a:ahLst/>
            <a:cxnLst/>
            <a:rect l="l" t="t" r="r" b="b"/>
            <a:pathLst>
              <a:path w="353" h="148" extrusionOk="0">
                <a:moveTo>
                  <a:pt x="351" y="75"/>
                </a:moveTo>
                <a:cubicBezTo>
                  <a:pt x="353" y="89"/>
                  <a:pt x="343" y="103"/>
                  <a:pt x="329" y="105"/>
                </a:cubicBezTo>
                <a:cubicBezTo>
                  <a:pt x="39" y="146"/>
                  <a:pt x="39" y="146"/>
                  <a:pt x="39" y="146"/>
                </a:cubicBezTo>
                <a:cubicBezTo>
                  <a:pt x="25" y="148"/>
                  <a:pt x="11" y="138"/>
                  <a:pt x="9" y="124"/>
                </a:cubicBezTo>
                <a:cubicBezTo>
                  <a:pt x="2" y="74"/>
                  <a:pt x="2" y="74"/>
                  <a:pt x="2" y="74"/>
                </a:cubicBezTo>
                <a:cubicBezTo>
                  <a:pt x="0" y="59"/>
                  <a:pt x="10" y="46"/>
                  <a:pt x="24" y="44"/>
                </a:cubicBezTo>
                <a:cubicBezTo>
                  <a:pt x="314" y="2"/>
                  <a:pt x="314" y="2"/>
                  <a:pt x="314" y="2"/>
                </a:cubicBezTo>
                <a:cubicBezTo>
                  <a:pt x="328" y="0"/>
                  <a:pt x="342" y="10"/>
                  <a:pt x="344" y="24"/>
                </a:cubicBezTo>
                <a:lnTo>
                  <a:pt x="351" y="7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54" name="Google Shape;154;gd842e5c47e_0_492"/>
          <p:cNvSpPr/>
          <p:nvPr/>
        </p:nvSpPr>
        <p:spPr>
          <a:xfrm>
            <a:off x="6125669" y="3014833"/>
            <a:ext cx="2100264" cy="741363"/>
          </a:xfrm>
          <a:custGeom>
            <a:avLst/>
            <a:gdLst/>
            <a:ahLst/>
            <a:cxnLst/>
            <a:rect l="l" t="t" r="r" b="b"/>
            <a:pathLst>
              <a:path w="349" h="123" extrusionOk="0">
                <a:moveTo>
                  <a:pt x="345" y="98"/>
                </a:moveTo>
                <a:cubicBezTo>
                  <a:pt x="344" y="112"/>
                  <a:pt x="332" y="123"/>
                  <a:pt x="318" y="122"/>
                </a:cubicBezTo>
                <a:cubicBezTo>
                  <a:pt x="25" y="104"/>
                  <a:pt x="25" y="104"/>
                  <a:pt x="25" y="104"/>
                </a:cubicBezTo>
                <a:cubicBezTo>
                  <a:pt x="11" y="103"/>
                  <a:pt x="0" y="90"/>
                  <a:pt x="1" y="76"/>
                </a:cubicBezTo>
                <a:cubicBezTo>
                  <a:pt x="4" y="25"/>
                  <a:pt x="4" y="25"/>
                  <a:pt x="4" y="25"/>
                </a:cubicBezTo>
                <a:cubicBezTo>
                  <a:pt x="5" y="11"/>
                  <a:pt x="17" y="0"/>
                  <a:pt x="32" y="1"/>
                </a:cubicBezTo>
                <a:cubicBezTo>
                  <a:pt x="324" y="19"/>
                  <a:pt x="324" y="19"/>
                  <a:pt x="324" y="19"/>
                </a:cubicBezTo>
                <a:cubicBezTo>
                  <a:pt x="338" y="20"/>
                  <a:pt x="349" y="32"/>
                  <a:pt x="348" y="46"/>
                </a:cubicBezTo>
                <a:lnTo>
                  <a:pt x="345" y="98"/>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55" name="Google Shape;155;gd842e5c47e_0_492"/>
          <p:cNvSpPr/>
          <p:nvPr/>
        </p:nvSpPr>
        <p:spPr>
          <a:xfrm>
            <a:off x="6058994" y="3214858"/>
            <a:ext cx="2125663" cy="1227138"/>
          </a:xfrm>
          <a:custGeom>
            <a:avLst/>
            <a:gdLst/>
            <a:ahLst/>
            <a:cxnLst/>
            <a:rect l="l" t="t" r="r" b="b"/>
            <a:pathLst>
              <a:path w="353" h="204" extrusionOk="0">
                <a:moveTo>
                  <a:pt x="331" y="183"/>
                </a:moveTo>
                <a:cubicBezTo>
                  <a:pt x="326" y="196"/>
                  <a:pt x="311" y="204"/>
                  <a:pt x="298" y="199"/>
                </a:cubicBezTo>
                <a:cubicBezTo>
                  <a:pt x="21" y="102"/>
                  <a:pt x="21" y="102"/>
                  <a:pt x="21" y="102"/>
                </a:cubicBezTo>
                <a:cubicBezTo>
                  <a:pt x="8" y="97"/>
                  <a:pt x="0" y="82"/>
                  <a:pt x="5" y="69"/>
                </a:cubicBezTo>
                <a:cubicBezTo>
                  <a:pt x="22" y="21"/>
                  <a:pt x="22" y="21"/>
                  <a:pt x="22" y="21"/>
                </a:cubicBezTo>
                <a:cubicBezTo>
                  <a:pt x="27" y="7"/>
                  <a:pt x="42" y="0"/>
                  <a:pt x="55" y="5"/>
                </a:cubicBezTo>
                <a:cubicBezTo>
                  <a:pt x="332" y="101"/>
                  <a:pt x="332" y="101"/>
                  <a:pt x="332" y="101"/>
                </a:cubicBezTo>
                <a:cubicBezTo>
                  <a:pt x="346" y="106"/>
                  <a:pt x="353" y="121"/>
                  <a:pt x="348" y="135"/>
                </a:cubicBezTo>
                <a:lnTo>
                  <a:pt x="331" y="183"/>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56" name="Google Shape;156;gd842e5c47e_0_492"/>
          <p:cNvSpPr/>
          <p:nvPr/>
        </p:nvSpPr>
        <p:spPr>
          <a:xfrm>
            <a:off x="6047881" y="3310108"/>
            <a:ext cx="1889124" cy="1735137"/>
          </a:xfrm>
          <a:custGeom>
            <a:avLst/>
            <a:gdLst/>
            <a:ahLst/>
            <a:cxnLst/>
            <a:rect l="l" t="t" r="r" b="b"/>
            <a:pathLst>
              <a:path w="314" h="288" extrusionOk="0">
                <a:moveTo>
                  <a:pt x="272" y="275"/>
                </a:moveTo>
                <a:cubicBezTo>
                  <a:pt x="262" y="286"/>
                  <a:pt x="246" y="288"/>
                  <a:pt x="235" y="278"/>
                </a:cubicBezTo>
                <a:cubicBezTo>
                  <a:pt x="12" y="88"/>
                  <a:pt x="12" y="88"/>
                  <a:pt x="12" y="88"/>
                </a:cubicBezTo>
                <a:cubicBezTo>
                  <a:pt x="1" y="79"/>
                  <a:pt x="0" y="63"/>
                  <a:pt x="9" y="52"/>
                </a:cubicBezTo>
                <a:cubicBezTo>
                  <a:pt x="42" y="13"/>
                  <a:pt x="42" y="13"/>
                  <a:pt x="42" y="13"/>
                </a:cubicBezTo>
                <a:cubicBezTo>
                  <a:pt x="51" y="2"/>
                  <a:pt x="68" y="0"/>
                  <a:pt x="79" y="10"/>
                </a:cubicBezTo>
                <a:cubicBezTo>
                  <a:pt x="302" y="200"/>
                  <a:pt x="302" y="200"/>
                  <a:pt x="302" y="200"/>
                </a:cubicBezTo>
                <a:cubicBezTo>
                  <a:pt x="313" y="209"/>
                  <a:pt x="314" y="225"/>
                  <a:pt x="305" y="236"/>
                </a:cubicBezTo>
                <a:lnTo>
                  <a:pt x="272" y="27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57" name="Google Shape;157;gd842e5c47e_0_492"/>
          <p:cNvSpPr/>
          <p:nvPr/>
        </p:nvSpPr>
        <p:spPr>
          <a:xfrm rot="-266999">
            <a:off x="5957394" y="3508547"/>
            <a:ext cx="1468438" cy="2058988"/>
          </a:xfrm>
          <a:custGeom>
            <a:avLst/>
            <a:gdLst/>
            <a:ahLst/>
            <a:cxnLst/>
            <a:rect l="l" t="t" r="r" b="b"/>
            <a:pathLst>
              <a:path w="244" h="342" extrusionOk="0">
                <a:moveTo>
                  <a:pt x="181" y="335"/>
                </a:moveTo>
                <a:cubicBezTo>
                  <a:pt x="169" y="342"/>
                  <a:pt x="153" y="337"/>
                  <a:pt x="146" y="325"/>
                </a:cubicBezTo>
                <a:cubicBezTo>
                  <a:pt x="7" y="67"/>
                  <a:pt x="7" y="67"/>
                  <a:pt x="7" y="67"/>
                </a:cubicBezTo>
                <a:cubicBezTo>
                  <a:pt x="0" y="54"/>
                  <a:pt x="5" y="38"/>
                  <a:pt x="18" y="31"/>
                </a:cubicBezTo>
                <a:cubicBezTo>
                  <a:pt x="63" y="7"/>
                  <a:pt x="63" y="7"/>
                  <a:pt x="63" y="7"/>
                </a:cubicBezTo>
                <a:cubicBezTo>
                  <a:pt x="75" y="0"/>
                  <a:pt x="91" y="5"/>
                  <a:pt x="98" y="18"/>
                </a:cubicBezTo>
                <a:cubicBezTo>
                  <a:pt x="237" y="276"/>
                  <a:pt x="237" y="276"/>
                  <a:pt x="237" y="276"/>
                </a:cubicBezTo>
                <a:cubicBezTo>
                  <a:pt x="244" y="288"/>
                  <a:pt x="239" y="304"/>
                  <a:pt x="226" y="311"/>
                </a:cubicBezTo>
                <a:lnTo>
                  <a:pt x="181" y="33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58" name="Google Shape;158;gd842e5c47e_0_492"/>
          <p:cNvSpPr txBox="1"/>
          <p:nvPr/>
        </p:nvSpPr>
        <p:spPr>
          <a:xfrm flipH="1">
            <a:off x="7892689" y="1766762"/>
            <a:ext cx="28197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Sécuriser les aspects juridiques</a:t>
            </a:r>
            <a:endParaRPr sz="1900" b="0" i="0" u="none" strike="noStrike" cap="none">
              <a:solidFill>
                <a:schemeClr val="lt1"/>
              </a:solidFill>
              <a:latin typeface="Calibri"/>
              <a:ea typeface="Calibri"/>
              <a:cs typeface="Calibri"/>
              <a:sym typeface="Calibri"/>
            </a:endParaRPr>
          </a:p>
        </p:txBody>
      </p:sp>
      <p:sp>
        <p:nvSpPr>
          <p:cNvPr id="159" name="Google Shape;159;gd842e5c47e_0_492"/>
          <p:cNvSpPr txBox="1"/>
          <p:nvPr/>
        </p:nvSpPr>
        <p:spPr>
          <a:xfrm flipH="1">
            <a:off x="8174968" y="2481367"/>
            <a:ext cx="35349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Assurer l’administration du personnel</a:t>
            </a:r>
            <a:endParaRPr sz="1900" b="0" i="0" u="none" strike="noStrike" cap="none">
              <a:solidFill>
                <a:schemeClr val="lt1"/>
              </a:solidFill>
              <a:latin typeface="Calibri"/>
              <a:ea typeface="Calibri"/>
              <a:cs typeface="Calibri"/>
              <a:sym typeface="Calibri"/>
            </a:endParaRPr>
          </a:p>
        </p:txBody>
      </p:sp>
      <p:sp>
        <p:nvSpPr>
          <p:cNvPr id="160" name="Google Shape;160;gd842e5c47e_0_492"/>
          <p:cNvSpPr txBox="1"/>
          <p:nvPr/>
        </p:nvSpPr>
        <p:spPr>
          <a:xfrm flipH="1">
            <a:off x="8370099" y="3195967"/>
            <a:ext cx="32493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Effectuer les recrutements judicieux</a:t>
            </a:r>
            <a:endParaRPr sz="1900" b="0" i="0" u="none" strike="noStrike" cap="none">
              <a:solidFill>
                <a:schemeClr val="lt1"/>
              </a:solidFill>
              <a:latin typeface="Calibri"/>
              <a:ea typeface="Calibri"/>
              <a:cs typeface="Calibri"/>
              <a:sym typeface="Calibri"/>
            </a:endParaRPr>
          </a:p>
        </p:txBody>
      </p:sp>
      <p:sp>
        <p:nvSpPr>
          <p:cNvPr id="161" name="Google Shape;161;gd842e5c47e_0_492"/>
          <p:cNvSpPr txBox="1"/>
          <p:nvPr/>
        </p:nvSpPr>
        <p:spPr>
          <a:xfrm flipH="1">
            <a:off x="8249635" y="3868867"/>
            <a:ext cx="35349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Organiser l’intégration et la formation des nouveaux arrivants </a:t>
            </a:r>
            <a:endParaRPr sz="1900" b="0" i="0" u="none" strike="noStrike" cap="none">
              <a:solidFill>
                <a:schemeClr val="lt1"/>
              </a:solidFill>
              <a:latin typeface="Calibri"/>
              <a:ea typeface="Calibri"/>
              <a:cs typeface="Calibri"/>
              <a:sym typeface="Calibri"/>
            </a:endParaRPr>
          </a:p>
        </p:txBody>
      </p:sp>
      <p:sp>
        <p:nvSpPr>
          <p:cNvPr id="162" name="Google Shape;162;gd842e5c47e_0_492"/>
          <p:cNvSpPr txBox="1"/>
          <p:nvPr/>
        </p:nvSpPr>
        <p:spPr>
          <a:xfrm flipH="1">
            <a:off x="7955255" y="4694779"/>
            <a:ext cx="28197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Cadrer les aspects contractuels</a:t>
            </a:r>
            <a:endParaRPr sz="1900" b="0" i="0" u="none" strike="noStrike" cap="none">
              <a:solidFill>
                <a:schemeClr val="lt1"/>
              </a:solidFill>
              <a:latin typeface="Calibri"/>
              <a:ea typeface="Calibri"/>
              <a:cs typeface="Calibri"/>
              <a:sym typeface="Calibri"/>
            </a:endParaRPr>
          </a:p>
        </p:txBody>
      </p:sp>
      <p:sp>
        <p:nvSpPr>
          <p:cNvPr id="163" name="Google Shape;163;gd842e5c47e_0_492"/>
          <p:cNvSpPr txBox="1"/>
          <p:nvPr/>
        </p:nvSpPr>
        <p:spPr>
          <a:xfrm flipH="1">
            <a:off x="7444601" y="5332900"/>
            <a:ext cx="39693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Dénouer une situation conflictuelle interne </a:t>
            </a:r>
            <a:endParaRPr sz="1900" b="0" i="0" u="none" strike="noStrike" cap="none">
              <a:solidFill>
                <a:schemeClr val="lt1"/>
              </a:solidFill>
              <a:latin typeface="Calibri"/>
              <a:ea typeface="Calibri"/>
              <a:cs typeface="Calibri"/>
              <a:sym typeface="Calibri"/>
            </a:endParaRPr>
          </a:p>
        </p:txBody>
      </p:sp>
      <p:sp>
        <p:nvSpPr>
          <p:cNvPr id="164" name="Google Shape;164;gd842e5c47e_0_492"/>
          <p:cNvSpPr/>
          <p:nvPr/>
        </p:nvSpPr>
        <p:spPr>
          <a:xfrm>
            <a:off x="4969967" y="2329033"/>
            <a:ext cx="2317500" cy="2317500"/>
          </a:xfrm>
          <a:prstGeom prst="ellipse">
            <a:avLst/>
          </a:prstGeom>
          <a:solidFill>
            <a:schemeClr val="lt1"/>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Calibri"/>
              <a:ea typeface="Calibri"/>
              <a:cs typeface="Calibri"/>
              <a:sym typeface="Calibri"/>
            </a:endParaRPr>
          </a:p>
        </p:txBody>
      </p:sp>
      <p:pic>
        <p:nvPicPr>
          <p:cNvPr id="165" name="Google Shape;165;gd842e5c47e_0_492"/>
          <p:cNvPicPr preferRelativeResize="0"/>
          <p:nvPr/>
        </p:nvPicPr>
        <p:blipFill rotWithShape="1">
          <a:blip r:embed="rId3">
            <a:alphaModFix/>
          </a:blip>
          <a:srcRect/>
          <a:stretch/>
        </p:blipFill>
        <p:spPr>
          <a:xfrm>
            <a:off x="4969967" y="2395441"/>
            <a:ext cx="2317600" cy="1981595"/>
          </a:xfrm>
          <a:prstGeom prst="rect">
            <a:avLst/>
          </a:prstGeom>
          <a:noFill/>
          <a:ln>
            <a:noFill/>
          </a:ln>
          <a:effectLst>
            <a:outerShdw blurRad="57150" dist="19050" dir="5400000" algn="bl" rotWithShape="0">
              <a:srgbClr val="000000">
                <a:alpha val="49019"/>
              </a:srgbClr>
            </a:outerShdw>
          </a:effectLst>
        </p:spPr>
      </p:pic>
      <p:pic>
        <p:nvPicPr>
          <p:cNvPr id="166" name="Google Shape;166;gd842e5c47e_0_492"/>
          <p:cNvPicPr preferRelativeResize="0"/>
          <p:nvPr/>
        </p:nvPicPr>
        <p:blipFill rotWithShape="1">
          <a:blip r:embed="rId4">
            <a:alphaModFix/>
          </a:blip>
          <a:srcRect/>
          <a:stretch/>
        </p:blipFill>
        <p:spPr>
          <a:xfrm>
            <a:off x="7202500" y="1932816"/>
            <a:ext cx="418034" cy="418033"/>
          </a:xfrm>
          <a:prstGeom prst="rect">
            <a:avLst/>
          </a:prstGeom>
          <a:noFill/>
          <a:ln>
            <a:noFill/>
          </a:ln>
        </p:spPr>
      </p:pic>
      <p:pic>
        <p:nvPicPr>
          <p:cNvPr id="167" name="Google Shape;167;gd842e5c47e_0_492"/>
          <p:cNvPicPr preferRelativeResize="0"/>
          <p:nvPr/>
        </p:nvPicPr>
        <p:blipFill rotWithShape="1">
          <a:blip r:embed="rId5">
            <a:alphaModFix/>
          </a:blip>
          <a:srcRect/>
          <a:stretch/>
        </p:blipFill>
        <p:spPr>
          <a:xfrm>
            <a:off x="7551833" y="2555835"/>
            <a:ext cx="368301" cy="368301"/>
          </a:xfrm>
          <a:prstGeom prst="rect">
            <a:avLst/>
          </a:prstGeom>
          <a:noFill/>
          <a:ln>
            <a:noFill/>
          </a:ln>
        </p:spPr>
      </p:pic>
      <p:pic>
        <p:nvPicPr>
          <p:cNvPr id="168" name="Google Shape;168;gd842e5c47e_0_492"/>
          <p:cNvPicPr preferRelativeResize="0"/>
          <p:nvPr/>
        </p:nvPicPr>
        <p:blipFill rotWithShape="1">
          <a:blip r:embed="rId6">
            <a:alphaModFix/>
          </a:blip>
          <a:srcRect/>
          <a:stretch/>
        </p:blipFill>
        <p:spPr>
          <a:xfrm>
            <a:off x="7560934" y="3197917"/>
            <a:ext cx="535716" cy="368300"/>
          </a:xfrm>
          <a:prstGeom prst="rect">
            <a:avLst/>
          </a:prstGeom>
          <a:noFill/>
          <a:ln>
            <a:noFill/>
          </a:ln>
        </p:spPr>
      </p:pic>
      <p:pic>
        <p:nvPicPr>
          <p:cNvPr id="169" name="Google Shape;169;gd842e5c47e_0_492"/>
          <p:cNvPicPr preferRelativeResize="0"/>
          <p:nvPr/>
        </p:nvPicPr>
        <p:blipFill rotWithShape="1">
          <a:blip r:embed="rId7">
            <a:alphaModFix/>
          </a:blip>
          <a:srcRect/>
          <a:stretch/>
        </p:blipFill>
        <p:spPr>
          <a:xfrm>
            <a:off x="7362253" y="3800300"/>
            <a:ext cx="812797" cy="457200"/>
          </a:xfrm>
          <a:prstGeom prst="rect">
            <a:avLst/>
          </a:prstGeom>
          <a:noFill/>
          <a:ln>
            <a:noFill/>
          </a:ln>
        </p:spPr>
      </p:pic>
      <p:pic>
        <p:nvPicPr>
          <p:cNvPr id="170" name="Google Shape;170;gd842e5c47e_0_492"/>
          <p:cNvPicPr preferRelativeResize="0"/>
          <p:nvPr/>
        </p:nvPicPr>
        <p:blipFill rotWithShape="1">
          <a:blip r:embed="rId8">
            <a:alphaModFix/>
          </a:blip>
          <a:srcRect/>
          <a:stretch/>
        </p:blipFill>
        <p:spPr>
          <a:xfrm>
            <a:off x="7406734" y="4484050"/>
            <a:ext cx="368301" cy="368301"/>
          </a:xfrm>
          <a:prstGeom prst="rect">
            <a:avLst/>
          </a:prstGeom>
          <a:noFill/>
          <a:ln>
            <a:noFill/>
          </a:ln>
        </p:spPr>
      </p:pic>
      <p:pic>
        <p:nvPicPr>
          <p:cNvPr id="171" name="Google Shape;171;gd842e5c47e_0_492"/>
          <p:cNvPicPr preferRelativeResize="0"/>
          <p:nvPr/>
        </p:nvPicPr>
        <p:blipFill rotWithShape="1">
          <a:blip r:embed="rId9">
            <a:alphaModFix/>
          </a:blip>
          <a:srcRect/>
          <a:stretch/>
        </p:blipFill>
        <p:spPr>
          <a:xfrm>
            <a:off x="6912633" y="5014033"/>
            <a:ext cx="491766" cy="314767"/>
          </a:xfrm>
          <a:prstGeom prst="rect">
            <a:avLst/>
          </a:prstGeom>
          <a:noFill/>
          <a:ln>
            <a:noFill/>
          </a:ln>
        </p:spPr>
      </p:pic>
      <p:sp>
        <p:nvSpPr>
          <p:cNvPr id="172" name="Google Shape;172;gd842e5c47e_0_492"/>
          <p:cNvSpPr txBox="1">
            <a:spLocks noGrp="1"/>
          </p:cNvSpPr>
          <p:nvPr>
            <p:ph type="title"/>
          </p:nvPr>
        </p:nvSpPr>
        <p:spPr>
          <a:xfrm>
            <a:off x="7879000" y="454175"/>
            <a:ext cx="3534900" cy="661800"/>
          </a:xfrm>
          <a:prstGeom prst="rect">
            <a:avLst/>
          </a:prstGeom>
          <a:noFill/>
          <a:ln>
            <a:noFill/>
          </a:ln>
        </p:spPr>
        <p:txBody>
          <a:bodyPr spcFirstLastPara="1" wrap="square" lIns="240000" tIns="45700" rIns="48000" bIns="45700" anchor="ctr" anchorCtr="0">
            <a:no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VOTRE CONTEXTE</a:t>
            </a:r>
            <a:endParaRPr sz="3300" b="1" i="0" u="none" strike="noStrike" cap="none">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d842e5c47e_0_518"/>
          <p:cNvSpPr/>
          <p:nvPr/>
        </p:nvSpPr>
        <p:spPr>
          <a:xfrm>
            <a:off x="1131000" y="3041325"/>
            <a:ext cx="5501700" cy="1248600"/>
          </a:xfrm>
          <a:prstGeom prst="roundRect">
            <a:avLst>
              <a:gd name="adj" fmla="val 16667"/>
            </a:avLst>
          </a:prstGeom>
          <a:solidFill>
            <a:schemeClr val="lt2"/>
          </a:solidFill>
          <a:ln>
            <a:noFill/>
          </a:ln>
          <a:effectLst>
            <a:outerShdw blurRad="57150" dist="19050" dir="5400000" algn="bl" rotWithShape="0">
              <a:srgbClr val="000000">
                <a:alpha val="49019"/>
              </a:srgbClr>
            </a:outerShdw>
          </a:effectLst>
        </p:spPr>
        <p:txBody>
          <a:bodyPr spcFirstLastPara="1" wrap="square" lIns="121900" tIns="121900" rIns="1463025" bIns="121900" anchor="ctr" anchorCtr="0">
            <a:noAutofit/>
          </a:bodyPr>
          <a:lstStyle/>
          <a:p>
            <a:pPr marL="0" marR="0" lvl="0" indent="0" algn="l" rtl="0">
              <a:lnSpc>
                <a:spcPct val="100000"/>
              </a:lnSpc>
              <a:spcBef>
                <a:spcPts val="0"/>
              </a:spcBef>
              <a:spcAft>
                <a:spcPts val="0"/>
              </a:spcAft>
              <a:buClr>
                <a:schemeClr val="dk1"/>
              </a:buClr>
              <a:buSzPts val="1500"/>
              <a:buFont typeface="Arial"/>
              <a:buNone/>
            </a:pPr>
            <a:r>
              <a:rPr lang="fr-FR" sz="1900" b="1" i="0" u="none" strike="noStrike" cap="none">
                <a:solidFill>
                  <a:schemeClr val="dk2"/>
                </a:solidFill>
                <a:latin typeface="Calibri"/>
                <a:ea typeface="Calibri"/>
                <a:cs typeface="Calibri"/>
                <a:sym typeface="Calibri"/>
              </a:rPr>
              <a:t>Votre société fonctionne bien sans service RH. Mais aujourd’hui, vous devez faire face à un nouveau défi ...</a:t>
            </a:r>
            <a:endParaRPr sz="1900" b="1" i="0" u="none" strike="noStrike" cap="none">
              <a:solidFill>
                <a:schemeClr val="dk2"/>
              </a:solidFill>
              <a:latin typeface="Calibri"/>
              <a:ea typeface="Calibri"/>
              <a:cs typeface="Calibri"/>
              <a:sym typeface="Calibri"/>
            </a:endParaRPr>
          </a:p>
        </p:txBody>
      </p:sp>
      <p:sp>
        <p:nvSpPr>
          <p:cNvPr id="178" name="Google Shape;178;gd842e5c47e_0_518"/>
          <p:cNvSpPr/>
          <p:nvPr/>
        </p:nvSpPr>
        <p:spPr>
          <a:xfrm rot="-724692">
            <a:off x="5942933" y="1912202"/>
            <a:ext cx="2124075" cy="1228725"/>
          </a:xfrm>
          <a:custGeom>
            <a:avLst/>
            <a:gdLst/>
            <a:ahLst/>
            <a:cxnLst/>
            <a:rect l="l" t="t" r="r" b="b"/>
            <a:pathLst>
              <a:path w="353" h="204" extrusionOk="0">
                <a:moveTo>
                  <a:pt x="348" y="69"/>
                </a:moveTo>
                <a:cubicBezTo>
                  <a:pt x="353" y="83"/>
                  <a:pt x="345" y="98"/>
                  <a:pt x="332" y="103"/>
                </a:cubicBezTo>
                <a:cubicBezTo>
                  <a:pt x="55" y="200"/>
                  <a:pt x="55" y="200"/>
                  <a:pt x="55" y="200"/>
                </a:cubicBezTo>
                <a:cubicBezTo>
                  <a:pt x="42" y="204"/>
                  <a:pt x="27" y="197"/>
                  <a:pt x="22" y="184"/>
                </a:cubicBezTo>
                <a:cubicBezTo>
                  <a:pt x="5" y="135"/>
                  <a:pt x="5" y="135"/>
                  <a:pt x="5" y="135"/>
                </a:cubicBezTo>
                <a:cubicBezTo>
                  <a:pt x="0" y="122"/>
                  <a:pt x="7" y="107"/>
                  <a:pt x="21" y="102"/>
                </a:cubicBezTo>
                <a:cubicBezTo>
                  <a:pt x="297" y="5"/>
                  <a:pt x="297" y="5"/>
                  <a:pt x="297" y="5"/>
                </a:cubicBezTo>
                <a:cubicBezTo>
                  <a:pt x="311" y="0"/>
                  <a:pt x="326" y="7"/>
                  <a:pt x="331" y="21"/>
                </a:cubicBezTo>
                <a:lnTo>
                  <a:pt x="348" y="69"/>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79" name="Google Shape;179;gd842e5c47e_0_518"/>
          <p:cNvSpPr/>
          <p:nvPr/>
        </p:nvSpPr>
        <p:spPr>
          <a:xfrm rot="-348882">
            <a:off x="6082438" y="2477516"/>
            <a:ext cx="2124075" cy="890588"/>
          </a:xfrm>
          <a:custGeom>
            <a:avLst/>
            <a:gdLst/>
            <a:ahLst/>
            <a:cxnLst/>
            <a:rect l="l" t="t" r="r" b="b"/>
            <a:pathLst>
              <a:path w="353" h="148" extrusionOk="0">
                <a:moveTo>
                  <a:pt x="351" y="75"/>
                </a:moveTo>
                <a:cubicBezTo>
                  <a:pt x="353" y="89"/>
                  <a:pt x="343" y="103"/>
                  <a:pt x="329" y="105"/>
                </a:cubicBezTo>
                <a:cubicBezTo>
                  <a:pt x="39" y="146"/>
                  <a:pt x="39" y="146"/>
                  <a:pt x="39" y="146"/>
                </a:cubicBezTo>
                <a:cubicBezTo>
                  <a:pt x="25" y="148"/>
                  <a:pt x="11" y="138"/>
                  <a:pt x="9" y="124"/>
                </a:cubicBezTo>
                <a:cubicBezTo>
                  <a:pt x="2" y="74"/>
                  <a:pt x="2" y="74"/>
                  <a:pt x="2" y="74"/>
                </a:cubicBezTo>
                <a:cubicBezTo>
                  <a:pt x="0" y="59"/>
                  <a:pt x="10" y="46"/>
                  <a:pt x="24" y="44"/>
                </a:cubicBezTo>
                <a:cubicBezTo>
                  <a:pt x="314" y="2"/>
                  <a:pt x="314" y="2"/>
                  <a:pt x="314" y="2"/>
                </a:cubicBezTo>
                <a:cubicBezTo>
                  <a:pt x="328" y="0"/>
                  <a:pt x="342" y="10"/>
                  <a:pt x="344" y="24"/>
                </a:cubicBezTo>
                <a:lnTo>
                  <a:pt x="351" y="7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80" name="Google Shape;180;gd842e5c47e_0_518"/>
          <p:cNvSpPr/>
          <p:nvPr/>
        </p:nvSpPr>
        <p:spPr>
          <a:xfrm rot="-348882">
            <a:off x="6196485" y="3041617"/>
            <a:ext cx="2100263" cy="741363"/>
          </a:xfrm>
          <a:custGeom>
            <a:avLst/>
            <a:gdLst/>
            <a:ahLst/>
            <a:cxnLst/>
            <a:rect l="l" t="t" r="r" b="b"/>
            <a:pathLst>
              <a:path w="349" h="123" extrusionOk="0">
                <a:moveTo>
                  <a:pt x="345" y="98"/>
                </a:moveTo>
                <a:cubicBezTo>
                  <a:pt x="344" y="112"/>
                  <a:pt x="332" y="123"/>
                  <a:pt x="318" y="122"/>
                </a:cubicBezTo>
                <a:cubicBezTo>
                  <a:pt x="25" y="104"/>
                  <a:pt x="25" y="104"/>
                  <a:pt x="25" y="104"/>
                </a:cubicBezTo>
                <a:cubicBezTo>
                  <a:pt x="11" y="103"/>
                  <a:pt x="0" y="90"/>
                  <a:pt x="1" y="76"/>
                </a:cubicBezTo>
                <a:cubicBezTo>
                  <a:pt x="4" y="25"/>
                  <a:pt x="4" y="25"/>
                  <a:pt x="4" y="25"/>
                </a:cubicBezTo>
                <a:cubicBezTo>
                  <a:pt x="5" y="11"/>
                  <a:pt x="17" y="0"/>
                  <a:pt x="32" y="1"/>
                </a:cubicBezTo>
                <a:cubicBezTo>
                  <a:pt x="324" y="19"/>
                  <a:pt x="324" y="19"/>
                  <a:pt x="324" y="19"/>
                </a:cubicBezTo>
                <a:cubicBezTo>
                  <a:pt x="338" y="20"/>
                  <a:pt x="349" y="32"/>
                  <a:pt x="348" y="46"/>
                </a:cubicBezTo>
                <a:lnTo>
                  <a:pt x="345" y="98"/>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81" name="Google Shape;181;gd842e5c47e_0_518"/>
          <p:cNvSpPr/>
          <p:nvPr/>
        </p:nvSpPr>
        <p:spPr>
          <a:xfrm rot="-348882">
            <a:off x="6174960" y="3244832"/>
            <a:ext cx="2125662" cy="1227138"/>
          </a:xfrm>
          <a:custGeom>
            <a:avLst/>
            <a:gdLst/>
            <a:ahLst/>
            <a:cxnLst/>
            <a:rect l="l" t="t" r="r" b="b"/>
            <a:pathLst>
              <a:path w="353" h="204" extrusionOk="0">
                <a:moveTo>
                  <a:pt x="331" y="183"/>
                </a:moveTo>
                <a:cubicBezTo>
                  <a:pt x="326" y="196"/>
                  <a:pt x="311" y="204"/>
                  <a:pt x="298" y="199"/>
                </a:cubicBezTo>
                <a:cubicBezTo>
                  <a:pt x="21" y="102"/>
                  <a:pt x="21" y="102"/>
                  <a:pt x="21" y="102"/>
                </a:cubicBezTo>
                <a:cubicBezTo>
                  <a:pt x="8" y="97"/>
                  <a:pt x="0" y="82"/>
                  <a:pt x="5" y="69"/>
                </a:cubicBezTo>
                <a:cubicBezTo>
                  <a:pt x="22" y="21"/>
                  <a:pt x="22" y="21"/>
                  <a:pt x="22" y="21"/>
                </a:cubicBezTo>
                <a:cubicBezTo>
                  <a:pt x="27" y="7"/>
                  <a:pt x="42" y="0"/>
                  <a:pt x="55" y="5"/>
                </a:cubicBezTo>
                <a:cubicBezTo>
                  <a:pt x="332" y="101"/>
                  <a:pt x="332" y="101"/>
                  <a:pt x="332" y="101"/>
                </a:cubicBezTo>
                <a:cubicBezTo>
                  <a:pt x="346" y="106"/>
                  <a:pt x="353" y="121"/>
                  <a:pt x="348" y="135"/>
                </a:cubicBezTo>
                <a:lnTo>
                  <a:pt x="331" y="183"/>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82" name="Google Shape;182;gd842e5c47e_0_518"/>
          <p:cNvSpPr/>
          <p:nvPr/>
        </p:nvSpPr>
        <p:spPr>
          <a:xfrm rot="-348882">
            <a:off x="6199896" y="3351393"/>
            <a:ext cx="1889124" cy="1735137"/>
          </a:xfrm>
          <a:custGeom>
            <a:avLst/>
            <a:gdLst/>
            <a:ahLst/>
            <a:cxnLst/>
            <a:rect l="l" t="t" r="r" b="b"/>
            <a:pathLst>
              <a:path w="314" h="288" extrusionOk="0">
                <a:moveTo>
                  <a:pt x="272" y="275"/>
                </a:moveTo>
                <a:cubicBezTo>
                  <a:pt x="262" y="286"/>
                  <a:pt x="246" y="288"/>
                  <a:pt x="235" y="278"/>
                </a:cubicBezTo>
                <a:cubicBezTo>
                  <a:pt x="12" y="88"/>
                  <a:pt x="12" y="88"/>
                  <a:pt x="12" y="88"/>
                </a:cubicBezTo>
                <a:cubicBezTo>
                  <a:pt x="1" y="79"/>
                  <a:pt x="0" y="63"/>
                  <a:pt x="9" y="52"/>
                </a:cubicBezTo>
                <a:cubicBezTo>
                  <a:pt x="42" y="13"/>
                  <a:pt x="42" y="13"/>
                  <a:pt x="42" y="13"/>
                </a:cubicBezTo>
                <a:cubicBezTo>
                  <a:pt x="51" y="2"/>
                  <a:pt x="68" y="0"/>
                  <a:pt x="79" y="10"/>
                </a:cubicBezTo>
                <a:cubicBezTo>
                  <a:pt x="302" y="200"/>
                  <a:pt x="302" y="200"/>
                  <a:pt x="302" y="200"/>
                </a:cubicBezTo>
                <a:cubicBezTo>
                  <a:pt x="313" y="209"/>
                  <a:pt x="314" y="225"/>
                  <a:pt x="305" y="236"/>
                </a:cubicBezTo>
                <a:lnTo>
                  <a:pt x="272" y="27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83" name="Google Shape;183;gd842e5c47e_0_518"/>
          <p:cNvSpPr/>
          <p:nvPr/>
        </p:nvSpPr>
        <p:spPr>
          <a:xfrm rot="-847794">
            <a:off x="6147466" y="3578454"/>
            <a:ext cx="1468438" cy="2058988"/>
          </a:xfrm>
          <a:custGeom>
            <a:avLst/>
            <a:gdLst/>
            <a:ahLst/>
            <a:cxnLst/>
            <a:rect l="l" t="t" r="r" b="b"/>
            <a:pathLst>
              <a:path w="244" h="342" extrusionOk="0">
                <a:moveTo>
                  <a:pt x="181" y="335"/>
                </a:moveTo>
                <a:cubicBezTo>
                  <a:pt x="169" y="342"/>
                  <a:pt x="153" y="337"/>
                  <a:pt x="146" y="325"/>
                </a:cubicBezTo>
                <a:cubicBezTo>
                  <a:pt x="7" y="67"/>
                  <a:pt x="7" y="67"/>
                  <a:pt x="7" y="67"/>
                </a:cubicBezTo>
                <a:cubicBezTo>
                  <a:pt x="0" y="54"/>
                  <a:pt x="5" y="38"/>
                  <a:pt x="18" y="31"/>
                </a:cubicBezTo>
                <a:cubicBezTo>
                  <a:pt x="63" y="7"/>
                  <a:pt x="63" y="7"/>
                  <a:pt x="63" y="7"/>
                </a:cubicBezTo>
                <a:cubicBezTo>
                  <a:pt x="75" y="0"/>
                  <a:pt x="91" y="5"/>
                  <a:pt x="98" y="18"/>
                </a:cubicBezTo>
                <a:cubicBezTo>
                  <a:pt x="237" y="276"/>
                  <a:pt x="237" y="276"/>
                  <a:pt x="237" y="276"/>
                </a:cubicBezTo>
                <a:cubicBezTo>
                  <a:pt x="244" y="288"/>
                  <a:pt x="239" y="304"/>
                  <a:pt x="226" y="311"/>
                </a:cubicBezTo>
                <a:lnTo>
                  <a:pt x="181" y="33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84" name="Google Shape;184;gd842e5c47e_0_518"/>
          <p:cNvSpPr txBox="1"/>
          <p:nvPr/>
        </p:nvSpPr>
        <p:spPr>
          <a:xfrm flipH="1">
            <a:off x="8166750" y="1801425"/>
            <a:ext cx="3530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Organiser un plan de recrutement</a:t>
            </a:r>
            <a:endParaRPr sz="1600" b="0" i="0" u="none" strike="noStrike" cap="none">
              <a:solidFill>
                <a:schemeClr val="lt1"/>
              </a:solidFill>
              <a:latin typeface="Calibri"/>
              <a:ea typeface="Calibri"/>
              <a:cs typeface="Calibri"/>
              <a:sym typeface="Calibri"/>
            </a:endParaRPr>
          </a:p>
        </p:txBody>
      </p:sp>
      <p:sp>
        <p:nvSpPr>
          <p:cNvPr id="185" name="Google Shape;185;gd842e5c47e_0_518"/>
          <p:cNvSpPr/>
          <p:nvPr/>
        </p:nvSpPr>
        <p:spPr>
          <a:xfrm rot="4">
            <a:off x="5837911" y="3875680"/>
            <a:ext cx="1468438" cy="2058990"/>
          </a:xfrm>
          <a:custGeom>
            <a:avLst/>
            <a:gdLst/>
            <a:ahLst/>
            <a:cxnLst/>
            <a:rect l="l" t="t" r="r" b="b"/>
            <a:pathLst>
              <a:path w="244" h="342" extrusionOk="0">
                <a:moveTo>
                  <a:pt x="181" y="335"/>
                </a:moveTo>
                <a:cubicBezTo>
                  <a:pt x="169" y="342"/>
                  <a:pt x="153" y="337"/>
                  <a:pt x="146" y="325"/>
                </a:cubicBezTo>
                <a:cubicBezTo>
                  <a:pt x="7" y="67"/>
                  <a:pt x="7" y="67"/>
                  <a:pt x="7" y="67"/>
                </a:cubicBezTo>
                <a:cubicBezTo>
                  <a:pt x="0" y="54"/>
                  <a:pt x="5" y="38"/>
                  <a:pt x="18" y="31"/>
                </a:cubicBezTo>
                <a:cubicBezTo>
                  <a:pt x="63" y="7"/>
                  <a:pt x="63" y="7"/>
                  <a:pt x="63" y="7"/>
                </a:cubicBezTo>
                <a:cubicBezTo>
                  <a:pt x="75" y="0"/>
                  <a:pt x="91" y="5"/>
                  <a:pt x="98" y="18"/>
                </a:cubicBezTo>
                <a:cubicBezTo>
                  <a:pt x="237" y="276"/>
                  <a:pt x="237" y="276"/>
                  <a:pt x="237" y="276"/>
                </a:cubicBezTo>
                <a:cubicBezTo>
                  <a:pt x="244" y="288"/>
                  <a:pt x="239" y="304"/>
                  <a:pt x="226" y="311"/>
                </a:cubicBezTo>
                <a:lnTo>
                  <a:pt x="181" y="33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186" name="Google Shape;186;gd842e5c47e_0_518"/>
          <p:cNvSpPr txBox="1"/>
          <p:nvPr/>
        </p:nvSpPr>
        <p:spPr>
          <a:xfrm flipH="1">
            <a:off x="8424150" y="2420075"/>
            <a:ext cx="35304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Sécuriser les aspects juridiques</a:t>
            </a:r>
            <a:endParaRPr sz="1600" b="0" i="0" u="none" strike="noStrike" cap="none">
              <a:solidFill>
                <a:schemeClr val="lt1"/>
              </a:solidFill>
              <a:latin typeface="Calibri"/>
              <a:ea typeface="Calibri"/>
              <a:cs typeface="Calibri"/>
              <a:sym typeface="Calibri"/>
            </a:endParaRPr>
          </a:p>
        </p:txBody>
      </p:sp>
      <p:sp>
        <p:nvSpPr>
          <p:cNvPr id="187" name="Google Shape;187;gd842e5c47e_0_518"/>
          <p:cNvSpPr txBox="1"/>
          <p:nvPr/>
        </p:nvSpPr>
        <p:spPr>
          <a:xfrm flipH="1">
            <a:off x="8506299" y="3064133"/>
            <a:ext cx="32493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Normaliser la communication avec l’Inspection du travail</a:t>
            </a:r>
            <a:endParaRPr sz="1600" b="0" i="0" u="none" strike="noStrike" cap="none">
              <a:solidFill>
                <a:schemeClr val="lt1"/>
              </a:solidFill>
              <a:latin typeface="Calibri"/>
              <a:ea typeface="Calibri"/>
              <a:cs typeface="Calibri"/>
              <a:sym typeface="Calibri"/>
            </a:endParaRPr>
          </a:p>
        </p:txBody>
      </p:sp>
      <p:sp>
        <p:nvSpPr>
          <p:cNvPr id="188" name="Google Shape;188;gd842e5c47e_0_518"/>
          <p:cNvSpPr txBox="1"/>
          <p:nvPr/>
        </p:nvSpPr>
        <p:spPr>
          <a:xfrm flipH="1">
            <a:off x="8357194" y="3965398"/>
            <a:ext cx="28197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Organiser les élections du CSE </a:t>
            </a:r>
            <a:endParaRPr sz="1600" b="0" i="0" u="none" strike="noStrike" cap="none">
              <a:solidFill>
                <a:schemeClr val="lt1"/>
              </a:solidFill>
              <a:latin typeface="Calibri"/>
              <a:ea typeface="Calibri"/>
              <a:cs typeface="Calibri"/>
              <a:sym typeface="Calibri"/>
            </a:endParaRPr>
          </a:p>
        </p:txBody>
      </p:sp>
      <p:sp>
        <p:nvSpPr>
          <p:cNvPr id="189" name="Google Shape;189;gd842e5c47e_0_518"/>
          <p:cNvSpPr txBox="1"/>
          <p:nvPr/>
        </p:nvSpPr>
        <p:spPr>
          <a:xfrm flipH="1">
            <a:off x="8171949" y="4641675"/>
            <a:ext cx="3342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Diminuer les accidents du travail</a:t>
            </a:r>
            <a:endParaRPr sz="1600" b="0" i="0" u="none" strike="noStrike" cap="none">
              <a:solidFill>
                <a:schemeClr val="lt1"/>
              </a:solidFill>
              <a:latin typeface="Calibri"/>
              <a:ea typeface="Calibri"/>
              <a:cs typeface="Calibri"/>
              <a:sym typeface="Calibri"/>
            </a:endParaRPr>
          </a:p>
        </p:txBody>
      </p:sp>
      <p:sp>
        <p:nvSpPr>
          <p:cNvPr id="190" name="Google Shape;190;gd842e5c47e_0_518"/>
          <p:cNvSpPr txBox="1"/>
          <p:nvPr/>
        </p:nvSpPr>
        <p:spPr>
          <a:xfrm flipH="1">
            <a:off x="7639500" y="5292100"/>
            <a:ext cx="44061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Améliorer l’image employeur de l’entreprise</a:t>
            </a:r>
            <a:endParaRPr sz="1600" b="0" i="0" u="none" strike="noStrike" cap="none">
              <a:solidFill>
                <a:schemeClr val="lt1"/>
              </a:solidFill>
              <a:latin typeface="Calibri"/>
              <a:ea typeface="Calibri"/>
              <a:cs typeface="Calibri"/>
              <a:sym typeface="Calibri"/>
            </a:endParaRPr>
          </a:p>
        </p:txBody>
      </p:sp>
      <p:sp>
        <p:nvSpPr>
          <p:cNvPr id="191" name="Google Shape;191;gd842e5c47e_0_518"/>
          <p:cNvSpPr/>
          <p:nvPr/>
        </p:nvSpPr>
        <p:spPr>
          <a:xfrm>
            <a:off x="5173167" y="2506833"/>
            <a:ext cx="2317500" cy="2317500"/>
          </a:xfrm>
          <a:prstGeom prst="ellipse">
            <a:avLst/>
          </a:prstGeom>
          <a:solidFill>
            <a:schemeClr val="lt1"/>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Calibri"/>
              <a:ea typeface="Calibri"/>
              <a:cs typeface="Calibri"/>
              <a:sym typeface="Calibri"/>
            </a:endParaRPr>
          </a:p>
        </p:txBody>
      </p:sp>
      <p:pic>
        <p:nvPicPr>
          <p:cNvPr id="192" name="Google Shape;192;gd842e5c47e_0_518"/>
          <p:cNvPicPr preferRelativeResize="0"/>
          <p:nvPr/>
        </p:nvPicPr>
        <p:blipFill rotWithShape="1">
          <a:blip r:embed="rId3">
            <a:alphaModFix/>
          </a:blip>
          <a:srcRect/>
          <a:stretch/>
        </p:blipFill>
        <p:spPr>
          <a:xfrm>
            <a:off x="5038700" y="2909275"/>
            <a:ext cx="2586533" cy="1512708"/>
          </a:xfrm>
          <a:prstGeom prst="rect">
            <a:avLst/>
          </a:prstGeom>
          <a:noFill/>
          <a:ln>
            <a:noFill/>
          </a:ln>
        </p:spPr>
      </p:pic>
      <p:pic>
        <p:nvPicPr>
          <p:cNvPr id="193" name="Google Shape;193;gd842e5c47e_0_518"/>
          <p:cNvPicPr preferRelativeResize="0"/>
          <p:nvPr/>
        </p:nvPicPr>
        <p:blipFill rotWithShape="1">
          <a:blip r:embed="rId4">
            <a:alphaModFix/>
          </a:blip>
          <a:srcRect/>
          <a:stretch/>
        </p:blipFill>
        <p:spPr>
          <a:xfrm rot="-7">
            <a:off x="7211932" y="1893233"/>
            <a:ext cx="727666" cy="429989"/>
          </a:xfrm>
          <a:prstGeom prst="rect">
            <a:avLst/>
          </a:prstGeom>
          <a:noFill/>
          <a:ln>
            <a:noFill/>
          </a:ln>
        </p:spPr>
      </p:pic>
      <p:pic>
        <p:nvPicPr>
          <p:cNvPr id="194" name="Google Shape;194;gd842e5c47e_0_518"/>
          <p:cNvPicPr preferRelativeResize="0"/>
          <p:nvPr/>
        </p:nvPicPr>
        <p:blipFill rotWithShape="1">
          <a:blip r:embed="rId5">
            <a:alphaModFix/>
          </a:blip>
          <a:srcRect/>
          <a:stretch/>
        </p:blipFill>
        <p:spPr>
          <a:xfrm>
            <a:off x="7614680" y="2526418"/>
            <a:ext cx="418034" cy="418033"/>
          </a:xfrm>
          <a:prstGeom prst="rect">
            <a:avLst/>
          </a:prstGeom>
          <a:noFill/>
          <a:ln>
            <a:noFill/>
          </a:ln>
        </p:spPr>
      </p:pic>
      <p:pic>
        <p:nvPicPr>
          <p:cNvPr id="195" name="Google Shape;195;gd842e5c47e_0_518"/>
          <p:cNvPicPr preferRelativeResize="0"/>
          <p:nvPr/>
        </p:nvPicPr>
        <p:blipFill rotWithShape="1">
          <a:blip r:embed="rId6">
            <a:alphaModFix/>
          </a:blip>
          <a:srcRect/>
          <a:stretch/>
        </p:blipFill>
        <p:spPr>
          <a:xfrm>
            <a:off x="7584243" y="3194831"/>
            <a:ext cx="623267" cy="293827"/>
          </a:xfrm>
          <a:prstGeom prst="rect">
            <a:avLst/>
          </a:prstGeom>
          <a:noFill/>
          <a:ln>
            <a:noFill/>
          </a:ln>
        </p:spPr>
      </p:pic>
      <p:pic>
        <p:nvPicPr>
          <p:cNvPr id="196" name="Google Shape;196;gd842e5c47e_0_518"/>
          <p:cNvPicPr preferRelativeResize="0"/>
          <p:nvPr/>
        </p:nvPicPr>
        <p:blipFill rotWithShape="1">
          <a:blip r:embed="rId7">
            <a:alphaModFix/>
          </a:blip>
          <a:srcRect/>
          <a:stretch/>
        </p:blipFill>
        <p:spPr>
          <a:xfrm rot="9">
            <a:off x="7587557" y="3774081"/>
            <a:ext cx="727667" cy="509318"/>
          </a:xfrm>
          <a:prstGeom prst="rect">
            <a:avLst/>
          </a:prstGeom>
          <a:noFill/>
          <a:ln>
            <a:noFill/>
          </a:ln>
        </p:spPr>
      </p:pic>
      <p:pic>
        <p:nvPicPr>
          <p:cNvPr id="197" name="Google Shape;197;gd842e5c47e_0_518"/>
          <p:cNvPicPr preferRelativeResize="0"/>
          <p:nvPr/>
        </p:nvPicPr>
        <p:blipFill rotWithShape="1">
          <a:blip r:embed="rId8">
            <a:alphaModFix/>
          </a:blip>
          <a:srcRect/>
          <a:stretch/>
        </p:blipFill>
        <p:spPr>
          <a:xfrm>
            <a:off x="7557974" y="4409587"/>
            <a:ext cx="418033" cy="418033"/>
          </a:xfrm>
          <a:prstGeom prst="rect">
            <a:avLst/>
          </a:prstGeom>
          <a:noFill/>
          <a:ln>
            <a:noFill/>
          </a:ln>
        </p:spPr>
      </p:pic>
      <p:pic>
        <p:nvPicPr>
          <p:cNvPr id="198" name="Google Shape;198;gd842e5c47e_0_518"/>
          <p:cNvPicPr preferRelativeResize="0"/>
          <p:nvPr/>
        </p:nvPicPr>
        <p:blipFill rotWithShape="1">
          <a:blip r:embed="rId9">
            <a:alphaModFix/>
          </a:blip>
          <a:srcRect/>
          <a:stretch/>
        </p:blipFill>
        <p:spPr>
          <a:xfrm rot="1242251">
            <a:off x="7046985" y="4823013"/>
            <a:ext cx="623268" cy="623268"/>
          </a:xfrm>
          <a:prstGeom prst="rect">
            <a:avLst/>
          </a:prstGeom>
          <a:noFill/>
          <a:ln>
            <a:noFill/>
          </a:ln>
        </p:spPr>
      </p:pic>
      <p:sp>
        <p:nvSpPr>
          <p:cNvPr id="199" name="Google Shape;199;gd842e5c47e_0_518"/>
          <p:cNvSpPr txBox="1"/>
          <p:nvPr/>
        </p:nvSpPr>
        <p:spPr>
          <a:xfrm flipH="1">
            <a:off x="7008629" y="5866333"/>
            <a:ext cx="367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Vous séparer de collaborateur(s) </a:t>
            </a:r>
            <a:endParaRPr sz="1600" b="0" i="0" u="none" strike="noStrike" cap="none">
              <a:solidFill>
                <a:schemeClr val="lt1"/>
              </a:solidFill>
              <a:latin typeface="Calibri"/>
              <a:ea typeface="Calibri"/>
              <a:cs typeface="Calibri"/>
              <a:sym typeface="Calibri"/>
            </a:endParaRPr>
          </a:p>
        </p:txBody>
      </p:sp>
      <p:pic>
        <p:nvPicPr>
          <p:cNvPr id="200" name="Google Shape;200;gd842e5c47e_0_518"/>
          <p:cNvPicPr preferRelativeResize="0"/>
          <p:nvPr/>
        </p:nvPicPr>
        <p:blipFill rotWithShape="1">
          <a:blip r:embed="rId10">
            <a:alphaModFix/>
          </a:blip>
          <a:srcRect l="789" t="-2408" r="-749" b="-1909"/>
          <a:stretch/>
        </p:blipFill>
        <p:spPr>
          <a:xfrm rot="-348908">
            <a:off x="6658316" y="5308838"/>
            <a:ext cx="509414" cy="531456"/>
          </a:xfrm>
          <a:prstGeom prst="rect">
            <a:avLst/>
          </a:prstGeom>
          <a:noFill/>
          <a:ln>
            <a:noFill/>
          </a:ln>
        </p:spPr>
      </p:pic>
      <p:sp>
        <p:nvSpPr>
          <p:cNvPr id="201" name="Google Shape;201;gd842e5c47e_0_518"/>
          <p:cNvSpPr txBox="1">
            <a:spLocks noGrp="1"/>
          </p:cNvSpPr>
          <p:nvPr>
            <p:ph type="title"/>
          </p:nvPr>
        </p:nvSpPr>
        <p:spPr>
          <a:xfrm>
            <a:off x="7879000" y="454175"/>
            <a:ext cx="3534900" cy="661800"/>
          </a:xfrm>
          <a:prstGeom prst="rect">
            <a:avLst/>
          </a:prstGeom>
          <a:noFill/>
          <a:ln>
            <a:noFill/>
          </a:ln>
        </p:spPr>
        <p:txBody>
          <a:bodyPr spcFirstLastPara="1" wrap="square" lIns="240000" tIns="45700" rIns="48000" bIns="45700" anchor="ctr" anchorCtr="0">
            <a:no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VOTRE CONTEXTE</a:t>
            </a:r>
            <a:endParaRPr sz="3300" b="1" i="0" u="none" strike="noStrike" cap="none">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d842e5c47e_0_547"/>
          <p:cNvSpPr/>
          <p:nvPr/>
        </p:nvSpPr>
        <p:spPr>
          <a:xfrm>
            <a:off x="863425" y="3277900"/>
            <a:ext cx="5465400" cy="1233000"/>
          </a:xfrm>
          <a:prstGeom prst="roundRect">
            <a:avLst>
              <a:gd name="adj" fmla="val 16667"/>
            </a:avLst>
          </a:prstGeom>
          <a:solidFill>
            <a:schemeClr val="lt2"/>
          </a:solidFill>
          <a:ln>
            <a:noFill/>
          </a:ln>
          <a:effectLst>
            <a:outerShdw blurRad="57150" dist="19050" dir="5400000" algn="bl" rotWithShape="0">
              <a:srgbClr val="000000">
                <a:alpha val="49019"/>
              </a:srgbClr>
            </a:outerShdw>
          </a:effectLst>
        </p:spPr>
        <p:txBody>
          <a:bodyPr spcFirstLastPara="1" wrap="square" lIns="121900" tIns="121900" rIns="1584925" bIns="121900" anchor="ctr" anchorCtr="0">
            <a:noAutofit/>
          </a:bodyPr>
          <a:lstStyle/>
          <a:p>
            <a:pPr marL="0" marR="0" lvl="0" indent="0" algn="l" rtl="0">
              <a:lnSpc>
                <a:spcPct val="100000"/>
              </a:lnSpc>
              <a:spcBef>
                <a:spcPts val="0"/>
              </a:spcBef>
              <a:spcAft>
                <a:spcPts val="0"/>
              </a:spcAft>
              <a:buClr>
                <a:schemeClr val="dk1"/>
              </a:buClr>
              <a:buSzPts val="1500"/>
              <a:buFont typeface="Arial"/>
              <a:buNone/>
            </a:pPr>
            <a:r>
              <a:rPr lang="fr-FR" sz="1900" b="1" i="0" u="none" strike="noStrike" cap="none">
                <a:solidFill>
                  <a:schemeClr val="dk2"/>
                </a:solidFill>
                <a:latin typeface="Calibri"/>
                <a:ea typeface="Calibri"/>
                <a:cs typeface="Calibri"/>
                <a:sym typeface="Calibri"/>
              </a:rPr>
              <a:t>Votre entreprise a déjà un service RH en place. Tout va bien mais vous avez un projet à mener ...</a:t>
            </a:r>
            <a:endParaRPr sz="1900" b="1" i="0" u="none" strike="noStrike" cap="none">
              <a:solidFill>
                <a:schemeClr val="dk2"/>
              </a:solidFill>
              <a:latin typeface="Calibri"/>
              <a:ea typeface="Calibri"/>
              <a:cs typeface="Calibri"/>
              <a:sym typeface="Calibri"/>
            </a:endParaRPr>
          </a:p>
        </p:txBody>
      </p:sp>
      <p:sp>
        <p:nvSpPr>
          <p:cNvPr id="207" name="Google Shape;207;gd842e5c47e_0_547"/>
          <p:cNvSpPr/>
          <p:nvPr/>
        </p:nvSpPr>
        <p:spPr>
          <a:xfrm rot="-1858628">
            <a:off x="5222461" y="1984487"/>
            <a:ext cx="2124074" cy="1228725"/>
          </a:xfrm>
          <a:custGeom>
            <a:avLst/>
            <a:gdLst/>
            <a:ahLst/>
            <a:cxnLst/>
            <a:rect l="l" t="t" r="r" b="b"/>
            <a:pathLst>
              <a:path w="353" h="204" extrusionOk="0">
                <a:moveTo>
                  <a:pt x="348" y="69"/>
                </a:moveTo>
                <a:cubicBezTo>
                  <a:pt x="353" y="83"/>
                  <a:pt x="345" y="98"/>
                  <a:pt x="332" y="103"/>
                </a:cubicBezTo>
                <a:cubicBezTo>
                  <a:pt x="55" y="200"/>
                  <a:pt x="55" y="200"/>
                  <a:pt x="55" y="200"/>
                </a:cubicBezTo>
                <a:cubicBezTo>
                  <a:pt x="42" y="204"/>
                  <a:pt x="27" y="197"/>
                  <a:pt x="22" y="184"/>
                </a:cubicBezTo>
                <a:cubicBezTo>
                  <a:pt x="5" y="135"/>
                  <a:pt x="5" y="135"/>
                  <a:pt x="5" y="135"/>
                </a:cubicBezTo>
                <a:cubicBezTo>
                  <a:pt x="0" y="122"/>
                  <a:pt x="7" y="107"/>
                  <a:pt x="21" y="102"/>
                </a:cubicBezTo>
                <a:cubicBezTo>
                  <a:pt x="297" y="5"/>
                  <a:pt x="297" y="5"/>
                  <a:pt x="297" y="5"/>
                </a:cubicBezTo>
                <a:cubicBezTo>
                  <a:pt x="311" y="0"/>
                  <a:pt x="326" y="7"/>
                  <a:pt x="331" y="21"/>
                </a:cubicBezTo>
                <a:lnTo>
                  <a:pt x="348" y="69"/>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08" name="Google Shape;208;gd842e5c47e_0_547"/>
          <p:cNvSpPr/>
          <p:nvPr/>
        </p:nvSpPr>
        <p:spPr>
          <a:xfrm rot="-1482820">
            <a:off x="5482788" y="2483253"/>
            <a:ext cx="2124074" cy="890588"/>
          </a:xfrm>
          <a:custGeom>
            <a:avLst/>
            <a:gdLst/>
            <a:ahLst/>
            <a:cxnLst/>
            <a:rect l="l" t="t" r="r" b="b"/>
            <a:pathLst>
              <a:path w="353" h="148" extrusionOk="0">
                <a:moveTo>
                  <a:pt x="351" y="75"/>
                </a:moveTo>
                <a:cubicBezTo>
                  <a:pt x="353" y="89"/>
                  <a:pt x="343" y="103"/>
                  <a:pt x="329" y="105"/>
                </a:cubicBezTo>
                <a:cubicBezTo>
                  <a:pt x="39" y="146"/>
                  <a:pt x="39" y="146"/>
                  <a:pt x="39" y="146"/>
                </a:cubicBezTo>
                <a:cubicBezTo>
                  <a:pt x="25" y="148"/>
                  <a:pt x="11" y="138"/>
                  <a:pt x="9" y="124"/>
                </a:cubicBezTo>
                <a:cubicBezTo>
                  <a:pt x="2" y="74"/>
                  <a:pt x="2" y="74"/>
                  <a:pt x="2" y="74"/>
                </a:cubicBezTo>
                <a:cubicBezTo>
                  <a:pt x="0" y="59"/>
                  <a:pt x="10" y="46"/>
                  <a:pt x="24" y="44"/>
                </a:cubicBezTo>
                <a:cubicBezTo>
                  <a:pt x="314" y="2"/>
                  <a:pt x="314" y="2"/>
                  <a:pt x="314" y="2"/>
                </a:cubicBezTo>
                <a:cubicBezTo>
                  <a:pt x="328" y="0"/>
                  <a:pt x="342" y="10"/>
                  <a:pt x="344" y="24"/>
                </a:cubicBezTo>
                <a:lnTo>
                  <a:pt x="351" y="7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09" name="Google Shape;209;gd842e5c47e_0_547"/>
          <p:cNvSpPr/>
          <p:nvPr/>
        </p:nvSpPr>
        <p:spPr>
          <a:xfrm rot="-1482816">
            <a:off x="5749875" y="2987884"/>
            <a:ext cx="2100264" cy="741363"/>
          </a:xfrm>
          <a:custGeom>
            <a:avLst/>
            <a:gdLst/>
            <a:ahLst/>
            <a:cxnLst/>
            <a:rect l="l" t="t" r="r" b="b"/>
            <a:pathLst>
              <a:path w="349" h="123" extrusionOk="0">
                <a:moveTo>
                  <a:pt x="345" y="98"/>
                </a:moveTo>
                <a:cubicBezTo>
                  <a:pt x="344" y="112"/>
                  <a:pt x="332" y="123"/>
                  <a:pt x="318" y="122"/>
                </a:cubicBezTo>
                <a:cubicBezTo>
                  <a:pt x="25" y="104"/>
                  <a:pt x="25" y="104"/>
                  <a:pt x="25" y="104"/>
                </a:cubicBezTo>
                <a:cubicBezTo>
                  <a:pt x="11" y="103"/>
                  <a:pt x="0" y="90"/>
                  <a:pt x="1" y="76"/>
                </a:cubicBezTo>
                <a:cubicBezTo>
                  <a:pt x="4" y="25"/>
                  <a:pt x="4" y="25"/>
                  <a:pt x="4" y="25"/>
                </a:cubicBezTo>
                <a:cubicBezTo>
                  <a:pt x="5" y="11"/>
                  <a:pt x="17" y="0"/>
                  <a:pt x="32" y="1"/>
                </a:cubicBezTo>
                <a:cubicBezTo>
                  <a:pt x="324" y="19"/>
                  <a:pt x="324" y="19"/>
                  <a:pt x="324" y="19"/>
                </a:cubicBezTo>
                <a:cubicBezTo>
                  <a:pt x="338" y="20"/>
                  <a:pt x="349" y="32"/>
                  <a:pt x="348" y="46"/>
                </a:cubicBezTo>
                <a:lnTo>
                  <a:pt x="345" y="98"/>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10" name="Google Shape;210;gd842e5c47e_0_547"/>
          <p:cNvSpPr/>
          <p:nvPr/>
        </p:nvSpPr>
        <p:spPr>
          <a:xfrm rot="-1482817">
            <a:off x="5873318" y="3169909"/>
            <a:ext cx="2125662" cy="1227138"/>
          </a:xfrm>
          <a:custGeom>
            <a:avLst/>
            <a:gdLst/>
            <a:ahLst/>
            <a:cxnLst/>
            <a:rect l="l" t="t" r="r" b="b"/>
            <a:pathLst>
              <a:path w="353" h="204" extrusionOk="0">
                <a:moveTo>
                  <a:pt x="331" y="183"/>
                </a:moveTo>
                <a:cubicBezTo>
                  <a:pt x="326" y="196"/>
                  <a:pt x="311" y="204"/>
                  <a:pt x="298" y="199"/>
                </a:cubicBezTo>
                <a:cubicBezTo>
                  <a:pt x="21" y="102"/>
                  <a:pt x="21" y="102"/>
                  <a:pt x="21" y="102"/>
                </a:cubicBezTo>
                <a:cubicBezTo>
                  <a:pt x="8" y="97"/>
                  <a:pt x="0" y="82"/>
                  <a:pt x="5" y="69"/>
                </a:cubicBezTo>
                <a:cubicBezTo>
                  <a:pt x="22" y="21"/>
                  <a:pt x="22" y="21"/>
                  <a:pt x="22" y="21"/>
                </a:cubicBezTo>
                <a:cubicBezTo>
                  <a:pt x="27" y="7"/>
                  <a:pt x="42" y="0"/>
                  <a:pt x="55" y="5"/>
                </a:cubicBezTo>
                <a:cubicBezTo>
                  <a:pt x="332" y="101"/>
                  <a:pt x="332" y="101"/>
                  <a:pt x="332" y="101"/>
                </a:cubicBezTo>
                <a:cubicBezTo>
                  <a:pt x="346" y="106"/>
                  <a:pt x="353" y="121"/>
                  <a:pt x="348" y="135"/>
                </a:cubicBezTo>
                <a:lnTo>
                  <a:pt x="331" y="183"/>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11" name="Google Shape;211;gd842e5c47e_0_547"/>
          <p:cNvSpPr/>
          <p:nvPr/>
        </p:nvSpPr>
        <p:spPr>
          <a:xfrm rot="-1482819">
            <a:off x="6020070" y="3287262"/>
            <a:ext cx="1889123" cy="1735137"/>
          </a:xfrm>
          <a:custGeom>
            <a:avLst/>
            <a:gdLst/>
            <a:ahLst/>
            <a:cxnLst/>
            <a:rect l="l" t="t" r="r" b="b"/>
            <a:pathLst>
              <a:path w="314" h="288" extrusionOk="0">
                <a:moveTo>
                  <a:pt x="272" y="275"/>
                </a:moveTo>
                <a:cubicBezTo>
                  <a:pt x="262" y="286"/>
                  <a:pt x="246" y="288"/>
                  <a:pt x="235" y="278"/>
                </a:cubicBezTo>
                <a:cubicBezTo>
                  <a:pt x="12" y="88"/>
                  <a:pt x="12" y="88"/>
                  <a:pt x="12" y="88"/>
                </a:cubicBezTo>
                <a:cubicBezTo>
                  <a:pt x="1" y="79"/>
                  <a:pt x="0" y="63"/>
                  <a:pt x="9" y="52"/>
                </a:cubicBezTo>
                <a:cubicBezTo>
                  <a:pt x="42" y="13"/>
                  <a:pt x="42" y="13"/>
                  <a:pt x="42" y="13"/>
                </a:cubicBezTo>
                <a:cubicBezTo>
                  <a:pt x="51" y="2"/>
                  <a:pt x="68" y="0"/>
                  <a:pt x="79" y="10"/>
                </a:cubicBezTo>
                <a:cubicBezTo>
                  <a:pt x="302" y="200"/>
                  <a:pt x="302" y="200"/>
                  <a:pt x="302" y="200"/>
                </a:cubicBezTo>
                <a:cubicBezTo>
                  <a:pt x="313" y="209"/>
                  <a:pt x="314" y="225"/>
                  <a:pt x="305" y="236"/>
                </a:cubicBezTo>
                <a:lnTo>
                  <a:pt x="272" y="27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12" name="Google Shape;212;gd842e5c47e_0_547"/>
          <p:cNvSpPr/>
          <p:nvPr/>
        </p:nvSpPr>
        <p:spPr>
          <a:xfrm rot="-1981731">
            <a:off x="6107798" y="3578466"/>
            <a:ext cx="1468438" cy="2058987"/>
          </a:xfrm>
          <a:custGeom>
            <a:avLst/>
            <a:gdLst/>
            <a:ahLst/>
            <a:cxnLst/>
            <a:rect l="l" t="t" r="r" b="b"/>
            <a:pathLst>
              <a:path w="244" h="342" extrusionOk="0">
                <a:moveTo>
                  <a:pt x="181" y="335"/>
                </a:moveTo>
                <a:cubicBezTo>
                  <a:pt x="169" y="342"/>
                  <a:pt x="153" y="337"/>
                  <a:pt x="146" y="325"/>
                </a:cubicBezTo>
                <a:cubicBezTo>
                  <a:pt x="7" y="67"/>
                  <a:pt x="7" y="67"/>
                  <a:pt x="7" y="67"/>
                </a:cubicBezTo>
                <a:cubicBezTo>
                  <a:pt x="0" y="54"/>
                  <a:pt x="5" y="38"/>
                  <a:pt x="18" y="31"/>
                </a:cubicBezTo>
                <a:cubicBezTo>
                  <a:pt x="63" y="7"/>
                  <a:pt x="63" y="7"/>
                  <a:pt x="63" y="7"/>
                </a:cubicBezTo>
                <a:cubicBezTo>
                  <a:pt x="75" y="0"/>
                  <a:pt x="91" y="5"/>
                  <a:pt x="98" y="18"/>
                </a:cubicBezTo>
                <a:cubicBezTo>
                  <a:pt x="237" y="276"/>
                  <a:pt x="237" y="276"/>
                  <a:pt x="237" y="276"/>
                </a:cubicBezTo>
                <a:cubicBezTo>
                  <a:pt x="244" y="288"/>
                  <a:pt x="239" y="304"/>
                  <a:pt x="226" y="311"/>
                </a:cubicBezTo>
                <a:lnTo>
                  <a:pt x="181" y="33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13" name="Google Shape;213;gd842e5c47e_0_547"/>
          <p:cNvSpPr/>
          <p:nvPr/>
        </p:nvSpPr>
        <p:spPr>
          <a:xfrm rot="-1133934">
            <a:off x="5911204" y="3959933"/>
            <a:ext cx="1468438" cy="2058989"/>
          </a:xfrm>
          <a:custGeom>
            <a:avLst/>
            <a:gdLst/>
            <a:ahLst/>
            <a:cxnLst/>
            <a:rect l="l" t="t" r="r" b="b"/>
            <a:pathLst>
              <a:path w="244" h="342" extrusionOk="0">
                <a:moveTo>
                  <a:pt x="181" y="335"/>
                </a:moveTo>
                <a:cubicBezTo>
                  <a:pt x="169" y="342"/>
                  <a:pt x="153" y="337"/>
                  <a:pt x="146" y="325"/>
                </a:cubicBezTo>
                <a:cubicBezTo>
                  <a:pt x="7" y="67"/>
                  <a:pt x="7" y="67"/>
                  <a:pt x="7" y="67"/>
                </a:cubicBezTo>
                <a:cubicBezTo>
                  <a:pt x="0" y="54"/>
                  <a:pt x="5" y="38"/>
                  <a:pt x="18" y="31"/>
                </a:cubicBezTo>
                <a:cubicBezTo>
                  <a:pt x="63" y="7"/>
                  <a:pt x="63" y="7"/>
                  <a:pt x="63" y="7"/>
                </a:cubicBezTo>
                <a:cubicBezTo>
                  <a:pt x="75" y="0"/>
                  <a:pt x="91" y="5"/>
                  <a:pt x="98" y="18"/>
                </a:cubicBezTo>
                <a:cubicBezTo>
                  <a:pt x="237" y="276"/>
                  <a:pt x="237" y="276"/>
                  <a:pt x="237" y="276"/>
                </a:cubicBezTo>
                <a:cubicBezTo>
                  <a:pt x="244" y="288"/>
                  <a:pt x="239" y="304"/>
                  <a:pt x="226" y="311"/>
                </a:cubicBezTo>
                <a:lnTo>
                  <a:pt x="181" y="33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14" name="Google Shape;214;gd842e5c47e_0_547"/>
          <p:cNvSpPr/>
          <p:nvPr/>
        </p:nvSpPr>
        <p:spPr>
          <a:xfrm rot="658643">
            <a:off x="5729290" y="4044145"/>
            <a:ext cx="1468437" cy="2058989"/>
          </a:xfrm>
          <a:custGeom>
            <a:avLst/>
            <a:gdLst/>
            <a:ahLst/>
            <a:cxnLst/>
            <a:rect l="l" t="t" r="r" b="b"/>
            <a:pathLst>
              <a:path w="244" h="342" extrusionOk="0">
                <a:moveTo>
                  <a:pt x="181" y="335"/>
                </a:moveTo>
                <a:cubicBezTo>
                  <a:pt x="169" y="342"/>
                  <a:pt x="153" y="337"/>
                  <a:pt x="146" y="325"/>
                </a:cubicBezTo>
                <a:cubicBezTo>
                  <a:pt x="7" y="67"/>
                  <a:pt x="7" y="67"/>
                  <a:pt x="7" y="67"/>
                </a:cubicBezTo>
                <a:cubicBezTo>
                  <a:pt x="0" y="54"/>
                  <a:pt x="5" y="38"/>
                  <a:pt x="18" y="31"/>
                </a:cubicBezTo>
                <a:cubicBezTo>
                  <a:pt x="63" y="7"/>
                  <a:pt x="63" y="7"/>
                  <a:pt x="63" y="7"/>
                </a:cubicBezTo>
                <a:cubicBezTo>
                  <a:pt x="75" y="0"/>
                  <a:pt x="91" y="5"/>
                  <a:pt x="98" y="18"/>
                </a:cubicBezTo>
                <a:cubicBezTo>
                  <a:pt x="237" y="276"/>
                  <a:pt x="237" y="276"/>
                  <a:pt x="237" y="276"/>
                </a:cubicBezTo>
                <a:cubicBezTo>
                  <a:pt x="244" y="288"/>
                  <a:pt x="239" y="304"/>
                  <a:pt x="226" y="311"/>
                </a:cubicBezTo>
                <a:lnTo>
                  <a:pt x="181" y="335"/>
                </a:lnTo>
                <a:close/>
              </a:path>
            </a:pathLst>
          </a:custGeom>
          <a:solidFill>
            <a:schemeClr val="accent1"/>
          </a:solidFill>
          <a:ln>
            <a:noFill/>
          </a:ln>
          <a:effectLst>
            <a:outerShdw blurRad="50800" dist="38100" dir="16200000"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15" name="Google Shape;215;gd842e5c47e_0_547"/>
          <p:cNvSpPr txBox="1"/>
          <p:nvPr/>
        </p:nvSpPr>
        <p:spPr>
          <a:xfrm flipH="1">
            <a:off x="7304025" y="1502350"/>
            <a:ext cx="33717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Établir une nouvelle stratégie RH</a:t>
            </a:r>
            <a:endParaRPr sz="1900" b="0" i="0" u="none" strike="noStrike" cap="none">
              <a:solidFill>
                <a:schemeClr val="lt1"/>
              </a:solidFill>
              <a:latin typeface="Calibri"/>
              <a:ea typeface="Calibri"/>
              <a:cs typeface="Calibri"/>
              <a:sym typeface="Calibri"/>
            </a:endParaRPr>
          </a:p>
        </p:txBody>
      </p:sp>
      <p:sp>
        <p:nvSpPr>
          <p:cNvPr id="216" name="Google Shape;216;gd842e5c47e_0_547"/>
          <p:cNvSpPr txBox="1"/>
          <p:nvPr/>
        </p:nvSpPr>
        <p:spPr>
          <a:xfrm flipH="1">
            <a:off x="7695866" y="2180167"/>
            <a:ext cx="40587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Résoudre un problème de motivation interne</a:t>
            </a:r>
            <a:endParaRPr sz="1900" b="0" i="0" u="none" strike="noStrike" cap="none">
              <a:solidFill>
                <a:schemeClr val="lt1"/>
              </a:solidFill>
              <a:latin typeface="Calibri"/>
              <a:ea typeface="Calibri"/>
              <a:cs typeface="Calibri"/>
              <a:sym typeface="Calibri"/>
            </a:endParaRPr>
          </a:p>
        </p:txBody>
      </p:sp>
      <p:sp>
        <p:nvSpPr>
          <p:cNvPr id="217" name="Google Shape;217;gd842e5c47e_0_547"/>
          <p:cNvSpPr txBox="1"/>
          <p:nvPr/>
        </p:nvSpPr>
        <p:spPr>
          <a:xfrm flipH="1">
            <a:off x="8100467" y="2769567"/>
            <a:ext cx="367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Mettre en oeuvre une démarche QVT</a:t>
            </a:r>
            <a:endParaRPr sz="1900" b="0" i="0" u="none" strike="noStrike" cap="none">
              <a:solidFill>
                <a:schemeClr val="lt1"/>
              </a:solidFill>
              <a:latin typeface="Calibri"/>
              <a:ea typeface="Calibri"/>
              <a:cs typeface="Calibri"/>
              <a:sym typeface="Calibri"/>
            </a:endParaRPr>
          </a:p>
        </p:txBody>
      </p:sp>
      <p:sp>
        <p:nvSpPr>
          <p:cNvPr id="218" name="Google Shape;218;gd842e5c47e_0_547"/>
          <p:cNvSpPr txBox="1"/>
          <p:nvPr/>
        </p:nvSpPr>
        <p:spPr>
          <a:xfrm flipH="1">
            <a:off x="8230194" y="3374115"/>
            <a:ext cx="2819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Diminuer un turn-over ou un absentéisme trop importants </a:t>
            </a:r>
            <a:endParaRPr sz="1900" b="0" i="0" u="none" strike="noStrike" cap="none">
              <a:solidFill>
                <a:schemeClr val="lt1"/>
              </a:solidFill>
              <a:latin typeface="Calibri"/>
              <a:ea typeface="Calibri"/>
              <a:cs typeface="Calibri"/>
              <a:sym typeface="Calibri"/>
            </a:endParaRPr>
          </a:p>
        </p:txBody>
      </p:sp>
      <p:sp>
        <p:nvSpPr>
          <p:cNvPr id="219" name="Google Shape;219;gd842e5c47e_0_547"/>
          <p:cNvSpPr txBox="1"/>
          <p:nvPr/>
        </p:nvSpPr>
        <p:spPr>
          <a:xfrm flipH="1">
            <a:off x="8158269" y="4270200"/>
            <a:ext cx="3371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Monter une gestion des compétences et des carrières</a:t>
            </a:r>
            <a:endParaRPr sz="1900" b="0" i="0" u="none" strike="noStrike" cap="none">
              <a:solidFill>
                <a:schemeClr val="lt1"/>
              </a:solidFill>
              <a:latin typeface="Calibri"/>
              <a:ea typeface="Calibri"/>
              <a:cs typeface="Calibri"/>
              <a:sym typeface="Calibri"/>
            </a:endParaRPr>
          </a:p>
        </p:txBody>
      </p:sp>
      <p:sp>
        <p:nvSpPr>
          <p:cNvPr id="220" name="Google Shape;220;gd842e5c47e_0_547"/>
          <p:cNvSpPr txBox="1"/>
          <p:nvPr/>
        </p:nvSpPr>
        <p:spPr>
          <a:xfrm flipH="1">
            <a:off x="7980333" y="5019833"/>
            <a:ext cx="416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Pérenniser les compétences de l’entreprise</a:t>
            </a:r>
            <a:endParaRPr sz="1900" b="0" i="0" u="none" strike="noStrike" cap="none">
              <a:solidFill>
                <a:schemeClr val="lt1"/>
              </a:solidFill>
              <a:latin typeface="Calibri"/>
              <a:ea typeface="Calibri"/>
              <a:cs typeface="Calibri"/>
              <a:sym typeface="Calibri"/>
            </a:endParaRPr>
          </a:p>
        </p:txBody>
      </p:sp>
      <p:sp>
        <p:nvSpPr>
          <p:cNvPr id="221" name="Google Shape;221;gd842e5c47e_0_547"/>
          <p:cNvSpPr/>
          <p:nvPr/>
        </p:nvSpPr>
        <p:spPr>
          <a:xfrm rot="-1134240">
            <a:off x="4857997" y="2735547"/>
            <a:ext cx="2317711" cy="2317711"/>
          </a:xfrm>
          <a:prstGeom prst="ellipse">
            <a:avLst/>
          </a:prstGeom>
          <a:solidFill>
            <a:schemeClr val="lt1"/>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Calibri"/>
              <a:ea typeface="Calibri"/>
              <a:cs typeface="Calibri"/>
              <a:sym typeface="Calibri"/>
            </a:endParaRPr>
          </a:p>
        </p:txBody>
      </p:sp>
      <p:sp>
        <p:nvSpPr>
          <p:cNvPr id="222" name="Google Shape;222;gd842e5c47e_0_547"/>
          <p:cNvSpPr txBox="1"/>
          <p:nvPr/>
        </p:nvSpPr>
        <p:spPr>
          <a:xfrm flipH="1">
            <a:off x="7695663" y="5574233"/>
            <a:ext cx="36705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Améliorer l’efficacité de votre service RH</a:t>
            </a:r>
            <a:endParaRPr sz="1900" b="0" i="0" u="none" strike="noStrike" cap="none">
              <a:solidFill>
                <a:schemeClr val="lt1"/>
              </a:solidFill>
              <a:latin typeface="Calibri"/>
              <a:ea typeface="Calibri"/>
              <a:cs typeface="Calibri"/>
              <a:sym typeface="Calibri"/>
            </a:endParaRPr>
          </a:p>
        </p:txBody>
      </p:sp>
      <p:pic>
        <p:nvPicPr>
          <p:cNvPr id="223" name="Google Shape;223;gd842e5c47e_0_547"/>
          <p:cNvPicPr preferRelativeResize="0"/>
          <p:nvPr/>
        </p:nvPicPr>
        <p:blipFill rotWithShape="1">
          <a:blip r:embed="rId3">
            <a:alphaModFix/>
          </a:blip>
          <a:srcRect/>
          <a:stretch/>
        </p:blipFill>
        <p:spPr>
          <a:xfrm>
            <a:off x="4709021" y="3461383"/>
            <a:ext cx="2607878" cy="1087283"/>
          </a:xfrm>
          <a:prstGeom prst="rect">
            <a:avLst/>
          </a:prstGeom>
          <a:noFill/>
          <a:ln>
            <a:noFill/>
          </a:ln>
        </p:spPr>
      </p:pic>
      <p:pic>
        <p:nvPicPr>
          <p:cNvPr id="224" name="Google Shape;224;gd842e5c47e_0_547"/>
          <p:cNvPicPr preferRelativeResize="0"/>
          <p:nvPr/>
        </p:nvPicPr>
        <p:blipFill rotWithShape="1">
          <a:blip r:embed="rId4">
            <a:alphaModFix/>
          </a:blip>
          <a:srcRect/>
          <a:stretch/>
        </p:blipFill>
        <p:spPr>
          <a:xfrm>
            <a:off x="6479782" y="1725937"/>
            <a:ext cx="544000" cy="544000"/>
          </a:xfrm>
          <a:prstGeom prst="rect">
            <a:avLst/>
          </a:prstGeom>
          <a:noFill/>
          <a:ln>
            <a:noFill/>
          </a:ln>
          <a:effectLst>
            <a:outerShdw blurRad="50800" dist="38100" dir="16200000" rotWithShape="0">
              <a:srgbClr val="000000">
                <a:alpha val="40000"/>
              </a:srgbClr>
            </a:outerShdw>
          </a:effectLst>
        </p:spPr>
      </p:pic>
      <p:pic>
        <p:nvPicPr>
          <p:cNvPr id="225" name="Google Shape;225;gd842e5c47e_0_547"/>
          <p:cNvPicPr preferRelativeResize="0"/>
          <p:nvPr/>
        </p:nvPicPr>
        <p:blipFill rotWithShape="1">
          <a:blip r:embed="rId5">
            <a:alphaModFix/>
          </a:blip>
          <a:srcRect/>
          <a:stretch/>
        </p:blipFill>
        <p:spPr>
          <a:xfrm>
            <a:off x="6826751" y="2230204"/>
            <a:ext cx="544000" cy="544000"/>
          </a:xfrm>
          <a:prstGeom prst="rect">
            <a:avLst/>
          </a:prstGeom>
          <a:noFill/>
          <a:ln>
            <a:noFill/>
          </a:ln>
        </p:spPr>
      </p:pic>
      <p:pic>
        <p:nvPicPr>
          <p:cNvPr id="226" name="Google Shape;226;gd842e5c47e_0_547"/>
          <p:cNvPicPr preferRelativeResize="0"/>
          <p:nvPr/>
        </p:nvPicPr>
        <p:blipFill rotWithShape="1">
          <a:blip r:embed="rId6">
            <a:alphaModFix/>
          </a:blip>
          <a:srcRect/>
          <a:stretch/>
        </p:blipFill>
        <p:spPr>
          <a:xfrm>
            <a:off x="7062056" y="2898936"/>
            <a:ext cx="727666" cy="406504"/>
          </a:xfrm>
          <a:prstGeom prst="rect">
            <a:avLst/>
          </a:prstGeom>
          <a:noFill/>
          <a:ln>
            <a:noFill/>
          </a:ln>
        </p:spPr>
      </p:pic>
      <p:pic>
        <p:nvPicPr>
          <p:cNvPr id="227" name="Google Shape;227;gd842e5c47e_0_547"/>
          <p:cNvPicPr preferRelativeResize="0"/>
          <p:nvPr/>
        </p:nvPicPr>
        <p:blipFill rotWithShape="1">
          <a:blip r:embed="rId7">
            <a:alphaModFix/>
          </a:blip>
          <a:srcRect/>
          <a:stretch/>
        </p:blipFill>
        <p:spPr>
          <a:xfrm>
            <a:off x="7426177" y="3450767"/>
            <a:ext cx="457200" cy="457200"/>
          </a:xfrm>
          <a:prstGeom prst="rect">
            <a:avLst/>
          </a:prstGeom>
          <a:noFill/>
          <a:ln>
            <a:noFill/>
          </a:ln>
        </p:spPr>
      </p:pic>
      <p:pic>
        <p:nvPicPr>
          <p:cNvPr id="228" name="Google Shape;228;gd842e5c47e_0_547"/>
          <p:cNvPicPr preferRelativeResize="0"/>
          <p:nvPr/>
        </p:nvPicPr>
        <p:blipFill rotWithShape="1">
          <a:blip r:embed="rId8">
            <a:alphaModFix/>
          </a:blip>
          <a:srcRect/>
          <a:stretch/>
        </p:blipFill>
        <p:spPr>
          <a:xfrm>
            <a:off x="7353554" y="4063326"/>
            <a:ext cx="725333" cy="544000"/>
          </a:xfrm>
          <a:prstGeom prst="rect">
            <a:avLst/>
          </a:prstGeom>
          <a:noFill/>
          <a:ln>
            <a:noFill/>
          </a:ln>
        </p:spPr>
      </p:pic>
      <p:pic>
        <p:nvPicPr>
          <p:cNvPr id="229" name="Google Shape;229;gd842e5c47e_0_547"/>
          <p:cNvPicPr preferRelativeResize="0"/>
          <p:nvPr/>
        </p:nvPicPr>
        <p:blipFill rotWithShape="1">
          <a:blip r:embed="rId9">
            <a:alphaModFix/>
          </a:blip>
          <a:srcRect/>
          <a:stretch/>
        </p:blipFill>
        <p:spPr>
          <a:xfrm rot="1896">
            <a:off x="7225753" y="4755559"/>
            <a:ext cx="543900" cy="373500"/>
          </a:xfrm>
          <a:prstGeom prst="ellipse">
            <a:avLst/>
          </a:prstGeom>
          <a:noFill/>
          <a:ln>
            <a:noFill/>
          </a:ln>
        </p:spPr>
      </p:pic>
      <p:pic>
        <p:nvPicPr>
          <p:cNvPr id="230" name="Google Shape;230;gd842e5c47e_0_547"/>
          <p:cNvPicPr preferRelativeResize="0"/>
          <p:nvPr/>
        </p:nvPicPr>
        <p:blipFill rotWithShape="1">
          <a:blip r:embed="rId10">
            <a:alphaModFix/>
          </a:blip>
          <a:srcRect/>
          <a:stretch/>
        </p:blipFill>
        <p:spPr>
          <a:xfrm>
            <a:off x="6913985" y="5268653"/>
            <a:ext cx="609799" cy="406532"/>
          </a:xfrm>
          <a:prstGeom prst="rect">
            <a:avLst/>
          </a:prstGeom>
          <a:noFill/>
          <a:ln>
            <a:noFill/>
          </a:ln>
        </p:spPr>
      </p:pic>
      <p:pic>
        <p:nvPicPr>
          <p:cNvPr id="231" name="Google Shape;231;gd842e5c47e_0_547"/>
          <p:cNvPicPr preferRelativeResize="0"/>
          <p:nvPr/>
        </p:nvPicPr>
        <p:blipFill rotWithShape="1">
          <a:blip r:embed="rId11">
            <a:alphaModFix/>
          </a:blip>
          <a:srcRect/>
          <a:stretch/>
        </p:blipFill>
        <p:spPr>
          <a:xfrm>
            <a:off x="6389933" y="5646233"/>
            <a:ext cx="609800" cy="304900"/>
          </a:xfrm>
          <a:prstGeom prst="rect">
            <a:avLst/>
          </a:prstGeom>
          <a:noFill/>
          <a:ln>
            <a:noFill/>
          </a:ln>
        </p:spPr>
      </p:pic>
      <p:sp>
        <p:nvSpPr>
          <p:cNvPr id="232" name="Google Shape;232;gd842e5c47e_0_547"/>
          <p:cNvSpPr txBox="1"/>
          <p:nvPr/>
        </p:nvSpPr>
        <p:spPr>
          <a:xfrm flipH="1">
            <a:off x="6933700" y="6073067"/>
            <a:ext cx="29148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lt1"/>
                </a:solidFill>
                <a:latin typeface="Calibri"/>
                <a:ea typeface="Calibri"/>
                <a:cs typeface="Calibri"/>
                <a:sym typeface="Calibri"/>
              </a:rPr>
              <a:t>Accompagner le changement</a:t>
            </a:r>
            <a:endParaRPr sz="1900" b="0" i="0" u="none" strike="noStrike" cap="none">
              <a:solidFill>
                <a:schemeClr val="lt1"/>
              </a:solidFill>
              <a:latin typeface="Calibri"/>
              <a:ea typeface="Calibri"/>
              <a:cs typeface="Calibri"/>
              <a:sym typeface="Calibri"/>
            </a:endParaRPr>
          </a:p>
        </p:txBody>
      </p:sp>
      <p:sp>
        <p:nvSpPr>
          <p:cNvPr id="233" name="Google Shape;233;gd842e5c47e_0_547"/>
          <p:cNvSpPr txBox="1">
            <a:spLocks noGrp="1"/>
          </p:cNvSpPr>
          <p:nvPr>
            <p:ph type="title"/>
          </p:nvPr>
        </p:nvSpPr>
        <p:spPr>
          <a:xfrm>
            <a:off x="7879000" y="454175"/>
            <a:ext cx="3534900" cy="661800"/>
          </a:xfrm>
          <a:prstGeom prst="rect">
            <a:avLst/>
          </a:prstGeom>
          <a:noFill/>
          <a:ln>
            <a:noFill/>
          </a:ln>
        </p:spPr>
        <p:txBody>
          <a:bodyPr spcFirstLastPara="1" wrap="square" lIns="240000" tIns="45700" rIns="48000" bIns="45700" anchor="ctr" anchorCtr="0">
            <a:no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VOTRE CONTEXTE</a:t>
            </a:r>
            <a:endParaRPr sz="3300" b="1" i="0" u="none" strike="noStrike" cap="none">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e43107dc16_0_16"/>
          <p:cNvSpPr/>
          <p:nvPr/>
        </p:nvSpPr>
        <p:spPr>
          <a:xfrm>
            <a:off x="7477167" y="385136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MA DÉMARCHE</a:t>
            </a:r>
            <a:endParaRPr sz="2200" b="1" i="0" u="none" strike="noStrike" cap="none">
              <a:solidFill>
                <a:schemeClr val="dk2"/>
              </a:solidFill>
              <a:latin typeface="Calibri"/>
              <a:ea typeface="Calibri"/>
              <a:cs typeface="Calibri"/>
              <a:sym typeface="Calibri"/>
            </a:endParaRPr>
          </a:p>
        </p:txBody>
      </p:sp>
      <p:sp>
        <p:nvSpPr>
          <p:cNvPr id="239" name="Google Shape;239;ge43107dc16_0_16"/>
          <p:cNvSpPr/>
          <p:nvPr/>
        </p:nvSpPr>
        <p:spPr>
          <a:xfrm>
            <a:off x="6055401" y="2700925"/>
            <a:ext cx="4107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VOS BESOINS/MON OFFRE</a:t>
            </a:r>
            <a:endParaRPr sz="2200" b="1" i="0" u="none" strike="noStrike" cap="none">
              <a:solidFill>
                <a:schemeClr val="dk2"/>
              </a:solidFill>
              <a:latin typeface="Calibri"/>
              <a:ea typeface="Calibri"/>
              <a:cs typeface="Calibri"/>
              <a:sym typeface="Calibri"/>
            </a:endParaRPr>
          </a:p>
        </p:txBody>
      </p:sp>
      <p:sp>
        <p:nvSpPr>
          <p:cNvPr id="240" name="Google Shape;240;ge43107dc16_0_16"/>
          <p:cNvSpPr/>
          <p:nvPr/>
        </p:nvSpPr>
        <p:spPr>
          <a:xfrm>
            <a:off x="4545822" y="156809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VOTRE CONTEXTE</a:t>
            </a:r>
            <a:endParaRPr sz="2200" b="1" i="0" u="none" strike="noStrike" cap="none">
              <a:solidFill>
                <a:schemeClr val="dk2"/>
              </a:solidFill>
              <a:latin typeface="Calibri"/>
              <a:ea typeface="Calibri"/>
              <a:cs typeface="Calibri"/>
              <a:sym typeface="Calibri"/>
            </a:endParaRPr>
          </a:p>
        </p:txBody>
      </p:sp>
      <p:sp>
        <p:nvSpPr>
          <p:cNvPr id="241" name="Google Shape;241;ge43107dc16_0_16"/>
          <p:cNvSpPr/>
          <p:nvPr/>
        </p:nvSpPr>
        <p:spPr>
          <a:xfrm>
            <a:off x="8938025" y="5001825"/>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QUI SUIS-JE ?</a:t>
            </a:r>
            <a:endParaRPr sz="2200" b="1" i="0" u="none" strike="noStrike" cap="none">
              <a:solidFill>
                <a:schemeClr val="dk2"/>
              </a:solidFill>
              <a:latin typeface="Calibri"/>
              <a:ea typeface="Calibri"/>
              <a:cs typeface="Calibri"/>
              <a:sym typeface="Calibri"/>
            </a:endParaRPr>
          </a:p>
        </p:txBody>
      </p:sp>
      <p:sp>
        <p:nvSpPr>
          <p:cNvPr id="242" name="Google Shape;242;ge43107dc16_0_16"/>
          <p:cNvSpPr/>
          <p:nvPr/>
        </p:nvSpPr>
        <p:spPr>
          <a:xfrm>
            <a:off x="4137650" y="160335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43" name="Google Shape;243;ge43107dc16_0_16"/>
          <p:cNvSpPr/>
          <p:nvPr/>
        </p:nvSpPr>
        <p:spPr>
          <a:xfrm>
            <a:off x="5620183" y="2736175"/>
            <a:ext cx="637800" cy="585000"/>
          </a:xfrm>
          <a:prstGeom prst="rect">
            <a:avLst/>
          </a:prstGeom>
          <a:solidFill>
            <a:schemeClr val="dk2"/>
          </a:solid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44" name="Google Shape;244;ge43107dc16_0_16"/>
          <p:cNvSpPr/>
          <p:nvPr/>
        </p:nvSpPr>
        <p:spPr>
          <a:xfrm>
            <a:off x="7102717" y="386900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45" name="Google Shape;245;ge43107dc16_0_16"/>
          <p:cNvSpPr/>
          <p:nvPr/>
        </p:nvSpPr>
        <p:spPr>
          <a:xfrm>
            <a:off x="8585250" y="500182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246" name="Google Shape;246;ge43107dc16_0_16"/>
          <p:cNvPicPr preferRelativeResize="0"/>
          <p:nvPr/>
        </p:nvPicPr>
        <p:blipFill rotWithShape="1">
          <a:blip r:embed="rId3">
            <a:alphaModFix/>
          </a:blip>
          <a:srcRect/>
          <a:stretch/>
        </p:blipFill>
        <p:spPr>
          <a:xfrm>
            <a:off x="969547" y="0"/>
            <a:ext cx="2619654" cy="6858000"/>
          </a:xfrm>
          <a:prstGeom prst="rect">
            <a:avLst/>
          </a:prstGeom>
          <a:noFill/>
          <a:ln>
            <a:noFill/>
          </a:ln>
          <a:effectLst>
            <a:outerShdw blurRad="50800" dist="38100" dir="2700000" algn="tl" rotWithShape="0">
              <a:srgbClr val="000000">
                <a:alpha val="40000"/>
              </a:srgbClr>
            </a:outerShdw>
          </a:effectLst>
        </p:spPr>
      </p:pic>
      <p:sp>
        <p:nvSpPr>
          <p:cNvPr id="247" name="Google Shape;247;ge43107dc16_0_16"/>
          <p:cNvSpPr/>
          <p:nvPr/>
        </p:nvSpPr>
        <p:spPr>
          <a:xfrm>
            <a:off x="1965278" y="4135272"/>
            <a:ext cx="2169900" cy="20061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8" name="Google Shape;248;ge43107dc16_0_16"/>
          <p:cNvSpPr/>
          <p:nvPr/>
        </p:nvSpPr>
        <p:spPr>
          <a:xfrm>
            <a:off x="2427787" y="348024"/>
            <a:ext cx="1390200" cy="13845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9" name="Google Shape;249;ge43107dc16_0_16"/>
          <p:cNvSpPr/>
          <p:nvPr/>
        </p:nvSpPr>
        <p:spPr>
          <a:xfrm>
            <a:off x="969550" y="4835100"/>
            <a:ext cx="1764600" cy="17439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0" name="Google Shape;250;ge43107dc16_0_16"/>
          <p:cNvSpPr/>
          <p:nvPr/>
        </p:nvSpPr>
        <p:spPr>
          <a:xfrm rot="-5400000">
            <a:off x="391478" y="1176628"/>
            <a:ext cx="459775" cy="1242725"/>
          </a:xfrm>
          <a:prstGeom prst="flowChartOffpageConnector">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d87025c01f_1_0"/>
          <p:cNvSpPr txBox="1">
            <a:spLocks noGrp="1"/>
          </p:cNvSpPr>
          <p:nvPr>
            <p:ph type="title"/>
          </p:nvPr>
        </p:nvSpPr>
        <p:spPr>
          <a:xfrm>
            <a:off x="6387375" y="454175"/>
            <a:ext cx="5026500" cy="661800"/>
          </a:xfrm>
          <a:prstGeom prst="rect">
            <a:avLst/>
          </a:prstGeom>
          <a:noFill/>
          <a:ln>
            <a:noFill/>
          </a:ln>
        </p:spPr>
        <p:txBody>
          <a:bodyPr spcFirstLastPara="1" wrap="square" lIns="240000" tIns="45700" rIns="48000" bIns="45700" anchor="ctr" anchorCtr="0">
            <a:no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VOS BESOINS/MON OFFRE</a:t>
            </a:r>
            <a:endParaRPr sz="3300" b="1" i="0" u="none" strike="noStrike" cap="none">
              <a:solidFill>
                <a:schemeClr val="dk2"/>
              </a:solidFill>
              <a:latin typeface="Calibri"/>
              <a:ea typeface="Calibri"/>
              <a:cs typeface="Calibri"/>
              <a:sym typeface="Calibri"/>
            </a:endParaRPr>
          </a:p>
        </p:txBody>
      </p:sp>
      <p:grpSp>
        <p:nvGrpSpPr>
          <p:cNvPr id="256" name="Google Shape;256;gd87025c01f_1_0"/>
          <p:cNvGrpSpPr/>
          <p:nvPr/>
        </p:nvGrpSpPr>
        <p:grpSpPr>
          <a:xfrm>
            <a:off x="990600" y="1538025"/>
            <a:ext cx="10786400" cy="4813235"/>
            <a:chOff x="990600" y="1233225"/>
            <a:chExt cx="10786400" cy="4813235"/>
          </a:xfrm>
        </p:grpSpPr>
        <p:pic>
          <p:nvPicPr>
            <p:cNvPr id="257" name="Google Shape;257;gd87025c01f_1_0"/>
            <p:cNvPicPr preferRelativeResize="0"/>
            <p:nvPr/>
          </p:nvPicPr>
          <p:blipFill rotWithShape="1">
            <a:blip r:embed="rId3">
              <a:alphaModFix/>
            </a:blip>
            <a:srcRect/>
            <a:stretch/>
          </p:blipFill>
          <p:spPr>
            <a:xfrm>
              <a:off x="3646725" y="1233225"/>
              <a:ext cx="8130275" cy="4813235"/>
            </a:xfrm>
            <a:prstGeom prst="rect">
              <a:avLst/>
            </a:prstGeom>
            <a:noFill/>
            <a:ln>
              <a:noFill/>
            </a:ln>
          </p:spPr>
        </p:pic>
        <p:sp>
          <p:nvSpPr>
            <p:cNvPr id="258" name="Google Shape;258;gd87025c01f_1_0"/>
            <p:cNvSpPr txBox="1"/>
            <p:nvPr/>
          </p:nvSpPr>
          <p:spPr>
            <a:xfrm>
              <a:off x="3521625" y="1233525"/>
              <a:ext cx="4329900" cy="46587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500"/>
                <a:buFont typeface="Arial"/>
                <a:buNone/>
              </a:pPr>
              <a:r>
                <a:rPr lang="fr-FR" sz="2300" b="1" i="0" u="none" strike="noStrike" cap="none">
                  <a:solidFill>
                    <a:srgbClr val="FEFFFF"/>
                  </a:solidFill>
                  <a:latin typeface="Calibri"/>
                  <a:ea typeface="Calibri"/>
                  <a:cs typeface="Calibri"/>
                  <a:sym typeface="Calibri"/>
                </a:rPr>
                <a:t>MON APPORT</a:t>
              </a:r>
              <a:endParaRPr sz="1900" b="1" i="0" u="none" strike="noStrike" cap="none">
                <a:solidFill>
                  <a:srgbClr val="FEFFFF"/>
                </a:solidFill>
                <a:latin typeface="Calibri"/>
                <a:ea typeface="Calibri"/>
                <a:cs typeface="Calibri"/>
                <a:sym typeface="Calibri"/>
              </a:endParaRPr>
            </a:p>
            <a:p>
              <a:pPr marL="596900" marR="0" lvl="1" indent="-361950" algn="l" rtl="0">
                <a:lnSpc>
                  <a:spcPct val="150000"/>
                </a:lnSpc>
                <a:spcBef>
                  <a:spcPts val="110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Une forte orientation résultats</a:t>
              </a:r>
              <a:endParaRPr sz="1900" b="0" i="0" u="none" strike="noStrike" cap="none">
                <a:solidFill>
                  <a:srgbClr val="FEFFFF"/>
                </a:solidFill>
                <a:latin typeface="Calibri"/>
                <a:ea typeface="Calibri"/>
                <a:cs typeface="Calibri"/>
                <a:sym typeface="Calibri"/>
              </a:endParaRPr>
            </a:p>
            <a:p>
              <a:pPr marL="596900" marR="0" lvl="1" indent="-361950"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Une expérience de 15 ans dans différents secteurs</a:t>
              </a:r>
              <a:endParaRPr sz="1900" b="0" i="0" u="none" strike="noStrike" cap="none">
                <a:solidFill>
                  <a:srgbClr val="FEFFFF"/>
                </a:solidFill>
                <a:latin typeface="Calibri"/>
                <a:ea typeface="Calibri"/>
                <a:cs typeface="Calibri"/>
                <a:sym typeface="Calibri"/>
              </a:endParaRPr>
            </a:p>
            <a:p>
              <a:pPr marL="596900" marR="0" lvl="1" indent="-361950"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 conseil et une expertise RH</a:t>
              </a:r>
              <a:endParaRPr sz="1900" b="0" i="0" u="none" strike="noStrike" cap="none">
                <a:solidFill>
                  <a:srgbClr val="FEFFFF"/>
                </a:solidFill>
                <a:latin typeface="Calibri"/>
                <a:ea typeface="Calibri"/>
                <a:cs typeface="Calibri"/>
                <a:sym typeface="Calibri"/>
              </a:endParaRPr>
            </a:p>
            <a:p>
              <a:pPr marL="596900" marR="0" lvl="1" indent="-361950"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Une action limitée dans le temps</a:t>
              </a:r>
              <a:endParaRPr sz="1900" b="0" i="0" u="none" strike="noStrike" cap="none">
                <a:solidFill>
                  <a:srgbClr val="FEFFFF"/>
                </a:solidFill>
                <a:latin typeface="Calibri"/>
                <a:ea typeface="Calibri"/>
                <a:cs typeface="Calibri"/>
                <a:sym typeface="Calibri"/>
              </a:endParaRPr>
            </a:p>
            <a:p>
              <a:pPr marL="596900" marR="0" lvl="1" indent="-361950"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Une implication à la hauteur de</a:t>
              </a:r>
              <a:br>
                <a:rPr lang="fr-FR" sz="1900" b="0" i="0" u="none" strike="noStrike" cap="none">
                  <a:solidFill>
                    <a:srgbClr val="FEFFFF"/>
                  </a:solidFill>
                  <a:latin typeface="Calibri"/>
                  <a:ea typeface="Calibri"/>
                  <a:cs typeface="Calibri"/>
                  <a:sym typeface="Calibri"/>
                </a:rPr>
              </a:br>
              <a:r>
                <a:rPr lang="fr-FR" sz="1900" b="0" i="0" u="none" strike="noStrike" cap="none">
                  <a:solidFill>
                    <a:srgbClr val="FEFFFF"/>
                  </a:solidFill>
                  <a:latin typeface="Calibri"/>
                  <a:ea typeface="Calibri"/>
                  <a:cs typeface="Calibri"/>
                  <a:sym typeface="Calibri"/>
                </a:rPr>
                <a:t>vos capacités et besoins</a:t>
              </a:r>
              <a:endParaRPr sz="1900" b="0" i="0" u="none" strike="noStrike" cap="none">
                <a:solidFill>
                  <a:srgbClr val="FEFFFF"/>
                </a:solidFill>
                <a:latin typeface="Calibri"/>
                <a:ea typeface="Calibri"/>
                <a:cs typeface="Calibri"/>
                <a:sym typeface="Calibri"/>
              </a:endParaRPr>
            </a:p>
            <a:p>
              <a:pPr marL="596900" marR="0" lvl="1" indent="-361950"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De la flexibilité</a:t>
              </a:r>
              <a:endParaRPr sz="1900" b="0" i="0" u="none" strike="noStrike" cap="none">
                <a:solidFill>
                  <a:srgbClr val="FEFFFF"/>
                </a:solidFill>
                <a:latin typeface="Calibri"/>
                <a:ea typeface="Calibri"/>
                <a:cs typeface="Calibri"/>
                <a:sym typeface="Calibri"/>
              </a:endParaRPr>
            </a:p>
            <a:p>
              <a:pPr marL="596900" marR="0" lvl="1" indent="-361950"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Une vision extérieure et neutre</a:t>
              </a:r>
              <a:endParaRPr sz="1900" b="0" i="0" u="none" strike="noStrike" cap="none">
                <a:solidFill>
                  <a:srgbClr val="FEFFFF"/>
                </a:solidFill>
                <a:latin typeface="Calibri"/>
                <a:ea typeface="Calibri"/>
                <a:cs typeface="Calibri"/>
                <a:sym typeface="Calibri"/>
              </a:endParaRPr>
            </a:p>
          </p:txBody>
        </p:sp>
        <p:sp>
          <p:nvSpPr>
            <p:cNvPr id="259" name="Google Shape;259;gd87025c01f_1_0"/>
            <p:cNvSpPr txBox="1"/>
            <p:nvPr/>
          </p:nvSpPr>
          <p:spPr>
            <a:xfrm>
              <a:off x="8684550" y="1233525"/>
              <a:ext cx="3006600" cy="33300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2300"/>
                <a:buFont typeface="Arial"/>
                <a:buNone/>
              </a:pPr>
              <a:r>
                <a:rPr lang="fr-FR" sz="2300" b="1" i="0" u="none" strike="noStrike" cap="none">
                  <a:solidFill>
                    <a:schemeClr val="dk2"/>
                  </a:solidFill>
                  <a:latin typeface="Calibri"/>
                  <a:ea typeface="Calibri"/>
                  <a:cs typeface="Calibri"/>
                  <a:sym typeface="Calibri"/>
                </a:rPr>
                <a:t>CE QUE JE NE SUIS PAS</a:t>
              </a:r>
              <a:endParaRPr sz="1900" b="1" i="0" u="none" strike="noStrike" cap="none">
                <a:solidFill>
                  <a:schemeClr val="dk2"/>
                </a:solidFill>
                <a:latin typeface="Calibri"/>
                <a:ea typeface="Calibri"/>
                <a:cs typeface="Calibri"/>
                <a:sym typeface="Calibri"/>
              </a:endParaRPr>
            </a:p>
            <a:p>
              <a:pPr marL="596900" marR="0" lvl="1" indent="-361950" algn="l" rtl="0">
                <a:lnSpc>
                  <a:spcPct val="150000"/>
                </a:lnSpc>
                <a:spcBef>
                  <a:spcPts val="1000"/>
                </a:spcBef>
                <a:spcAft>
                  <a:spcPts val="0"/>
                </a:spcAft>
                <a:buClr>
                  <a:schemeClr val="dk2"/>
                </a:buClr>
                <a:buSzPts val="1900"/>
                <a:buFont typeface="Calibri"/>
                <a:buChar char="◆"/>
              </a:pPr>
              <a:r>
                <a:rPr lang="fr-FR" sz="1900" b="0" i="0" u="none" strike="noStrike" cap="none">
                  <a:solidFill>
                    <a:schemeClr val="dk2"/>
                  </a:solidFill>
                  <a:latin typeface="Calibri"/>
                  <a:ea typeface="Calibri"/>
                  <a:cs typeface="Calibri"/>
                  <a:sym typeface="Calibri"/>
                </a:rPr>
                <a:t>Une charge salariale supplémentaire</a:t>
              </a:r>
              <a:endParaRPr sz="1900" b="0" i="0" u="none" strike="noStrike" cap="none">
                <a:solidFill>
                  <a:schemeClr val="dk2"/>
                </a:solidFill>
                <a:latin typeface="Calibri"/>
                <a:ea typeface="Calibri"/>
                <a:cs typeface="Calibri"/>
                <a:sym typeface="Calibri"/>
              </a:endParaRPr>
            </a:p>
            <a:p>
              <a:pPr marL="596900" marR="0" lvl="1" indent="-361950" algn="l" rtl="0">
                <a:lnSpc>
                  <a:spcPct val="150000"/>
                </a:lnSpc>
                <a:spcBef>
                  <a:spcPts val="0"/>
                </a:spcBef>
                <a:spcAft>
                  <a:spcPts val="0"/>
                </a:spcAft>
                <a:buClr>
                  <a:schemeClr val="dk2"/>
                </a:buClr>
                <a:buSzPts val="1900"/>
                <a:buFont typeface="Calibri"/>
                <a:buChar char="◆"/>
              </a:pPr>
              <a:r>
                <a:rPr lang="fr-FR" sz="1900" b="0" i="0" u="none" strike="noStrike" cap="none">
                  <a:solidFill>
                    <a:schemeClr val="dk2"/>
                  </a:solidFill>
                  <a:latin typeface="Calibri"/>
                  <a:ea typeface="Calibri"/>
                  <a:cs typeface="Calibri"/>
                  <a:sym typeface="Calibri"/>
                </a:rPr>
                <a:t>Une charge fixe</a:t>
              </a:r>
              <a:endParaRPr sz="1900" b="0" i="0" u="none" strike="noStrike" cap="none">
                <a:solidFill>
                  <a:schemeClr val="dk2"/>
                </a:solidFill>
                <a:latin typeface="Calibri"/>
                <a:ea typeface="Calibri"/>
                <a:cs typeface="Calibri"/>
                <a:sym typeface="Calibri"/>
              </a:endParaRPr>
            </a:p>
            <a:p>
              <a:pPr marL="596900" marR="0" lvl="1" indent="-361950" algn="l" rtl="0">
                <a:lnSpc>
                  <a:spcPct val="150000"/>
                </a:lnSpc>
                <a:spcBef>
                  <a:spcPts val="0"/>
                </a:spcBef>
                <a:spcAft>
                  <a:spcPts val="0"/>
                </a:spcAft>
                <a:buClr>
                  <a:schemeClr val="dk2"/>
                </a:buClr>
                <a:buSzPts val="1900"/>
                <a:buFont typeface="Calibri"/>
                <a:buChar char="◆"/>
              </a:pPr>
              <a:r>
                <a:rPr lang="fr-FR" sz="1900" b="0" i="0" u="none" strike="noStrike" cap="none">
                  <a:solidFill>
                    <a:schemeClr val="dk2"/>
                  </a:solidFill>
                  <a:latin typeface="Calibri"/>
                  <a:ea typeface="Calibri"/>
                  <a:cs typeface="Calibri"/>
                  <a:sym typeface="Calibri"/>
                </a:rPr>
                <a:t>Une porte-parole des messages de la direction</a:t>
              </a:r>
              <a:endParaRPr sz="2300" b="1" i="0" u="none" strike="noStrike" cap="none">
                <a:solidFill>
                  <a:schemeClr val="dk2"/>
                </a:solidFill>
                <a:latin typeface="Calibri"/>
                <a:ea typeface="Calibri"/>
                <a:cs typeface="Calibri"/>
                <a:sym typeface="Calibri"/>
              </a:endParaRPr>
            </a:p>
          </p:txBody>
        </p:sp>
        <p:sp>
          <p:nvSpPr>
            <p:cNvPr id="260" name="Google Shape;260;gd87025c01f_1_0"/>
            <p:cNvSpPr/>
            <p:nvPr/>
          </p:nvSpPr>
          <p:spPr>
            <a:xfrm>
              <a:off x="990600" y="1233225"/>
              <a:ext cx="2678100" cy="4696800"/>
            </a:xfrm>
            <a:prstGeom prst="rect">
              <a:avLst/>
            </a:prstGeom>
            <a:solidFill>
              <a:schemeClr val="dk2"/>
            </a:solidFill>
            <a:ln>
              <a:noFill/>
            </a:ln>
            <a:effectLst>
              <a:outerShdw blurRad="57150" dist="19050" dir="5400000" algn="bl" rotWithShape="0">
                <a:srgbClr val="000000">
                  <a:alpha val="49019"/>
                </a:srgbClr>
              </a:outerShdw>
            </a:effectLst>
          </p:spPr>
          <p:txBody>
            <a:bodyPr spcFirstLastPara="1" wrap="square" lIns="91425" tIns="0" rIns="91425" bIns="91425" anchor="t" anchorCtr="0">
              <a:noAutofit/>
            </a:bodyPr>
            <a:lstStyle/>
            <a:p>
              <a:pPr marL="0" marR="0" lvl="0" indent="0" algn="l" rtl="0">
                <a:lnSpc>
                  <a:spcPct val="150000"/>
                </a:lnSpc>
                <a:spcBef>
                  <a:spcPts val="11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gd87025c01f_1_0"/>
            <p:cNvSpPr txBox="1"/>
            <p:nvPr/>
          </p:nvSpPr>
          <p:spPr>
            <a:xfrm>
              <a:off x="1031450" y="1233225"/>
              <a:ext cx="2678100" cy="4108200"/>
            </a:xfrm>
            <a:prstGeom prst="rect">
              <a:avLst/>
            </a:prstGeom>
            <a:noFill/>
            <a:ln>
              <a:noFill/>
            </a:ln>
          </p:spPr>
          <p:txBody>
            <a:bodyPr spcFirstLastPara="1" wrap="square" lIns="91425" tIns="90000" rIns="91425" bIns="91425" anchor="t" anchorCtr="0">
              <a:spAutoFit/>
            </a:bodyPr>
            <a:lstStyle/>
            <a:p>
              <a:pPr marL="0" marR="0" lvl="0" indent="0" algn="l" rtl="0">
                <a:lnSpc>
                  <a:spcPct val="150000"/>
                </a:lnSpc>
                <a:spcBef>
                  <a:spcPts val="0"/>
                </a:spcBef>
                <a:spcAft>
                  <a:spcPts val="0"/>
                </a:spcAft>
                <a:buClr>
                  <a:srgbClr val="000000"/>
                </a:buClr>
                <a:buSzPts val="2200"/>
                <a:buFont typeface="Arial"/>
                <a:buNone/>
              </a:pPr>
              <a:r>
                <a:rPr lang="fr-FR" sz="2200" b="1" i="0" u="none" strike="noStrike" cap="none">
                  <a:solidFill>
                    <a:srgbClr val="FEFFFF"/>
                  </a:solidFill>
                  <a:latin typeface="Calibri"/>
                  <a:ea typeface="Calibri"/>
                  <a:cs typeface="Calibri"/>
                  <a:sym typeface="Calibri"/>
                </a:rPr>
                <a:t>VOS BESOINS</a:t>
              </a:r>
              <a:endParaRPr sz="2200" b="1" i="0" u="none" strike="noStrike" cap="none">
                <a:solidFill>
                  <a:srgbClr val="FEFFFF"/>
                </a:solidFill>
                <a:latin typeface="Calibri"/>
                <a:ea typeface="Calibri"/>
                <a:cs typeface="Calibri"/>
                <a:sym typeface="Calibri"/>
              </a:endParaRPr>
            </a:p>
            <a:p>
              <a:pPr marL="360000" marR="0" lvl="1" indent="-301625" algn="l" rtl="0">
                <a:lnSpc>
                  <a:spcPct val="150000"/>
                </a:lnSpc>
                <a:spcBef>
                  <a:spcPts val="110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 conseil</a:t>
              </a:r>
              <a:endParaRPr sz="1900" b="0" i="0" u="none" strike="noStrike" cap="none">
                <a:solidFill>
                  <a:srgbClr val="FEFFFF"/>
                </a:solidFill>
                <a:latin typeface="Calibri"/>
                <a:ea typeface="Calibri"/>
                <a:cs typeface="Calibri"/>
                <a:sym typeface="Calibri"/>
              </a:endParaRPr>
            </a:p>
            <a:p>
              <a:pPr marL="360000" marR="0" lvl="1" indent="-301625"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 projet ponctuel</a:t>
              </a:r>
              <a:endParaRPr sz="1900" b="0" i="0" u="none" strike="noStrike" cap="none">
                <a:solidFill>
                  <a:srgbClr val="FEFFFF"/>
                </a:solidFill>
                <a:latin typeface="Calibri"/>
                <a:ea typeface="Calibri"/>
                <a:cs typeface="Calibri"/>
                <a:sym typeface="Calibri"/>
              </a:endParaRPr>
            </a:p>
            <a:p>
              <a:pPr marL="360000" marR="0" lvl="1" indent="-301625"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Une action long terme</a:t>
              </a:r>
              <a:endParaRPr sz="2200" b="1" i="0" u="none" strike="noStrike" cap="none">
                <a:solidFill>
                  <a:srgbClr val="FEFFFF"/>
                </a:solidFill>
                <a:latin typeface="Calibri"/>
                <a:ea typeface="Calibri"/>
                <a:cs typeface="Calibri"/>
                <a:sym typeface="Calibri"/>
              </a:endParaRPr>
            </a:p>
            <a:p>
              <a:pPr marL="0" marR="0" lvl="0" indent="0" algn="l" rtl="0">
                <a:lnSpc>
                  <a:spcPct val="150000"/>
                </a:lnSpc>
                <a:spcBef>
                  <a:spcPts val="1100"/>
                </a:spcBef>
                <a:spcAft>
                  <a:spcPts val="0"/>
                </a:spcAft>
                <a:buClr>
                  <a:srgbClr val="000000"/>
                </a:buClr>
                <a:buSzPts val="2200"/>
                <a:buFont typeface="Arial"/>
                <a:buNone/>
              </a:pPr>
              <a:r>
                <a:rPr lang="fr-FR" sz="2200" b="1" i="0" u="none" strike="noStrike" cap="none">
                  <a:solidFill>
                    <a:srgbClr val="FEFFFF"/>
                  </a:solidFill>
                  <a:latin typeface="Calibri"/>
                  <a:ea typeface="Calibri"/>
                  <a:cs typeface="Calibri"/>
                  <a:sym typeface="Calibri"/>
                </a:rPr>
                <a:t>MES PRESTATIONS</a:t>
              </a:r>
              <a:endParaRPr sz="2200" b="1" i="0" u="none" strike="noStrike" cap="none">
                <a:solidFill>
                  <a:srgbClr val="FEFFFF"/>
                </a:solidFill>
                <a:latin typeface="Calibri"/>
                <a:ea typeface="Calibri"/>
                <a:cs typeface="Calibri"/>
                <a:sym typeface="Calibri"/>
              </a:endParaRPr>
            </a:p>
            <a:p>
              <a:pPr marL="360000" marR="0" lvl="1" indent="-301625" algn="l" rtl="0">
                <a:lnSpc>
                  <a:spcPct val="150000"/>
                </a:lnSpc>
                <a:spcBef>
                  <a:spcPts val="110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Conseil RH</a:t>
              </a:r>
              <a:endParaRPr sz="1900" b="0" i="0" u="none" strike="noStrike" cap="none">
                <a:solidFill>
                  <a:srgbClr val="FEFFFF"/>
                </a:solidFill>
                <a:latin typeface="Calibri"/>
                <a:ea typeface="Calibri"/>
                <a:cs typeface="Calibri"/>
                <a:sym typeface="Calibri"/>
              </a:endParaRPr>
            </a:p>
            <a:p>
              <a:pPr marL="360000" marR="0" lvl="1" indent="-301625" algn="l" rtl="0">
                <a:lnSpc>
                  <a:spcPct val="150000"/>
                </a:lnSpc>
                <a:spcBef>
                  <a:spcPts val="0"/>
                </a:spcBef>
                <a:spcAft>
                  <a:spcPts val="0"/>
                </a:spcAft>
                <a:buClr>
                  <a:srgbClr val="FEFFFF"/>
                </a:buClr>
                <a:buSzPts val="1900"/>
                <a:buFont typeface="Calibri"/>
                <a:buChar char="◆"/>
              </a:pPr>
              <a:r>
                <a:rPr lang="fr-FR" sz="1900" b="0" i="0" u="none" strike="noStrike" cap="none">
                  <a:solidFill>
                    <a:srgbClr val="FEFFFF"/>
                  </a:solidFill>
                  <a:latin typeface="Calibri"/>
                  <a:ea typeface="Calibri"/>
                  <a:cs typeface="Calibri"/>
                  <a:sym typeface="Calibri"/>
                </a:rPr>
                <a:t>DRH à Temps Partagé</a:t>
              </a:r>
              <a:endParaRPr sz="1400" b="0" i="0" u="none" strike="noStrike" cap="none">
                <a:solidFill>
                  <a:srgbClr val="000000"/>
                </a:solidFill>
                <a:latin typeface="Calibri"/>
                <a:ea typeface="Calibri"/>
                <a:cs typeface="Calibri"/>
                <a:sym typeface="Calibri"/>
              </a:endParaRPr>
            </a:p>
          </p:txBody>
        </p:sp>
      </p:grpSp>
      <p:pic>
        <p:nvPicPr>
          <p:cNvPr id="262" name="Google Shape;262;gd87025c01f_1_0"/>
          <p:cNvPicPr preferRelativeResize="0"/>
          <p:nvPr/>
        </p:nvPicPr>
        <p:blipFill rotWithShape="1">
          <a:blip r:embed="rId4">
            <a:alphaModFix/>
          </a:blip>
          <a:srcRect/>
          <a:stretch/>
        </p:blipFill>
        <p:spPr>
          <a:xfrm>
            <a:off x="5938988" y="88100"/>
            <a:ext cx="617474" cy="875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e43107dc16_0_32"/>
          <p:cNvSpPr/>
          <p:nvPr/>
        </p:nvSpPr>
        <p:spPr>
          <a:xfrm>
            <a:off x="7477167" y="385136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MA DÉMARCHE</a:t>
            </a:r>
            <a:endParaRPr sz="2200" b="1" i="0" u="none" strike="noStrike" cap="none">
              <a:solidFill>
                <a:schemeClr val="dk2"/>
              </a:solidFill>
              <a:latin typeface="Calibri"/>
              <a:ea typeface="Calibri"/>
              <a:cs typeface="Calibri"/>
              <a:sym typeface="Calibri"/>
            </a:endParaRPr>
          </a:p>
        </p:txBody>
      </p:sp>
      <p:sp>
        <p:nvSpPr>
          <p:cNvPr id="268" name="Google Shape;268;ge43107dc16_0_32"/>
          <p:cNvSpPr/>
          <p:nvPr/>
        </p:nvSpPr>
        <p:spPr>
          <a:xfrm>
            <a:off x="6055401" y="2700925"/>
            <a:ext cx="4107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VOS BESOINS/MON OFFRE</a:t>
            </a:r>
            <a:endParaRPr sz="2200" b="1" i="0" u="none" strike="noStrike" cap="none">
              <a:solidFill>
                <a:schemeClr val="dk2"/>
              </a:solidFill>
              <a:latin typeface="Calibri"/>
              <a:ea typeface="Calibri"/>
              <a:cs typeface="Calibri"/>
              <a:sym typeface="Calibri"/>
            </a:endParaRPr>
          </a:p>
        </p:txBody>
      </p:sp>
      <p:sp>
        <p:nvSpPr>
          <p:cNvPr id="269" name="Google Shape;269;ge43107dc16_0_32"/>
          <p:cNvSpPr/>
          <p:nvPr/>
        </p:nvSpPr>
        <p:spPr>
          <a:xfrm>
            <a:off x="4545822" y="156809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VOTRE CONTEXTE</a:t>
            </a:r>
            <a:endParaRPr sz="2200" b="1" i="0" u="none" strike="noStrike" cap="none">
              <a:solidFill>
                <a:schemeClr val="dk2"/>
              </a:solidFill>
              <a:latin typeface="Calibri"/>
              <a:ea typeface="Calibri"/>
              <a:cs typeface="Calibri"/>
              <a:sym typeface="Calibri"/>
            </a:endParaRPr>
          </a:p>
        </p:txBody>
      </p:sp>
      <p:sp>
        <p:nvSpPr>
          <p:cNvPr id="270" name="Google Shape;270;ge43107dc16_0_32"/>
          <p:cNvSpPr/>
          <p:nvPr/>
        </p:nvSpPr>
        <p:spPr>
          <a:xfrm>
            <a:off x="8938025" y="5001825"/>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QUI SUIS-JE ?</a:t>
            </a:r>
            <a:endParaRPr sz="2200" b="1" i="0" u="none" strike="noStrike" cap="none">
              <a:solidFill>
                <a:schemeClr val="dk2"/>
              </a:solidFill>
              <a:latin typeface="Calibri"/>
              <a:ea typeface="Calibri"/>
              <a:cs typeface="Calibri"/>
              <a:sym typeface="Calibri"/>
            </a:endParaRPr>
          </a:p>
        </p:txBody>
      </p:sp>
      <p:sp>
        <p:nvSpPr>
          <p:cNvPr id="271" name="Google Shape;271;ge43107dc16_0_32"/>
          <p:cNvSpPr/>
          <p:nvPr/>
        </p:nvSpPr>
        <p:spPr>
          <a:xfrm>
            <a:off x="4137650" y="160335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72" name="Google Shape;272;ge43107dc16_0_32"/>
          <p:cNvSpPr/>
          <p:nvPr/>
        </p:nvSpPr>
        <p:spPr>
          <a:xfrm>
            <a:off x="5620183" y="273617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73" name="Google Shape;273;ge43107dc16_0_32"/>
          <p:cNvSpPr/>
          <p:nvPr/>
        </p:nvSpPr>
        <p:spPr>
          <a:xfrm>
            <a:off x="7102717" y="3869000"/>
            <a:ext cx="637800" cy="585000"/>
          </a:xfrm>
          <a:prstGeom prst="rect">
            <a:avLst/>
          </a:prstGeom>
          <a:solidFill>
            <a:schemeClr val="dk2"/>
          </a:solid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74" name="Google Shape;274;ge43107dc16_0_32"/>
          <p:cNvSpPr/>
          <p:nvPr/>
        </p:nvSpPr>
        <p:spPr>
          <a:xfrm>
            <a:off x="8585250" y="500182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275" name="Google Shape;275;ge43107dc16_0_32"/>
          <p:cNvPicPr preferRelativeResize="0"/>
          <p:nvPr/>
        </p:nvPicPr>
        <p:blipFill rotWithShape="1">
          <a:blip r:embed="rId3">
            <a:alphaModFix/>
          </a:blip>
          <a:srcRect/>
          <a:stretch/>
        </p:blipFill>
        <p:spPr>
          <a:xfrm>
            <a:off x="969547" y="0"/>
            <a:ext cx="2619654" cy="6858000"/>
          </a:xfrm>
          <a:prstGeom prst="rect">
            <a:avLst/>
          </a:prstGeom>
          <a:noFill/>
          <a:ln>
            <a:noFill/>
          </a:ln>
          <a:effectLst>
            <a:outerShdw blurRad="50800" dist="38100" dir="2700000" algn="tl" rotWithShape="0">
              <a:srgbClr val="000000">
                <a:alpha val="40000"/>
              </a:srgbClr>
            </a:outerShdw>
          </a:effectLst>
        </p:spPr>
      </p:pic>
      <p:sp>
        <p:nvSpPr>
          <p:cNvPr id="276" name="Google Shape;276;ge43107dc16_0_32"/>
          <p:cNvSpPr/>
          <p:nvPr/>
        </p:nvSpPr>
        <p:spPr>
          <a:xfrm>
            <a:off x="1965278" y="4135272"/>
            <a:ext cx="2169900" cy="20061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7" name="Google Shape;277;ge43107dc16_0_32"/>
          <p:cNvSpPr/>
          <p:nvPr/>
        </p:nvSpPr>
        <p:spPr>
          <a:xfrm>
            <a:off x="2427787" y="348024"/>
            <a:ext cx="1390200" cy="13845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8" name="Google Shape;278;ge43107dc16_0_32"/>
          <p:cNvSpPr/>
          <p:nvPr/>
        </p:nvSpPr>
        <p:spPr>
          <a:xfrm>
            <a:off x="969550" y="4835100"/>
            <a:ext cx="1764600" cy="17439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9" name="Google Shape;279;ge43107dc16_0_32"/>
          <p:cNvSpPr/>
          <p:nvPr/>
        </p:nvSpPr>
        <p:spPr>
          <a:xfrm rot="-5400000">
            <a:off x="391478" y="1176628"/>
            <a:ext cx="459775" cy="1242725"/>
          </a:xfrm>
          <a:prstGeom prst="flowChartOffpageConnector">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d842e5c47e_0_587"/>
          <p:cNvSpPr txBox="1">
            <a:spLocks noGrp="1"/>
          </p:cNvSpPr>
          <p:nvPr>
            <p:ph type="body" idx="1"/>
          </p:nvPr>
        </p:nvSpPr>
        <p:spPr>
          <a:xfrm>
            <a:off x="2508408" y="1115967"/>
            <a:ext cx="8905500" cy="392100"/>
          </a:xfrm>
          <a:prstGeom prst="rect">
            <a:avLst/>
          </a:prstGeom>
          <a:noFill/>
          <a:ln>
            <a:noFill/>
          </a:ln>
        </p:spPr>
        <p:txBody>
          <a:bodyPr spcFirstLastPara="1" wrap="square" lIns="91425" tIns="45700" rIns="91425" bIns="45700" anchor="t" anchorCtr="0">
            <a:noAutofit/>
          </a:bodyPr>
          <a:lstStyle/>
          <a:p>
            <a:pPr marL="609600" marR="0" lvl="0" indent="0" algn="r" rtl="0">
              <a:lnSpc>
                <a:spcPct val="90000"/>
              </a:lnSpc>
              <a:spcBef>
                <a:spcPts val="0"/>
              </a:spcBef>
              <a:spcAft>
                <a:spcPts val="0"/>
              </a:spcAft>
              <a:buClr>
                <a:srgbClr val="000000"/>
              </a:buClr>
              <a:buSzPts val="1800"/>
              <a:buFont typeface="Arial"/>
              <a:buNone/>
            </a:pPr>
            <a:r>
              <a:rPr lang="fr-FR" sz="2500" b="1" i="0" u="none" strike="noStrike" cap="none">
                <a:solidFill>
                  <a:schemeClr val="dk1"/>
                </a:solidFill>
                <a:latin typeface="Calibri"/>
                <a:ea typeface="Calibri"/>
                <a:cs typeface="Calibri"/>
                <a:sym typeface="Calibri"/>
              </a:rPr>
              <a:t>Des actions pragmatiques pour des bénéfices tangibles</a:t>
            </a:r>
            <a:endParaRPr sz="2500" b="1" i="0" u="none" strike="noStrike" cap="none">
              <a:solidFill>
                <a:schemeClr val="dk1"/>
              </a:solidFill>
              <a:latin typeface="Calibri"/>
              <a:ea typeface="Calibri"/>
              <a:cs typeface="Calibri"/>
              <a:sym typeface="Calibri"/>
            </a:endParaRPr>
          </a:p>
        </p:txBody>
      </p:sp>
      <p:sp>
        <p:nvSpPr>
          <p:cNvPr id="285" name="Google Shape;285;gd842e5c47e_0_587"/>
          <p:cNvSpPr txBox="1"/>
          <p:nvPr/>
        </p:nvSpPr>
        <p:spPr>
          <a:xfrm>
            <a:off x="2103335" y="5104245"/>
            <a:ext cx="1937400" cy="73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chemeClr val="dk1"/>
                </a:solidFill>
                <a:latin typeface="Calibri"/>
                <a:ea typeface="Calibri"/>
                <a:cs typeface="Calibri"/>
                <a:sym typeface="Calibri"/>
              </a:rPr>
              <a:t>Une écoute attentive de vos problématiques et vos enjeux</a:t>
            </a:r>
            <a:endParaRPr sz="1600" b="0" i="0" u="none" strike="noStrike" cap="none">
              <a:solidFill>
                <a:schemeClr val="dk1"/>
              </a:solidFill>
              <a:latin typeface="Calibri"/>
              <a:ea typeface="Calibri"/>
              <a:cs typeface="Calibri"/>
              <a:sym typeface="Calibri"/>
            </a:endParaRPr>
          </a:p>
        </p:txBody>
      </p:sp>
      <p:sp>
        <p:nvSpPr>
          <p:cNvPr id="286" name="Google Shape;286;gd842e5c47e_0_587"/>
          <p:cNvSpPr/>
          <p:nvPr/>
        </p:nvSpPr>
        <p:spPr>
          <a:xfrm>
            <a:off x="2103343" y="4751633"/>
            <a:ext cx="1456010" cy="2769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fr-FR" sz="1900" b="1" i="0" u="none" strike="noStrike" cap="none">
                <a:solidFill>
                  <a:schemeClr val="dk1"/>
                </a:solidFill>
                <a:latin typeface="Calibri"/>
                <a:ea typeface="Calibri"/>
                <a:cs typeface="Calibri"/>
                <a:sym typeface="Calibri"/>
              </a:rPr>
              <a:t>ECOUTE</a:t>
            </a:r>
            <a:endParaRPr sz="1900" b="1" i="0" u="none" strike="noStrike" cap="none">
              <a:solidFill>
                <a:schemeClr val="dk1"/>
              </a:solidFill>
              <a:latin typeface="Calibri"/>
              <a:ea typeface="Calibri"/>
              <a:cs typeface="Calibri"/>
              <a:sym typeface="Calibri"/>
            </a:endParaRPr>
          </a:p>
        </p:txBody>
      </p:sp>
      <p:grpSp>
        <p:nvGrpSpPr>
          <p:cNvPr id="287" name="Google Shape;287;gd842e5c47e_0_587"/>
          <p:cNvGrpSpPr/>
          <p:nvPr/>
        </p:nvGrpSpPr>
        <p:grpSpPr>
          <a:xfrm>
            <a:off x="2335899" y="3088981"/>
            <a:ext cx="1656737" cy="1656737"/>
            <a:chOff x="1625295" y="1607393"/>
            <a:chExt cx="1446300" cy="1446300"/>
          </a:xfrm>
        </p:grpSpPr>
        <p:sp>
          <p:nvSpPr>
            <p:cNvPr id="288" name="Google Shape;288;gd842e5c47e_0_587"/>
            <p:cNvSpPr/>
            <p:nvPr/>
          </p:nvSpPr>
          <p:spPr>
            <a:xfrm>
              <a:off x="1625295" y="1607393"/>
              <a:ext cx="1446300" cy="1446300"/>
            </a:xfrm>
            <a:prstGeom prst="ellipse">
              <a:avLst/>
            </a:prstGeom>
            <a:solidFill>
              <a:srgbClr val="BFBFBF"/>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89" name="Google Shape;289;gd842e5c47e_0_587"/>
            <p:cNvSpPr/>
            <p:nvPr/>
          </p:nvSpPr>
          <p:spPr>
            <a:xfrm>
              <a:off x="1887582" y="1869679"/>
              <a:ext cx="921600" cy="921600"/>
            </a:xfrm>
            <a:prstGeom prst="ellipse">
              <a:avLst/>
            </a:prstGeom>
            <a:solidFill>
              <a:schemeClr val="accent1"/>
            </a:solidFill>
            <a:ln w="76200" cap="flat" cmpd="sng">
              <a:solidFill>
                <a:schemeClr val="lt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grpSp>
      <p:grpSp>
        <p:nvGrpSpPr>
          <p:cNvPr id="290" name="Google Shape;290;gd842e5c47e_0_587"/>
          <p:cNvGrpSpPr/>
          <p:nvPr/>
        </p:nvGrpSpPr>
        <p:grpSpPr>
          <a:xfrm>
            <a:off x="3503712" y="3058919"/>
            <a:ext cx="2515602" cy="1716741"/>
            <a:chOff x="2644774" y="1581149"/>
            <a:chExt cx="2196073" cy="1498683"/>
          </a:xfrm>
        </p:grpSpPr>
        <p:sp>
          <p:nvSpPr>
            <p:cNvPr id="291" name="Google Shape;291;gd842e5c47e_0_587"/>
            <p:cNvSpPr/>
            <p:nvPr/>
          </p:nvSpPr>
          <p:spPr>
            <a:xfrm rot="8100000" flipH="1">
              <a:off x="2864250" y="1800627"/>
              <a:ext cx="1059730" cy="1059728"/>
            </a:xfrm>
            <a:custGeom>
              <a:avLst/>
              <a:gdLst/>
              <a:ahLst/>
              <a:cxnLst/>
              <a:rect l="l" t="t" r="r" b="b"/>
              <a:pathLst>
                <a:path w="158" h="158" extrusionOk="0">
                  <a:moveTo>
                    <a:pt x="158" y="73"/>
                  </a:moveTo>
                  <a:cubicBezTo>
                    <a:pt x="86" y="0"/>
                    <a:pt x="86" y="0"/>
                    <a:pt x="86" y="0"/>
                  </a:cubicBezTo>
                  <a:cubicBezTo>
                    <a:pt x="85" y="51"/>
                    <a:pt x="50" y="86"/>
                    <a:pt x="0" y="87"/>
                  </a:cubicBezTo>
                  <a:cubicBezTo>
                    <a:pt x="69" y="158"/>
                    <a:pt x="69" y="158"/>
                    <a:pt x="69" y="158"/>
                  </a:cubicBezTo>
                  <a:cubicBezTo>
                    <a:pt x="71" y="107"/>
                    <a:pt x="107" y="73"/>
                    <a:pt x="158" y="73"/>
                  </a:cubicBez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92" name="Google Shape;292;gd842e5c47e_0_587"/>
            <p:cNvSpPr/>
            <p:nvPr/>
          </p:nvSpPr>
          <p:spPr>
            <a:xfrm>
              <a:off x="3664247" y="1742172"/>
              <a:ext cx="1176600" cy="1176600"/>
            </a:xfrm>
            <a:prstGeom prst="ellipse">
              <a:avLst/>
            </a:prstGeom>
            <a:solidFill>
              <a:srgbClr val="BFBFBF"/>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grpSp>
      <p:grpSp>
        <p:nvGrpSpPr>
          <p:cNvPr id="293" name="Google Shape;293;gd842e5c47e_0_587"/>
          <p:cNvGrpSpPr/>
          <p:nvPr/>
        </p:nvGrpSpPr>
        <p:grpSpPr>
          <a:xfrm>
            <a:off x="5621661" y="3218912"/>
            <a:ext cx="2095141" cy="1396756"/>
            <a:chOff x="4493703" y="1720820"/>
            <a:chExt cx="1829019" cy="1219342"/>
          </a:xfrm>
        </p:grpSpPr>
        <p:sp>
          <p:nvSpPr>
            <p:cNvPr id="294" name="Google Shape;294;gd842e5c47e_0_587"/>
            <p:cNvSpPr/>
            <p:nvPr/>
          </p:nvSpPr>
          <p:spPr>
            <a:xfrm rot="8100000" flipH="1">
              <a:off x="4672271" y="1899389"/>
              <a:ext cx="862206" cy="862204"/>
            </a:xfrm>
            <a:custGeom>
              <a:avLst/>
              <a:gdLst/>
              <a:ahLst/>
              <a:cxnLst/>
              <a:rect l="l" t="t" r="r" b="b"/>
              <a:pathLst>
                <a:path w="158" h="158" extrusionOk="0">
                  <a:moveTo>
                    <a:pt x="158" y="73"/>
                  </a:moveTo>
                  <a:cubicBezTo>
                    <a:pt x="86" y="0"/>
                    <a:pt x="86" y="0"/>
                    <a:pt x="86" y="0"/>
                  </a:cubicBezTo>
                  <a:cubicBezTo>
                    <a:pt x="85" y="51"/>
                    <a:pt x="50" y="86"/>
                    <a:pt x="0" y="87"/>
                  </a:cubicBezTo>
                  <a:cubicBezTo>
                    <a:pt x="69" y="158"/>
                    <a:pt x="69" y="158"/>
                    <a:pt x="69" y="158"/>
                  </a:cubicBezTo>
                  <a:cubicBezTo>
                    <a:pt x="71" y="107"/>
                    <a:pt x="107" y="73"/>
                    <a:pt x="158" y="73"/>
                  </a:cubicBez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95" name="Google Shape;295;gd842e5c47e_0_587"/>
            <p:cNvSpPr/>
            <p:nvPr/>
          </p:nvSpPr>
          <p:spPr>
            <a:xfrm>
              <a:off x="5331822" y="1835025"/>
              <a:ext cx="990900" cy="990900"/>
            </a:xfrm>
            <a:prstGeom prst="ellipse">
              <a:avLst/>
            </a:prstGeom>
            <a:solidFill>
              <a:srgbClr val="BFBFBF"/>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grpSp>
      <p:grpSp>
        <p:nvGrpSpPr>
          <p:cNvPr id="296" name="Google Shape;296;gd842e5c47e_0_587"/>
          <p:cNvGrpSpPr/>
          <p:nvPr/>
        </p:nvGrpSpPr>
        <p:grpSpPr>
          <a:xfrm>
            <a:off x="7381448" y="3328996"/>
            <a:ext cx="1704733" cy="1176231"/>
            <a:chOff x="6242448" y="1847530"/>
            <a:chExt cx="1704733" cy="1176231"/>
          </a:xfrm>
        </p:grpSpPr>
        <p:sp>
          <p:nvSpPr>
            <p:cNvPr id="297" name="Google Shape;297;gd842e5c47e_0_587"/>
            <p:cNvSpPr/>
            <p:nvPr/>
          </p:nvSpPr>
          <p:spPr>
            <a:xfrm rot="8100000" flipH="1">
              <a:off x="6414703" y="2019786"/>
              <a:ext cx="831722" cy="831720"/>
            </a:xfrm>
            <a:custGeom>
              <a:avLst/>
              <a:gdLst/>
              <a:ahLst/>
              <a:cxnLst/>
              <a:rect l="l" t="t" r="r" b="b"/>
              <a:pathLst>
                <a:path w="158" h="158" extrusionOk="0">
                  <a:moveTo>
                    <a:pt x="158" y="73"/>
                  </a:moveTo>
                  <a:cubicBezTo>
                    <a:pt x="86" y="0"/>
                    <a:pt x="86" y="0"/>
                    <a:pt x="86" y="0"/>
                  </a:cubicBezTo>
                  <a:cubicBezTo>
                    <a:pt x="85" y="51"/>
                    <a:pt x="50" y="86"/>
                    <a:pt x="0" y="87"/>
                  </a:cubicBezTo>
                  <a:cubicBezTo>
                    <a:pt x="69" y="158"/>
                    <a:pt x="69" y="158"/>
                    <a:pt x="69" y="158"/>
                  </a:cubicBezTo>
                  <a:cubicBezTo>
                    <a:pt x="71" y="107"/>
                    <a:pt x="107" y="73"/>
                    <a:pt x="158" y="73"/>
                  </a:cubicBez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298" name="Google Shape;298;gd842e5c47e_0_587"/>
            <p:cNvSpPr/>
            <p:nvPr/>
          </p:nvSpPr>
          <p:spPr>
            <a:xfrm>
              <a:off x="7038181" y="1981123"/>
              <a:ext cx="909000" cy="909000"/>
            </a:xfrm>
            <a:prstGeom prst="ellipse">
              <a:avLst/>
            </a:prstGeom>
            <a:solidFill>
              <a:srgbClr val="BFBFBF"/>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grpSp>
      <p:sp>
        <p:nvSpPr>
          <p:cNvPr id="299" name="Google Shape;299;gd842e5c47e_0_587"/>
          <p:cNvSpPr/>
          <p:nvPr/>
        </p:nvSpPr>
        <p:spPr>
          <a:xfrm>
            <a:off x="6787173" y="3555448"/>
            <a:ext cx="723300" cy="723300"/>
          </a:xfrm>
          <a:prstGeom prst="ellipse">
            <a:avLst/>
          </a:prstGeom>
          <a:solidFill>
            <a:schemeClr val="accent3"/>
          </a:solidFill>
          <a:ln w="76200" cap="flat" cmpd="sng">
            <a:solidFill>
              <a:schemeClr val="lt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300" name="Google Shape;300;gd842e5c47e_0_587"/>
          <p:cNvSpPr/>
          <p:nvPr/>
        </p:nvSpPr>
        <p:spPr>
          <a:xfrm>
            <a:off x="8342048" y="3627457"/>
            <a:ext cx="579300" cy="579300"/>
          </a:xfrm>
          <a:prstGeom prst="ellipse">
            <a:avLst/>
          </a:prstGeom>
          <a:solidFill>
            <a:schemeClr val="accent4"/>
          </a:solidFill>
          <a:ln w="76200" cap="flat" cmpd="sng">
            <a:solidFill>
              <a:schemeClr val="lt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301" name="Google Shape;301;gd842e5c47e_0_587"/>
          <p:cNvSpPr/>
          <p:nvPr/>
        </p:nvSpPr>
        <p:spPr>
          <a:xfrm>
            <a:off x="4915671" y="3487670"/>
            <a:ext cx="858900" cy="858900"/>
          </a:xfrm>
          <a:prstGeom prst="ellipse">
            <a:avLst/>
          </a:prstGeom>
          <a:solidFill>
            <a:schemeClr val="accent2"/>
          </a:solidFill>
          <a:ln w="76200" cap="flat" cmpd="sng">
            <a:solidFill>
              <a:schemeClr val="lt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302" name="Google Shape;302;gd842e5c47e_0_587"/>
          <p:cNvSpPr txBox="1"/>
          <p:nvPr/>
        </p:nvSpPr>
        <p:spPr>
          <a:xfrm>
            <a:off x="4267829" y="5104245"/>
            <a:ext cx="1937700" cy="73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chemeClr val="dk1"/>
                </a:solidFill>
                <a:latin typeface="Calibri"/>
                <a:ea typeface="Calibri"/>
                <a:cs typeface="Calibri"/>
                <a:sym typeface="Calibri"/>
              </a:rPr>
              <a:t>Un diagnostic de la situation au sein de votre entreprise</a:t>
            </a:r>
            <a:endParaRPr sz="1600" b="0" i="0" u="none" strike="noStrike" cap="none">
              <a:solidFill>
                <a:schemeClr val="dk1"/>
              </a:solidFill>
              <a:latin typeface="Calibri"/>
              <a:ea typeface="Calibri"/>
              <a:cs typeface="Calibri"/>
              <a:sym typeface="Calibri"/>
            </a:endParaRPr>
          </a:p>
        </p:txBody>
      </p:sp>
      <p:sp>
        <p:nvSpPr>
          <p:cNvPr id="303" name="Google Shape;303;gd842e5c47e_0_587"/>
          <p:cNvSpPr/>
          <p:nvPr/>
        </p:nvSpPr>
        <p:spPr>
          <a:xfrm>
            <a:off x="4267829" y="4751735"/>
            <a:ext cx="1491170" cy="2769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fr-FR" sz="1900" b="1" i="0" u="none" strike="noStrike" cap="none">
                <a:solidFill>
                  <a:schemeClr val="dk1"/>
                </a:solidFill>
                <a:latin typeface="Calibri"/>
                <a:ea typeface="Calibri"/>
                <a:cs typeface="Calibri"/>
                <a:sym typeface="Calibri"/>
              </a:rPr>
              <a:t>DIAGNOSTIC</a:t>
            </a:r>
            <a:endParaRPr sz="1900" b="1" i="0" u="none" strike="noStrike" cap="none">
              <a:solidFill>
                <a:schemeClr val="dk1"/>
              </a:solidFill>
              <a:latin typeface="Calibri"/>
              <a:ea typeface="Calibri"/>
              <a:cs typeface="Calibri"/>
              <a:sym typeface="Calibri"/>
            </a:endParaRPr>
          </a:p>
        </p:txBody>
      </p:sp>
      <p:sp>
        <p:nvSpPr>
          <p:cNvPr id="304" name="Google Shape;304;gd842e5c47e_0_587"/>
          <p:cNvSpPr txBox="1"/>
          <p:nvPr/>
        </p:nvSpPr>
        <p:spPr>
          <a:xfrm>
            <a:off x="6324025" y="5104250"/>
            <a:ext cx="1852500" cy="1231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chemeClr val="dk1"/>
                </a:solidFill>
                <a:latin typeface="Calibri"/>
                <a:ea typeface="Calibri"/>
                <a:cs typeface="Calibri"/>
                <a:sym typeface="Calibri"/>
              </a:rPr>
              <a:t>Un plan d’actions identifiant les leviers les plus pertinents, discuté et validé avec vous</a:t>
            </a:r>
            <a:endParaRPr sz="1600" b="0" i="0" u="none" strike="noStrike" cap="none">
              <a:solidFill>
                <a:schemeClr val="dk1"/>
              </a:solidFill>
              <a:latin typeface="Calibri"/>
              <a:ea typeface="Calibri"/>
              <a:cs typeface="Calibri"/>
              <a:sym typeface="Calibri"/>
            </a:endParaRPr>
          </a:p>
        </p:txBody>
      </p:sp>
      <p:sp>
        <p:nvSpPr>
          <p:cNvPr id="305" name="Google Shape;305;gd842e5c47e_0_587"/>
          <p:cNvSpPr/>
          <p:nvPr/>
        </p:nvSpPr>
        <p:spPr>
          <a:xfrm>
            <a:off x="6324029" y="4751632"/>
            <a:ext cx="1542439" cy="2769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fr-FR" sz="1900" b="1" i="0" u="none" strike="noStrike" cap="none">
                <a:solidFill>
                  <a:schemeClr val="dk1"/>
                </a:solidFill>
                <a:latin typeface="Calibri"/>
                <a:ea typeface="Calibri"/>
                <a:cs typeface="Calibri"/>
                <a:sym typeface="Calibri"/>
              </a:rPr>
              <a:t>STRATÉGIE</a:t>
            </a:r>
            <a:endParaRPr sz="1900" b="1" i="0" u="none" strike="noStrike" cap="none">
              <a:solidFill>
                <a:schemeClr val="dk1"/>
              </a:solidFill>
              <a:latin typeface="Calibri"/>
              <a:ea typeface="Calibri"/>
              <a:cs typeface="Calibri"/>
              <a:sym typeface="Calibri"/>
            </a:endParaRPr>
          </a:p>
        </p:txBody>
      </p:sp>
      <p:sp>
        <p:nvSpPr>
          <p:cNvPr id="306" name="Google Shape;306;gd842e5c47e_0_587"/>
          <p:cNvSpPr txBox="1"/>
          <p:nvPr/>
        </p:nvSpPr>
        <p:spPr>
          <a:xfrm>
            <a:off x="8517604" y="5104245"/>
            <a:ext cx="2243700" cy="98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chemeClr val="dk1"/>
                </a:solidFill>
                <a:latin typeface="Calibri"/>
                <a:ea typeface="Calibri"/>
                <a:cs typeface="Calibri"/>
                <a:sym typeface="Calibri"/>
              </a:rPr>
              <a:t>La mise en place des actions concrètes et l’évaluation des résultats obtenus</a:t>
            </a:r>
            <a:endParaRPr sz="1600" b="0" i="0" u="none" strike="noStrike" cap="none">
              <a:solidFill>
                <a:schemeClr val="dk1"/>
              </a:solidFill>
              <a:latin typeface="Calibri"/>
              <a:ea typeface="Calibri"/>
              <a:cs typeface="Calibri"/>
              <a:sym typeface="Calibri"/>
            </a:endParaRPr>
          </a:p>
        </p:txBody>
      </p:sp>
      <p:sp>
        <p:nvSpPr>
          <p:cNvPr id="307" name="Google Shape;307;gd842e5c47e_0_587"/>
          <p:cNvSpPr/>
          <p:nvPr/>
        </p:nvSpPr>
        <p:spPr>
          <a:xfrm>
            <a:off x="8517604" y="4751626"/>
            <a:ext cx="1726663" cy="2769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dk1"/>
                </a:solidFill>
                <a:latin typeface="Calibri"/>
                <a:ea typeface="Calibri"/>
                <a:cs typeface="Calibri"/>
                <a:sym typeface="Calibri"/>
              </a:rPr>
              <a:t>ACTIONS</a:t>
            </a:r>
            <a:endParaRPr sz="1900" b="1" i="0" u="none" strike="noStrike" cap="none">
              <a:solidFill>
                <a:schemeClr val="dk1"/>
              </a:solidFill>
              <a:latin typeface="Calibri"/>
              <a:ea typeface="Calibri"/>
              <a:cs typeface="Calibri"/>
              <a:sym typeface="Calibri"/>
            </a:endParaRPr>
          </a:p>
        </p:txBody>
      </p:sp>
      <p:sp>
        <p:nvSpPr>
          <p:cNvPr id="308" name="Google Shape;308;gd842e5c47e_0_587"/>
          <p:cNvSpPr/>
          <p:nvPr/>
        </p:nvSpPr>
        <p:spPr>
          <a:xfrm rot="5400000">
            <a:off x="3983800" y="3764712"/>
            <a:ext cx="304800" cy="304800"/>
          </a:xfrm>
          <a:prstGeom prst="triangle">
            <a:avLst>
              <a:gd name="adj" fmla="val 50000"/>
            </a:avLst>
          </a:prstGeom>
          <a:solidFill>
            <a:srgbClr val="FBE4D4"/>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309" name="Google Shape;309;gd842e5c47e_0_587"/>
          <p:cNvSpPr/>
          <p:nvPr/>
        </p:nvSpPr>
        <p:spPr>
          <a:xfrm rot="5400000">
            <a:off x="6066500" y="3790112"/>
            <a:ext cx="254100" cy="254100"/>
          </a:xfrm>
          <a:prstGeom prst="triangle">
            <a:avLst>
              <a:gd name="adj" fmla="val 50000"/>
            </a:avLst>
          </a:prstGeom>
          <a:solidFill>
            <a:srgbClr val="FBE4D4"/>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310" name="Google Shape;310;gd842e5c47e_0_587"/>
          <p:cNvSpPr/>
          <p:nvPr/>
        </p:nvSpPr>
        <p:spPr>
          <a:xfrm rot="5400000">
            <a:off x="7755600" y="3828212"/>
            <a:ext cx="177900" cy="177900"/>
          </a:xfrm>
          <a:prstGeom prst="triangle">
            <a:avLst>
              <a:gd name="adj" fmla="val 50000"/>
            </a:avLst>
          </a:prstGeom>
          <a:solidFill>
            <a:srgbClr val="FBE4D4"/>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Calibri"/>
              <a:ea typeface="Calibri"/>
              <a:cs typeface="Calibri"/>
              <a:sym typeface="Calibri"/>
            </a:endParaRPr>
          </a:p>
        </p:txBody>
      </p:sp>
      <p:sp>
        <p:nvSpPr>
          <p:cNvPr id="311" name="Google Shape;311;gd842e5c47e_0_587"/>
          <p:cNvSpPr/>
          <p:nvPr/>
        </p:nvSpPr>
        <p:spPr>
          <a:xfrm rot="10800000">
            <a:off x="7136233" y="2536800"/>
            <a:ext cx="1400700" cy="723300"/>
          </a:xfrm>
          <a:prstGeom prst="curvedUpArrow">
            <a:avLst>
              <a:gd name="adj1" fmla="val 25000"/>
              <a:gd name="adj2" fmla="val 50000"/>
              <a:gd name="adj3" fmla="val 25000"/>
            </a:avLst>
          </a:prstGeom>
          <a:solidFill>
            <a:schemeClr val="accent1"/>
          </a:solidFill>
          <a:ln w="952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312" name="Google Shape;312;gd842e5c47e_0_587"/>
          <p:cNvSpPr txBox="1"/>
          <p:nvPr/>
        </p:nvSpPr>
        <p:spPr>
          <a:xfrm>
            <a:off x="8686333" y="2570101"/>
            <a:ext cx="2456700" cy="738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chemeClr val="dk1"/>
                </a:solidFill>
                <a:latin typeface="Calibri"/>
                <a:ea typeface="Calibri"/>
                <a:cs typeface="Calibri"/>
                <a:sym typeface="Calibri"/>
              </a:rPr>
              <a:t>Adaptation de la stratégie en fonction des résultats et de la fluctuation des objectifs</a:t>
            </a:r>
            <a:endParaRPr sz="1600" b="0" i="0" u="none" strike="noStrike" cap="none">
              <a:solidFill>
                <a:schemeClr val="dk1"/>
              </a:solidFill>
              <a:latin typeface="Calibri"/>
              <a:ea typeface="Calibri"/>
              <a:cs typeface="Calibri"/>
              <a:sym typeface="Calibri"/>
            </a:endParaRPr>
          </a:p>
        </p:txBody>
      </p:sp>
      <p:sp>
        <p:nvSpPr>
          <p:cNvPr id="313" name="Google Shape;313;gd842e5c47e_0_587"/>
          <p:cNvSpPr/>
          <p:nvPr/>
        </p:nvSpPr>
        <p:spPr>
          <a:xfrm>
            <a:off x="8686342" y="2183900"/>
            <a:ext cx="2194800" cy="2769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fr-FR" sz="1900" b="1" i="0" u="none" strike="noStrike" cap="none">
                <a:solidFill>
                  <a:schemeClr val="dk1"/>
                </a:solidFill>
                <a:latin typeface="Calibri"/>
                <a:ea typeface="Calibri"/>
                <a:cs typeface="Calibri"/>
                <a:sym typeface="Calibri"/>
              </a:rPr>
              <a:t>RÉAJUSTEMENTS</a:t>
            </a:r>
            <a:endParaRPr sz="1900" b="0" i="0" u="none" strike="noStrike" cap="none">
              <a:solidFill>
                <a:schemeClr val="dk1"/>
              </a:solidFill>
              <a:latin typeface="Calibri"/>
              <a:ea typeface="Calibri"/>
              <a:cs typeface="Calibri"/>
              <a:sym typeface="Calibri"/>
            </a:endParaRPr>
          </a:p>
        </p:txBody>
      </p:sp>
      <p:sp>
        <p:nvSpPr>
          <p:cNvPr id="314" name="Google Shape;314;gd842e5c47e_0_587"/>
          <p:cNvSpPr txBox="1">
            <a:spLocks noGrp="1"/>
          </p:cNvSpPr>
          <p:nvPr>
            <p:ph type="title"/>
          </p:nvPr>
        </p:nvSpPr>
        <p:spPr>
          <a:xfrm>
            <a:off x="7879000" y="454175"/>
            <a:ext cx="3534900" cy="661800"/>
          </a:xfrm>
          <a:prstGeom prst="rect">
            <a:avLst/>
          </a:prstGeom>
          <a:noFill/>
          <a:ln>
            <a:noFill/>
          </a:ln>
        </p:spPr>
        <p:txBody>
          <a:bodyPr spcFirstLastPara="1" wrap="square" lIns="240000" tIns="45700" rIns="48000" bIns="45700" anchor="ctr" anchorCtr="0">
            <a:no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MA DÉMARCHE</a:t>
            </a:r>
            <a:endParaRPr sz="3300" b="1" i="0" u="none" strike="noStrike" cap="none">
              <a:solidFill>
                <a:schemeClr val="dk2"/>
              </a:solidFill>
              <a:latin typeface="Calibri"/>
              <a:ea typeface="Calibri"/>
              <a:cs typeface="Calibri"/>
              <a:sym typeface="Calibri"/>
            </a:endParaRPr>
          </a:p>
        </p:txBody>
      </p:sp>
      <p:pic>
        <p:nvPicPr>
          <p:cNvPr id="315" name="Google Shape;315;gd842e5c47e_0_587"/>
          <p:cNvPicPr preferRelativeResize="0"/>
          <p:nvPr/>
        </p:nvPicPr>
        <p:blipFill rotWithShape="1">
          <a:blip r:embed="rId3">
            <a:alphaModFix/>
          </a:blip>
          <a:srcRect/>
          <a:stretch/>
        </p:blipFill>
        <p:spPr>
          <a:xfrm>
            <a:off x="2833364" y="3586450"/>
            <a:ext cx="661800" cy="661800"/>
          </a:xfrm>
          <a:prstGeom prst="rect">
            <a:avLst/>
          </a:prstGeom>
          <a:noFill/>
          <a:ln>
            <a:noFill/>
          </a:ln>
        </p:spPr>
      </p:pic>
      <p:pic>
        <p:nvPicPr>
          <p:cNvPr id="316" name="Google Shape;316;gd842e5c47e_0_587"/>
          <p:cNvPicPr preferRelativeResize="0"/>
          <p:nvPr/>
        </p:nvPicPr>
        <p:blipFill rotWithShape="1">
          <a:blip r:embed="rId4">
            <a:alphaModFix/>
          </a:blip>
          <a:srcRect/>
          <a:stretch/>
        </p:blipFill>
        <p:spPr>
          <a:xfrm>
            <a:off x="5153513" y="3680650"/>
            <a:ext cx="472763" cy="472763"/>
          </a:xfrm>
          <a:prstGeom prst="rect">
            <a:avLst/>
          </a:prstGeom>
          <a:noFill/>
          <a:ln>
            <a:noFill/>
          </a:ln>
        </p:spPr>
      </p:pic>
      <p:pic>
        <p:nvPicPr>
          <p:cNvPr id="317" name="Google Shape;317;gd842e5c47e_0_587"/>
          <p:cNvPicPr preferRelativeResize="0"/>
          <p:nvPr/>
        </p:nvPicPr>
        <p:blipFill rotWithShape="1">
          <a:blip r:embed="rId5">
            <a:alphaModFix/>
          </a:blip>
          <a:srcRect/>
          <a:stretch/>
        </p:blipFill>
        <p:spPr>
          <a:xfrm>
            <a:off x="6912438" y="3680650"/>
            <a:ext cx="472750" cy="472750"/>
          </a:xfrm>
          <a:prstGeom prst="rect">
            <a:avLst/>
          </a:prstGeom>
          <a:noFill/>
          <a:ln>
            <a:noFill/>
          </a:ln>
        </p:spPr>
      </p:pic>
      <p:pic>
        <p:nvPicPr>
          <p:cNvPr id="318" name="Google Shape;318;gd842e5c47e_0_587"/>
          <p:cNvPicPr preferRelativeResize="0"/>
          <p:nvPr/>
        </p:nvPicPr>
        <p:blipFill rotWithShape="1">
          <a:blip r:embed="rId6">
            <a:alphaModFix/>
          </a:blip>
          <a:srcRect/>
          <a:stretch/>
        </p:blipFill>
        <p:spPr>
          <a:xfrm>
            <a:off x="8435650" y="3720975"/>
            <a:ext cx="392100" cy="392100"/>
          </a:xfrm>
          <a:prstGeom prst="rect">
            <a:avLst/>
          </a:prstGeom>
          <a:noFill/>
          <a:ln>
            <a:noFill/>
          </a:ln>
        </p:spPr>
      </p:pic>
      <p:pic>
        <p:nvPicPr>
          <p:cNvPr id="319" name="Google Shape;319;gd842e5c47e_0_587"/>
          <p:cNvPicPr preferRelativeResize="0"/>
          <p:nvPr/>
        </p:nvPicPr>
        <p:blipFill rotWithShape="1">
          <a:blip r:embed="rId7">
            <a:alphaModFix/>
          </a:blip>
          <a:srcRect/>
          <a:stretch/>
        </p:blipFill>
        <p:spPr>
          <a:xfrm>
            <a:off x="7866475" y="88100"/>
            <a:ext cx="617474" cy="875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d842e5c47e_0_1375"/>
          <p:cNvSpPr txBox="1">
            <a:spLocks noGrp="1"/>
          </p:cNvSpPr>
          <p:nvPr>
            <p:ph type="body" idx="1"/>
          </p:nvPr>
        </p:nvSpPr>
        <p:spPr>
          <a:xfrm>
            <a:off x="8530933" y="6251867"/>
            <a:ext cx="2822700" cy="5283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1100"/>
              </a:spcBef>
              <a:spcAft>
                <a:spcPts val="0"/>
              </a:spcAft>
              <a:buClr>
                <a:srgbClr val="000000"/>
              </a:buClr>
              <a:buSzPts val="1900"/>
              <a:buFont typeface="Arial"/>
              <a:buNone/>
            </a:pPr>
            <a:r>
              <a:rPr lang="fr-FR" sz="1900" b="0" i="1" u="none" strike="noStrike" cap="none">
                <a:solidFill>
                  <a:srgbClr val="000000"/>
                </a:solidFill>
                <a:latin typeface="Calibri"/>
                <a:ea typeface="Calibri"/>
                <a:cs typeface="Calibri"/>
                <a:sym typeface="Calibri"/>
              </a:rPr>
              <a:t>Cartographie complète  ⇒ </a:t>
            </a:r>
            <a:endParaRPr sz="1900" b="0" i="1" u="none" strike="noStrike" cap="none">
              <a:solidFill>
                <a:srgbClr val="000000"/>
              </a:solidFill>
              <a:latin typeface="Calibri"/>
              <a:ea typeface="Calibri"/>
              <a:cs typeface="Calibri"/>
              <a:sym typeface="Calibri"/>
            </a:endParaRPr>
          </a:p>
        </p:txBody>
      </p:sp>
      <p:sp>
        <p:nvSpPr>
          <p:cNvPr id="325" name="Google Shape;325;gd842e5c47e_0_1375"/>
          <p:cNvSpPr txBox="1">
            <a:spLocks noGrp="1"/>
          </p:cNvSpPr>
          <p:nvPr>
            <p:ph type="title"/>
          </p:nvPr>
        </p:nvSpPr>
        <p:spPr>
          <a:xfrm>
            <a:off x="7879000" y="454175"/>
            <a:ext cx="3534900" cy="661800"/>
          </a:xfrm>
          <a:prstGeom prst="rect">
            <a:avLst/>
          </a:prstGeom>
          <a:noFill/>
          <a:ln>
            <a:noFill/>
          </a:ln>
        </p:spPr>
        <p:txBody>
          <a:bodyPr spcFirstLastPara="1" wrap="square" lIns="240000" tIns="45700" rIns="48000" bIns="45700" anchor="ctr" anchorCtr="0">
            <a:no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MA DÉMARCHE</a:t>
            </a:r>
            <a:endParaRPr sz="3300" b="1" i="0" u="none" strike="noStrike" cap="none">
              <a:solidFill>
                <a:schemeClr val="dk2"/>
              </a:solidFill>
              <a:latin typeface="Calibri"/>
              <a:ea typeface="Calibri"/>
              <a:cs typeface="Calibri"/>
              <a:sym typeface="Calibri"/>
            </a:endParaRPr>
          </a:p>
        </p:txBody>
      </p:sp>
      <p:sp>
        <p:nvSpPr>
          <p:cNvPr id="326" name="Google Shape;326;gd842e5c47e_0_1375"/>
          <p:cNvSpPr txBox="1"/>
          <p:nvPr/>
        </p:nvSpPr>
        <p:spPr>
          <a:xfrm>
            <a:off x="7415350" y="2797800"/>
            <a:ext cx="4180500" cy="3370500"/>
          </a:xfrm>
          <a:prstGeom prst="rect">
            <a:avLst/>
          </a:prstGeom>
          <a:noFill/>
          <a:ln>
            <a:noFill/>
          </a:ln>
        </p:spPr>
        <p:txBody>
          <a:bodyPr spcFirstLastPara="1" wrap="square" lIns="121900" tIns="121900" rIns="121900" bIns="121900" anchor="t" anchorCtr="0">
            <a:spAutoFit/>
          </a:bodyPr>
          <a:lstStyle/>
          <a:p>
            <a:pPr marL="0" marR="0" lvl="0" indent="0" algn="just" rtl="0">
              <a:lnSpc>
                <a:spcPct val="115000"/>
              </a:lnSpc>
              <a:spcBef>
                <a:spcPts val="1100"/>
              </a:spcBef>
              <a:spcAft>
                <a:spcPts val="0"/>
              </a:spcAft>
              <a:buClr>
                <a:srgbClr val="000000"/>
              </a:buClr>
              <a:buSzPts val="1900"/>
              <a:buFont typeface="Arial"/>
              <a:buNone/>
            </a:pPr>
            <a:r>
              <a:rPr lang="fr-FR" sz="1900" b="0" i="0" u="none" strike="noStrike" cap="none">
                <a:solidFill>
                  <a:schemeClr val="dk1"/>
                </a:solidFill>
                <a:latin typeface="Calibri"/>
                <a:ea typeface="Calibri"/>
                <a:cs typeface="Calibri"/>
                <a:sym typeface="Calibri"/>
              </a:rPr>
              <a:t>Je vous délivre : </a:t>
            </a:r>
            <a:endParaRPr sz="1900" b="0" i="0" u="none" strike="noStrike" cap="none">
              <a:solidFill>
                <a:schemeClr val="dk1"/>
              </a:solidFill>
              <a:latin typeface="Calibri"/>
              <a:ea typeface="Calibri"/>
              <a:cs typeface="Calibri"/>
              <a:sym typeface="Calibri"/>
            </a:endParaRPr>
          </a:p>
          <a:p>
            <a:pPr marL="609600" marR="0" lvl="0" indent="-425450" algn="just" rtl="0">
              <a:lnSpc>
                <a:spcPct val="115000"/>
              </a:lnSpc>
              <a:spcBef>
                <a:spcPts val="1100"/>
              </a:spcBef>
              <a:spcAft>
                <a:spcPts val="0"/>
              </a:spcAft>
              <a:buClr>
                <a:schemeClr val="dk1"/>
              </a:buClr>
              <a:buSzPts val="1900"/>
              <a:buFont typeface="Calibri"/>
              <a:buChar char="❖"/>
            </a:pPr>
            <a:r>
              <a:rPr lang="fr-FR" sz="1900" b="0" i="0" u="none" strike="noStrike" cap="none">
                <a:solidFill>
                  <a:schemeClr val="dk1"/>
                </a:solidFill>
                <a:latin typeface="Calibri"/>
                <a:ea typeface="Calibri"/>
                <a:cs typeface="Calibri"/>
                <a:sym typeface="Calibri"/>
              </a:rPr>
              <a:t>Une identification des leviers permettant de répondre à un ou plusieurs enjeux de l’entreprise et dégager des synergies</a:t>
            </a:r>
            <a:br>
              <a:rPr lang="fr-FR" sz="1900" b="0" i="0" u="none" strike="noStrike" cap="none">
                <a:solidFill>
                  <a:schemeClr val="dk1"/>
                </a:solidFill>
                <a:latin typeface="Calibri"/>
                <a:ea typeface="Calibri"/>
                <a:cs typeface="Calibri"/>
                <a:sym typeface="Calibri"/>
              </a:rPr>
            </a:br>
            <a:endParaRPr sz="1900" b="0" i="0" u="none" strike="noStrike" cap="none">
              <a:solidFill>
                <a:schemeClr val="dk1"/>
              </a:solidFill>
              <a:latin typeface="Calibri"/>
              <a:ea typeface="Calibri"/>
              <a:cs typeface="Calibri"/>
              <a:sym typeface="Calibri"/>
            </a:endParaRPr>
          </a:p>
          <a:p>
            <a:pPr marL="609600" marR="0" lvl="0" indent="-425450" algn="just" rtl="0">
              <a:lnSpc>
                <a:spcPct val="115000"/>
              </a:lnSpc>
              <a:spcBef>
                <a:spcPts val="0"/>
              </a:spcBef>
              <a:spcAft>
                <a:spcPts val="0"/>
              </a:spcAft>
              <a:buClr>
                <a:schemeClr val="dk1"/>
              </a:buClr>
              <a:buSzPts val="1900"/>
              <a:buFont typeface="Calibri"/>
              <a:buChar char="❖"/>
            </a:pPr>
            <a:r>
              <a:rPr lang="fr-FR" sz="1900" b="0" i="0" u="none" strike="noStrike" cap="none">
                <a:solidFill>
                  <a:schemeClr val="dk1"/>
                </a:solidFill>
                <a:latin typeface="Calibri"/>
                <a:ea typeface="Calibri"/>
                <a:cs typeface="Calibri"/>
                <a:sym typeface="Calibri"/>
              </a:rPr>
              <a:t>Une mise en place des plans d’actions pour agir sur les leviers en accord avec les objectifs.</a:t>
            </a:r>
            <a:endParaRPr sz="1900" b="0" i="0" u="none" strike="noStrike" cap="none">
              <a:solidFill>
                <a:schemeClr val="dk1"/>
              </a:solidFill>
              <a:latin typeface="Calibri"/>
              <a:ea typeface="Calibri"/>
              <a:cs typeface="Calibri"/>
              <a:sym typeface="Calibri"/>
            </a:endParaRPr>
          </a:p>
        </p:txBody>
      </p:sp>
      <p:grpSp>
        <p:nvGrpSpPr>
          <p:cNvPr id="327" name="Google Shape;327;gd842e5c47e_0_1375"/>
          <p:cNvGrpSpPr/>
          <p:nvPr/>
        </p:nvGrpSpPr>
        <p:grpSpPr>
          <a:xfrm>
            <a:off x="7415350" y="1179875"/>
            <a:ext cx="3786900" cy="1688700"/>
            <a:chOff x="3418125" y="454175"/>
            <a:chExt cx="3786900" cy="1688700"/>
          </a:xfrm>
        </p:grpSpPr>
        <p:sp>
          <p:nvSpPr>
            <p:cNvPr id="328" name="Google Shape;328;gd842e5c47e_0_1375"/>
            <p:cNvSpPr txBox="1"/>
            <p:nvPr/>
          </p:nvSpPr>
          <p:spPr>
            <a:xfrm>
              <a:off x="3418125" y="454175"/>
              <a:ext cx="3786900" cy="1688700"/>
            </a:xfrm>
            <a:prstGeom prst="rect">
              <a:avLst/>
            </a:prstGeom>
            <a:noFill/>
            <a:ln>
              <a:noFill/>
            </a:ln>
          </p:spPr>
          <p:txBody>
            <a:bodyPr spcFirstLastPara="1" wrap="square" lIns="121900" tIns="121900" rIns="121900" bIns="121900" anchor="t" anchorCtr="0">
              <a:spAutoFit/>
            </a:bodyPr>
            <a:lstStyle/>
            <a:p>
              <a:pPr marL="0" marR="0" lvl="0" indent="0" algn="just" rtl="0">
                <a:lnSpc>
                  <a:spcPct val="115000"/>
                </a:lnSpc>
                <a:spcBef>
                  <a:spcPts val="0"/>
                </a:spcBef>
                <a:spcAft>
                  <a:spcPts val="0"/>
                </a:spcAft>
                <a:buClr>
                  <a:srgbClr val="000000"/>
                </a:buClr>
                <a:buSzPts val="1900"/>
                <a:buFont typeface="Arial"/>
                <a:buNone/>
              </a:pPr>
              <a:r>
                <a:rPr lang="fr-FR" sz="1900" b="0" i="0" u="none" strike="noStrike" cap="none">
                  <a:solidFill>
                    <a:schemeClr val="dk1"/>
                  </a:solidFill>
                  <a:latin typeface="Calibri"/>
                  <a:ea typeface="Calibri"/>
                  <a:cs typeface="Calibri"/>
                  <a:sym typeface="Calibri"/>
                </a:rPr>
                <a:t>Grâce à une cartographie des :</a:t>
              </a:r>
              <a:endParaRPr sz="1900" b="0" i="0" u="none" strike="noStrike" cap="none">
                <a:solidFill>
                  <a:schemeClr val="dk1"/>
                </a:solidFill>
                <a:latin typeface="Calibri"/>
                <a:ea typeface="Calibri"/>
                <a:cs typeface="Calibri"/>
                <a:sym typeface="Calibri"/>
              </a:endParaRPr>
            </a:p>
            <a:p>
              <a:pPr marL="914400" marR="0" lvl="0" indent="0" algn="l" rtl="0">
                <a:lnSpc>
                  <a:spcPct val="115000"/>
                </a:lnSpc>
                <a:spcBef>
                  <a:spcPts val="1100"/>
                </a:spcBef>
                <a:spcAft>
                  <a:spcPts val="0"/>
                </a:spcAft>
                <a:buClr>
                  <a:srgbClr val="000000"/>
                </a:buClr>
                <a:buSzPts val="1900"/>
                <a:buFont typeface="Arial"/>
                <a:buNone/>
              </a:pPr>
              <a:r>
                <a:rPr lang="fr-FR" sz="1900" b="0" i="0" u="none" strike="noStrike" cap="none">
                  <a:solidFill>
                    <a:schemeClr val="dk1"/>
                  </a:solidFill>
                  <a:latin typeface="Calibri"/>
                  <a:ea typeface="Calibri"/>
                  <a:cs typeface="Calibri"/>
                  <a:sym typeface="Calibri"/>
                </a:rPr>
                <a:t>Enjeux de l’entreprise</a:t>
              </a:r>
              <a:endParaRPr sz="1900" b="0" i="0" u="none" strike="noStrike" cap="none">
                <a:solidFill>
                  <a:schemeClr val="dk1"/>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1900"/>
                <a:buFont typeface="Arial"/>
                <a:buNone/>
              </a:pPr>
              <a:r>
                <a:rPr lang="fr-FR" sz="1900" b="0" i="0" u="none" strike="noStrike" cap="none">
                  <a:solidFill>
                    <a:schemeClr val="dk1"/>
                  </a:solidFill>
                  <a:latin typeface="Calibri"/>
                  <a:ea typeface="Calibri"/>
                  <a:cs typeface="Calibri"/>
                  <a:sym typeface="Calibri"/>
                </a:rPr>
                <a:t>Leviers du domaine RH</a:t>
              </a:r>
              <a:endParaRPr sz="1900" b="0" i="0" u="none" strike="noStrike" cap="none">
                <a:solidFill>
                  <a:schemeClr val="dk1"/>
                </a:solidFill>
                <a:latin typeface="Calibri"/>
                <a:ea typeface="Calibri"/>
                <a:cs typeface="Calibri"/>
                <a:sym typeface="Calibri"/>
              </a:endParaRPr>
            </a:p>
            <a:p>
              <a:pPr marL="914400" marR="0" lvl="0" indent="0" algn="l" rtl="0">
                <a:lnSpc>
                  <a:spcPct val="115000"/>
                </a:lnSpc>
                <a:spcBef>
                  <a:spcPts val="0"/>
                </a:spcBef>
                <a:spcAft>
                  <a:spcPts val="0"/>
                </a:spcAft>
                <a:buClr>
                  <a:srgbClr val="000000"/>
                </a:buClr>
                <a:buSzPts val="1900"/>
                <a:buFont typeface="Arial"/>
                <a:buNone/>
              </a:pPr>
              <a:r>
                <a:rPr lang="fr-FR" sz="1900" b="0" i="0" u="none" strike="noStrike" cap="none">
                  <a:solidFill>
                    <a:schemeClr val="dk1"/>
                  </a:solidFill>
                  <a:latin typeface="Calibri"/>
                  <a:ea typeface="Calibri"/>
                  <a:cs typeface="Calibri"/>
                  <a:sym typeface="Calibri"/>
                </a:rPr>
                <a:t>Actions concrètes</a:t>
              </a:r>
              <a:endParaRPr sz="1900" b="0" i="0" u="none" strike="noStrike" cap="none">
                <a:solidFill>
                  <a:schemeClr val="dk1"/>
                </a:solidFill>
                <a:latin typeface="Calibri"/>
                <a:ea typeface="Calibri"/>
                <a:cs typeface="Calibri"/>
                <a:sym typeface="Calibri"/>
              </a:endParaRPr>
            </a:p>
          </p:txBody>
        </p:sp>
        <p:sp>
          <p:nvSpPr>
            <p:cNvPr id="329" name="Google Shape;329;gd842e5c47e_0_1375"/>
            <p:cNvSpPr/>
            <p:nvPr/>
          </p:nvSpPr>
          <p:spPr>
            <a:xfrm>
              <a:off x="3618264" y="1115975"/>
              <a:ext cx="552600" cy="185100"/>
            </a:xfrm>
            <a:prstGeom prst="roundRect">
              <a:avLst>
                <a:gd name="adj" fmla="val 16667"/>
              </a:avLst>
            </a:prstGeom>
            <a:solidFill>
              <a:schemeClr val="dk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330" name="Google Shape;330;gd842e5c47e_0_1375"/>
            <p:cNvSpPr/>
            <p:nvPr/>
          </p:nvSpPr>
          <p:spPr>
            <a:xfrm>
              <a:off x="3609200" y="1405809"/>
              <a:ext cx="252000" cy="2517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Arial"/>
                  <a:ea typeface="Arial"/>
                  <a:cs typeface="Arial"/>
                  <a:sym typeface="Arial"/>
                </a:rPr>
                <a:t>1</a:t>
              </a:r>
              <a:endParaRPr sz="1200" b="0" i="0" u="none" strike="noStrike" cap="none">
                <a:solidFill>
                  <a:schemeClr val="dk1"/>
                </a:solidFill>
                <a:latin typeface="Arial"/>
                <a:ea typeface="Arial"/>
                <a:cs typeface="Arial"/>
                <a:sym typeface="Arial"/>
              </a:endParaRPr>
            </a:p>
          </p:txBody>
        </p:sp>
        <p:sp>
          <p:nvSpPr>
            <p:cNvPr id="331" name="Google Shape;331;gd842e5c47e_0_1375"/>
            <p:cNvSpPr/>
            <p:nvPr/>
          </p:nvSpPr>
          <p:spPr>
            <a:xfrm>
              <a:off x="3918733" y="1405809"/>
              <a:ext cx="252000" cy="251700"/>
            </a:xfrm>
            <a:prstGeom prst="ellipse">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Arial"/>
                  <a:ea typeface="Arial"/>
                  <a:cs typeface="Arial"/>
                  <a:sym typeface="Arial"/>
                </a:rPr>
                <a:t>2</a:t>
              </a:r>
              <a:endParaRPr sz="1200" b="0" i="0" u="none" strike="noStrike" cap="none">
                <a:solidFill>
                  <a:schemeClr val="dk1"/>
                </a:solidFill>
                <a:latin typeface="Arial"/>
                <a:ea typeface="Arial"/>
                <a:cs typeface="Arial"/>
                <a:sym typeface="Arial"/>
              </a:endParaRPr>
            </a:p>
          </p:txBody>
        </p:sp>
        <p:sp>
          <p:nvSpPr>
            <p:cNvPr id="332" name="Google Shape;332;gd842e5c47e_0_1375"/>
            <p:cNvSpPr/>
            <p:nvPr/>
          </p:nvSpPr>
          <p:spPr>
            <a:xfrm rot="10800000" flipH="1">
              <a:off x="3609200" y="1762251"/>
              <a:ext cx="552600" cy="185100"/>
            </a:xfrm>
            <a:prstGeom prst="foldedCorner">
              <a:avLst>
                <a:gd name="adj" fmla="val 50000"/>
              </a:avLst>
            </a:prstGeom>
            <a:solidFill>
              <a:schemeClr val="lt1"/>
            </a:solidFill>
            <a:ln w="9525" cap="flat" cmpd="sng">
              <a:solidFill>
                <a:srgbClr val="FE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pic>
        <p:nvPicPr>
          <p:cNvPr id="333" name="Google Shape;333;gd842e5c47e_0_1375"/>
          <p:cNvPicPr preferRelativeResize="0"/>
          <p:nvPr/>
        </p:nvPicPr>
        <p:blipFill rotWithShape="1">
          <a:blip r:embed="rId3">
            <a:alphaModFix/>
          </a:blip>
          <a:srcRect/>
          <a:stretch/>
        </p:blipFill>
        <p:spPr>
          <a:xfrm>
            <a:off x="343450" y="1268375"/>
            <a:ext cx="7071901" cy="4953611"/>
          </a:xfrm>
          <a:prstGeom prst="rect">
            <a:avLst/>
          </a:prstGeom>
          <a:noFill/>
          <a:ln w="9525" cap="flat" cmpd="sng">
            <a:solidFill>
              <a:schemeClr val="accent1"/>
            </a:solidFill>
            <a:prstDash val="solid"/>
            <a:round/>
            <a:headEnd type="none" w="sm" len="sm"/>
            <a:tailEnd type="none" w="sm" len="sm"/>
          </a:ln>
          <a:effectLst>
            <a:outerShdw blurRad="57150" dist="19050" dir="5400000" algn="bl" rotWithShape="0">
              <a:srgbClr val="000000">
                <a:alpha val="49019"/>
              </a:srgbClr>
            </a:outerShdw>
          </a:effectLst>
        </p:spPr>
      </p:pic>
      <p:pic>
        <p:nvPicPr>
          <p:cNvPr id="334" name="Google Shape;334;gd842e5c47e_0_1375"/>
          <p:cNvPicPr preferRelativeResize="0"/>
          <p:nvPr/>
        </p:nvPicPr>
        <p:blipFill rotWithShape="1">
          <a:blip r:embed="rId4">
            <a:alphaModFix/>
          </a:blip>
          <a:srcRect/>
          <a:stretch/>
        </p:blipFill>
        <p:spPr>
          <a:xfrm>
            <a:off x="7866475" y="88100"/>
            <a:ext cx="617474" cy="875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e43107dc16_0_48"/>
          <p:cNvSpPr/>
          <p:nvPr/>
        </p:nvSpPr>
        <p:spPr>
          <a:xfrm>
            <a:off x="7477167" y="385136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MA DÉMARCHE</a:t>
            </a:r>
            <a:endParaRPr sz="2200" b="1" i="0" u="none" strike="noStrike" cap="none">
              <a:solidFill>
                <a:schemeClr val="dk2"/>
              </a:solidFill>
              <a:latin typeface="Calibri"/>
              <a:ea typeface="Calibri"/>
              <a:cs typeface="Calibri"/>
              <a:sym typeface="Calibri"/>
            </a:endParaRPr>
          </a:p>
        </p:txBody>
      </p:sp>
      <p:sp>
        <p:nvSpPr>
          <p:cNvPr id="340" name="Google Shape;340;ge43107dc16_0_48"/>
          <p:cNvSpPr/>
          <p:nvPr/>
        </p:nvSpPr>
        <p:spPr>
          <a:xfrm>
            <a:off x="6055401" y="2700925"/>
            <a:ext cx="4107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VOS BESOINS/MON OFFRE</a:t>
            </a:r>
            <a:endParaRPr sz="2200" b="1" i="0" u="none" strike="noStrike" cap="none">
              <a:solidFill>
                <a:schemeClr val="dk2"/>
              </a:solidFill>
              <a:latin typeface="Calibri"/>
              <a:ea typeface="Calibri"/>
              <a:cs typeface="Calibri"/>
              <a:sym typeface="Calibri"/>
            </a:endParaRPr>
          </a:p>
        </p:txBody>
      </p:sp>
      <p:sp>
        <p:nvSpPr>
          <p:cNvPr id="341" name="Google Shape;341;ge43107dc16_0_48"/>
          <p:cNvSpPr/>
          <p:nvPr/>
        </p:nvSpPr>
        <p:spPr>
          <a:xfrm>
            <a:off x="4545822" y="1568097"/>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VOTRE CONTEXTE</a:t>
            </a:r>
            <a:endParaRPr sz="2200" b="1" i="0" u="none" strike="noStrike" cap="none">
              <a:solidFill>
                <a:schemeClr val="dk2"/>
              </a:solidFill>
              <a:latin typeface="Calibri"/>
              <a:ea typeface="Calibri"/>
              <a:cs typeface="Calibri"/>
              <a:sym typeface="Calibri"/>
            </a:endParaRPr>
          </a:p>
        </p:txBody>
      </p:sp>
      <p:sp>
        <p:nvSpPr>
          <p:cNvPr id="342" name="Google Shape;342;ge43107dc16_0_48"/>
          <p:cNvSpPr/>
          <p:nvPr/>
        </p:nvSpPr>
        <p:spPr>
          <a:xfrm>
            <a:off x="8938025" y="5001825"/>
            <a:ext cx="3600000" cy="655500"/>
          </a:xfrm>
          <a:prstGeom prst="roundRect">
            <a:avLst>
              <a:gd name="adj" fmla="val 50000"/>
            </a:avLst>
          </a:prstGeom>
          <a:noFill/>
          <a:ln>
            <a:noFill/>
          </a:ln>
        </p:spPr>
        <p:txBody>
          <a:bodyPr spcFirstLastPara="1" wrap="square" lIns="121900" tIns="121900" rIns="121900" bIns="121900" anchor="ctr" anchorCtr="0">
            <a:noAutofit/>
          </a:bodyPr>
          <a:lstStyle/>
          <a:p>
            <a:pPr marL="330200" marR="0" lvl="0" indent="0" algn="l" rtl="0">
              <a:lnSpc>
                <a:spcPct val="100000"/>
              </a:lnSpc>
              <a:spcBef>
                <a:spcPts val="0"/>
              </a:spcBef>
              <a:spcAft>
                <a:spcPts val="0"/>
              </a:spcAft>
              <a:buClr>
                <a:srgbClr val="000000"/>
              </a:buClr>
              <a:buSzPts val="2200"/>
              <a:buFont typeface="Arial"/>
              <a:buNone/>
            </a:pPr>
            <a:r>
              <a:rPr lang="fr-FR" sz="2200" b="1" i="0" u="none" strike="noStrike" cap="none">
                <a:solidFill>
                  <a:schemeClr val="dk2"/>
                </a:solidFill>
                <a:latin typeface="Calibri"/>
                <a:ea typeface="Calibri"/>
                <a:cs typeface="Calibri"/>
                <a:sym typeface="Calibri"/>
              </a:rPr>
              <a:t>QUI SUIS-JE ?</a:t>
            </a:r>
            <a:endParaRPr sz="2200" b="1" i="0" u="none" strike="noStrike" cap="none">
              <a:solidFill>
                <a:schemeClr val="dk2"/>
              </a:solidFill>
              <a:latin typeface="Calibri"/>
              <a:ea typeface="Calibri"/>
              <a:cs typeface="Calibri"/>
              <a:sym typeface="Calibri"/>
            </a:endParaRPr>
          </a:p>
        </p:txBody>
      </p:sp>
      <p:sp>
        <p:nvSpPr>
          <p:cNvPr id="343" name="Google Shape;343;ge43107dc16_0_48"/>
          <p:cNvSpPr/>
          <p:nvPr/>
        </p:nvSpPr>
        <p:spPr>
          <a:xfrm>
            <a:off x="4137650" y="160335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344" name="Google Shape;344;ge43107dc16_0_48"/>
          <p:cNvSpPr/>
          <p:nvPr/>
        </p:nvSpPr>
        <p:spPr>
          <a:xfrm>
            <a:off x="5620183" y="2736175"/>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345" name="Google Shape;345;ge43107dc16_0_48"/>
          <p:cNvSpPr/>
          <p:nvPr/>
        </p:nvSpPr>
        <p:spPr>
          <a:xfrm>
            <a:off x="7102717" y="3869000"/>
            <a:ext cx="637800" cy="585000"/>
          </a:xfrm>
          <a:prstGeom prst="rect">
            <a:avLst/>
          </a:prstGeom>
          <a:no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346" name="Google Shape;346;ge43107dc16_0_48"/>
          <p:cNvSpPr/>
          <p:nvPr/>
        </p:nvSpPr>
        <p:spPr>
          <a:xfrm>
            <a:off x="8585250" y="5001825"/>
            <a:ext cx="637800" cy="585000"/>
          </a:xfrm>
          <a:prstGeom prst="rect">
            <a:avLst/>
          </a:prstGeom>
          <a:solidFill>
            <a:schemeClr val="dk2"/>
          </a:solidFill>
          <a:ln w="762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347" name="Google Shape;347;ge43107dc16_0_48"/>
          <p:cNvPicPr preferRelativeResize="0"/>
          <p:nvPr/>
        </p:nvPicPr>
        <p:blipFill rotWithShape="1">
          <a:blip r:embed="rId3">
            <a:alphaModFix/>
          </a:blip>
          <a:srcRect/>
          <a:stretch/>
        </p:blipFill>
        <p:spPr>
          <a:xfrm>
            <a:off x="969547" y="0"/>
            <a:ext cx="2619654" cy="6858000"/>
          </a:xfrm>
          <a:prstGeom prst="rect">
            <a:avLst/>
          </a:prstGeom>
          <a:noFill/>
          <a:ln>
            <a:noFill/>
          </a:ln>
          <a:effectLst>
            <a:outerShdw blurRad="50800" dist="38100" dir="2700000" algn="tl" rotWithShape="0">
              <a:srgbClr val="000000">
                <a:alpha val="40000"/>
              </a:srgbClr>
            </a:outerShdw>
          </a:effectLst>
        </p:spPr>
      </p:pic>
      <p:sp>
        <p:nvSpPr>
          <p:cNvPr id="348" name="Google Shape;348;ge43107dc16_0_48"/>
          <p:cNvSpPr/>
          <p:nvPr/>
        </p:nvSpPr>
        <p:spPr>
          <a:xfrm>
            <a:off x="1965278" y="4135272"/>
            <a:ext cx="2169900" cy="20061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9" name="Google Shape;349;ge43107dc16_0_48"/>
          <p:cNvSpPr/>
          <p:nvPr/>
        </p:nvSpPr>
        <p:spPr>
          <a:xfrm>
            <a:off x="2427787" y="348024"/>
            <a:ext cx="1390200" cy="13845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 name="Google Shape;350;ge43107dc16_0_48"/>
          <p:cNvSpPr/>
          <p:nvPr/>
        </p:nvSpPr>
        <p:spPr>
          <a:xfrm>
            <a:off x="969550" y="4835100"/>
            <a:ext cx="1764600" cy="1743900"/>
          </a:xfrm>
          <a:prstGeom prst="rect">
            <a:avLst/>
          </a:prstGeom>
          <a:noFill/>
          <a:ln w="57150" cap="flat" cmpd="sng">
            <a:solidFill>
              <a:srgbClr val="9800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 name="Google Shape;351;ge43107dc16_0_48"/>
          <p:cNvSpPr/>
          <p:nvPr/>
        </p:nvSpPr>
        <p:spPr>
          <a:xfrm rot="-5400000">
            <a:off x="391478" y="1176628"/>
            <a:ext cx="459775" cy="1242725"/>
          </a:xfrm>
          <a:prstGeom prst="flowChartOffpageConnector">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d83fd30aaf_0_71"/>
          <p:cNvSpPr txBox="1"/>
          <p:nvPr/>
        </p:nvSpPr>
        <p:spPr>
          <a:xfrm>
            <a:off x="2486875" y="1111100"/>
            <a:ext cx="9285600" cy="5522100"/>
          </a:xfrm>
          <a:prstGeom prst="rect">
            <a:avLst/>
          </a:prstGeom>
          <a:noFill/>
          <a:ln>
            <a:noFill/>
          </a:ln>
        </p:spPr>
        <p:txBody>
          <a:bodyPr spcFirstLastPara="1" wrap="square" lIns="121900" tIns="121900" rIns="121900" bIns="121900" anchor="t" anchorCtr="0">
            <a:spAutoFit/>
          </a:bodyPr>
          <a:lstStyle/>
          <a:p>
            <a:pPr marL="0" marR="0" lvl="0" indent="0" algn="just" rtl="0">
              <a:lnSpc>
                <a:spcPct val="90000"/>
              </a:lnSpc>
              <a:spcBef>
                <a:spcPts val="0"/>
              </a:spcBef>
              <a:spcAft>
                <a:spcPts val="0"/>
              </a:spcAft>
              <a:buClr>
                <a:srgbClr val="000000"/>
              </a:buClr>
              <a:buSzPts val="1900"/>
              <a:buFont typeface="Arial"/>
              <a:buNone/>
            </a:pPr>
            <a:r>
              <a:rPr lang="fr-FR" sz="1900" b="1" i="0" u="none" strike="noStrike" cap="none" dirty="0">
                <a:solidFill>
                  <a:schemeClr val="dk1"/>
                </a:solidFill>
                <a:latin typeface="Calibri"/>
                <a:ea typeface="Calibri"/>
                <a:cs typeface="Calibri"/>
                <a:sym typeface="Calibri"/>
              </a:rPr>
              <a:t>Je suis Valérie, 45 ans, mariée, 2 enfants et un enthousiasme communicatif!</a:t>
            </a:r>
            <a:endParaRPr sz="1900" b="1" i="0" u="none" strike="noStrike" cap="none" dirty="0">
              <a:solidFill>
                <a:schemeClr val="dk1"/>
              </a:solidFill>
              <a:highlight>
                <a:srgbClr val="F6B26B"/>
              </a:highlight>
              <a:latin typeface="Calibri"/>
              <a:ea typeface="Calibri"/>
              <a:cs typeface="Calibri"/>
              <a:sym typeface="Calibri"/>
            </a:endParaRPr>
          </a:p>
          <a:p>
            <a:pPr marL="0" marR="0" lvl="0" indent="0" algn="just" rtl="0">
              <a:lnSpc>
                <a:spcPct val="90000"/>
              </a:lnSpc>
              <a:spcBef>
                <a:spcPts val="1100"/>
              </a:spcBef>
              <a:spcAft>
                <a:spcPts val="0"/>
              </a:spcAft>
              <a:buClr>
                <a:srgbClr val="000000"/>
              </a:buClr>
              <a:buSzPts val="1900"/>
              <a:buFont typeface="Arial"/>
              <a:buNone/>
            </a:pPr>
            <a:endParaRPr sz="1900" b="0" i="0" u="none" strike="noStrike" cap="none" dirty="0">
              <a:solidFill>
                <a:schemeClr val="dk1"/>
              </a:solidFill>
              <a:latin typeface="Calibri"/>
              <a:ea typeface="Calibri"/>
              <a:cs typeface="Calibri"/>
              <a:sym typeface="Calibri"/>
            </a:endParaRPr>
          </a:p>
          <a:p>
            <a:pPr marL="0" marR="0" lvl="0" indent="457200" algn="just" rtl="0">
              <a:lnSpc>
                <a:spcPct val="90000"/>
              </a:lnSpc>
              <a:spcBef>
                <a:spcPts val="1100"/>
              </a:spcBef>
              <a:spcAft>
                <a:spcPts val="0"/>
              </a:spcAft>
              <a:buClr>
                <a:srgbClr val="000000"/>
              </a:buClr>
              <a:buSzPts val="1900"/>
              <a:buFont typeface="Arial"/>
              <a:buNone/>
            </a:pPr>
            <a:r>
              <a:rPr lang="fr-FR" sz="1900" b="0" i="0" u="none" strike="noStrike" cap="none" dirty="0">
                <a:solidFill>
                  <a:schemeClr val="dk1"/>
                </a:solidFill>
                <a:latin typeface="Calibri"/>
                <a:ea typeface="Calibri"/>
                <a:cs typeface="Calibri"/>
                <a:sym typeface="Calibri"/>
              </a:rPr>
              <a:t>Humaniste et orientée résultat, je veux faire converger bien-être des collaborateurs et réussite des entreprises.</a:t>
            </a:r>
            <a:endParaRPr sz="1900" b="0" i="0" u="none" strike="noStrike" cap="none" dirty="0">
              <a:solidFill>
                <a:schemeClr val="dk1"/>
              </a:solidFill>
              <a:latin typeface="Calibri"/>
              <a:ea typeface="Calibri"/>
              <a:cs typeface="Calibri"/>
              <a:sym typeface="Calibri"/>
            </a:endParaRPr>
          </a:p>
          <a:p>
            <a:pPr marL="0" marR="0" lvl="0" indent="0" algn="just" rtl="0">
              <a:lnSpc>
                <a:spcPct val="90000"/>
              </a:lnSpc>
              <a:spcBef>
                <a:spcPts val="1100"/>
              </a:spcBef>
              <a:spcAft>
                <a:spcPts val="0"/>
              </a:spcAft>
              <a:buClr>
                <a:srgbClr val="000000"/>
              </a:buClr>
              <a:buSzPts val="1900"/>
              <a:buFont typeface="Arial"/>
              <a:buNone/>
            </a:pPr>
            <a:r>
              <a:rPr lang="fr-FR" sz="1900" dirty="0">
                <a:solidFill>
                  <a:schemeClr val="dk1"/>
                </a:solidFill>
                <a:latin typeface="Calibri"/>
                <a:ea typeface="Calibri"/>
                <a:cs typeface="Calibri"/>
                <a:sym typeface="Calibri"/>
              </a:rPr>
              <a:t>20</a:t>
            </a:r>
            <a:r>
              <a:rPr lang="fr-FR" sz="1900" b="0" i="0" u="none" strike="noStrike" cap="none" dirty="0">
                <a:solidFill>
                  <a:schemeClr val="dk1"/>
                </a:solidFill>
                <a:latin typeface="Calibri"/>
                <a:ea typeface="Calibri"/>
                <a:cs typeface="Calibri"/>
                <a:sym typeface="Calibri"/>
              </a:rPr>
              <a:t> ans dans les RH, à créer, développer, animer et faire vivre des services RH m'ont procuré de très beaux moments mais j'ai aussi pu être confrontée au mal être et à la démotivation. Ensemble, nous pouvons changer cela.</a:t>
            </a:r>
            <a:endParaRPr sz="1900" b="0" i="0" u="none" strike="noStrike" cap="none" dirty="0">
              <a:solidFill>
                <a:schemeClr val="dk1"/>
              </a:solidFill>
              <a:latin typeface="Calibri"/>
              <a:ea typeface="Calibri"/>
              <a:cs typeface="Calibri"/>
              <a:sym typeface="Calibri"/>
            </a:endParaRPr>
          </a:p>
          <a:p>
            <a:pPr marL="0" marR="0" lvl="0" indent="0" algn="just" rtl="0">
              <a:lnSpc>
                <a:spcPct val="90000"/>
              </a:lnSpc>
              <a:spcBef>
                <a:spcPts val="1100"/>
              </a:spcBef>
              <a:spcAft>
                <a:spcPts val="0"/>
              </a:spcAft>
              <a:buClr>
                <a:srgbClr val="000000"/>
              </a:buClr>
              <a:buSzPts val="1900"/>
              <a:buFont typeface="Arial"/>
              <a:buNone/>
            </a:pPr>
            <a:endParaRPr sz="1900" b="0" i="0" u="none" strike="noStrike" cap="none" dirty="0">
              <a:solidFill>
                <a:schemeClr val="dk1"/>
              </a:solidFill>
              <a:latin typeface="Calibri"/>
              <a:ea typeface="Calibri"/>
              <a:cs typeface="Calibri"/>
              <a:sym typeface="Calibri"/>
            </a:endParaRPr>
          </a:p>
          <a:p>
            <a:pPr marL="0" marR="0" lvl="0" indent="457200" algn="just" rtl="0">
              <a:lnSpc>
                <a:spcPct val="90000"/>
              </a:lnSpc>
              <a:spcBef>
                <a:spcPts val="1300"/>
              </a:spcBef>
              <a:spcAft>
                <a:spcPts val="0"/>
              </a:spcAft>
              <a:buClr>
                <a:srgbClr val="000000"/>
              </a:buClr>
              <a:buSzPts val="1900"/>
              <a:buFont typeface="Arial"/>
              <a:buNone/>
            </a:pPr>
            <a:r>
              <a:rPr lang="fr-FR" sz="1900" b="0" i="0" u="none" strike="noStrike" cap="none" dirty="0">
                <a:solidFill>
                  <a:schemeClr val="dk1"/>
                </a:solidFill>
                <a:latin typeface="Calibri"/>
                <a:ea typeface="Calibri"/>
                <a:cs typeface="Calibri"/>
                <a:sym typeface="Calibri"/>
              </a:rPr>
              <a:t>Je veux vous aider à faire de votre entreprise une équipe dont les membres ont tous une valeur reconnue, un rôle à jouer, et peuvent s’investir dans leur travail et se réaliser en toute confiance. </a:t>
            </a:r>
            <a:endParaRPr sz="1900" b="0" i="0" u="none" strike="noStrike" cap="none" dirty="0">
              <a:solidFill>
                <a:schemeClr val="dk1"/>
              </a:solidFill>
              <a:latin typeface="Calibri"/>
              <a:ea typeface="Calibri"/>
              <a:cs typeface="Calibri"/>
              <a:sym typeface="Calibri"/>
            </a:endParaRPr>
          </a:p>
          <a:p>
            <a:pPr marL="0" marR="0" lvl="0" indent="0" algn="just" rtl="0">
              <a:lnSpc>
                <a:spcPct val="90000"/>
              </a:lnSpc>
              <a:spcBef>
                <a:spcPts val="1300"/>
              </a:spcBef>
              <a:spcAft>
                <a:spcPts val="0"/>
              </a:spcAft>
              <a:buClr>
                <a:srgbClr val="000000"/>
              </a:buClr>
              <a:buSzPts val="1900"/>
              <a:buFont typeface="Arial"/>
              <a:buNone/>
            </a:pPr>
            <a:endParaRPr sz="1900" b="0" i="0" u="none" strike="noStrike" cap="none" dirty="0">
              <a:solidFill>
                <a:schemeClr val="dk1"/>
              </a:solidFill>
              <a:latin typeface="Calibri"/>
              <a:ea typeface="Calibri"/>
              <a:cs typeface="Calibri"/>
              <a:sym typeface="Calibri"/>
            </a:endParaRPr>
          </a:p>
          <a:p>
            <a:pPr marL="0" marR="0" lvl="0" indent="457200" algn="just" rtl="0">
              <a:lnSpc>
                <a:spcPct val="90000"/>
              </a:lnSpc>
              <a:spcBef>
                <a:spcPts val="1300"/>
              </a:spcBef>
              <a:spcAft>
                <a:spcPts val="0"/>
              </a:spcAft>
              <a:buClr>
                <a:srgbClr val="000000"/>
              </a:buClr>
              <a:buSzPts val="1900"/>
              <a:buFont typeface="Arial"/>
              <a:buNone/>
            </a:pPr>
            <a:r>
              <a:rPr lang="fr-FR" sz="1900" b="0" i="0" u="none" strike="noStrike" cap="none" dirty="0">
                <a:solidFill>
                  <a:schemeClr val="dk1"/>
                </a:solidFill>
                <a:latin typeface="Calibri"/>
                <a:ea typeface="Calibri"/>
                <a:cs typeface="Calibri"/>
                <a:sym typeface="Calibri"/>
              </a:rPr>
              <a:t>Des collaborateurs heureux dans leur emploi, dans une organisation cohérente et des équipes soudées, avec des perspectives claires et un management bienveillant, sont le meilleur moyen de décupler l’innovation et la flexibilité, et de transformer un projet d’entreprise en aventure humaine.</a:t>
            </a:r>
            <a:endParaRPr sz="1900" b="0" i="0" u="none" strike="noStrike" cap="none" dirty="0">
              <a:solidFill>
                <a:schemeClr val="dk1"/>
              </a:solidFill>
              <a:latin typeface="Calibri"/>
              <a:ea typeface="Calibri"/>
              <a:cs typeface="Calibri"/>
              <a:sym typeface="Calibri"/>
            </a:endParaRPr>
          </a:p>
        </p:txBody>
      </p:sp>
      <p:sp>
        <p:nvSpPr>
          <p:cNvPr id="357" name="Google Shape;357;gd83fd30aaf_0_71"/>
          <p:cNvSpPr txBox="1">
            <a:spLocks noGrp="1"/>
          </p:cNvSpPr>
          <p:nvPr>
            <p:ph type="title"/>
          </p:nvPr>
        </p:nvSpPr>
        <p:spPr>
          <a:xfrm>
            <a:off x="8841750" y="454175"/>
            <a:ext cx="2572200" cy="661800"/>
          </a:xfrm>
          <a:prstGeom prst="rect">
            <a:avLst/>
          </a:prstGeom>
          <a:noFill/>
          <a:ln>
            <a:noFill/>
          </a:ln>
        </p:spPr>
        <p:txBody>
          <a:bodyPr spcFirstLastPara="1" wrap="square" lIns="240000" tIns="45700" rIns="48000" bIns="45700" anchor="ctr" anchorCtr="0">
            <a:normAutofit/>
          </a:bodyPr>
          <a:lstStyle/>
          <a:p>
            <a:pPr marL="0" marR="0" lvl="0" indent="0" algn="r" rtl="0">
              <a:lnSpc>
                <a:spcPct val="90000"/>
              </a:lnSpc>
              <a:spcBef>
                <a:spcPts val="0"/>
              </a:spcBef>
              <a:spcAft>
                <a:spcPts val="0"/>
              </a:spcAft>
              <a:buClr>
                <a:schemeClr val="dk1"/>
              </a:buClr>
              <a:buSzPts val="4400"/>
              <a:buFont typeface="Arial"/>
              <a:buNone/>
            </a:pPr>
            <a:r>
              <a:rPr lang="fr-FR" sz="3300" b="1" i="0" u="none" strike="noStrike" cap="none">
                <a:solidFill>
                  <a:schemeClr val="dk2"/>
                </a:solidFill>
                <a:latin typeface="Calibri"/>
                <a:ea typeface="Calibri"/>
                <a:cs typeface="Calibri"/>
                <a:sym typeface="Calibri"/>
              </a:rPr>
              <a:t>QUI SUIS-JE?</a:t>
            </a:r>
            <a:endParaRPr sz="3300" b="1" i="0" u="none" strike="noStrike" cap="none">
              <a:solidFill>
                <a:schemeClr val="dk2"/>
              </a:solidFill>
              <a:latin typeface="Calibri"/>
              <a:ea typeface="Calibri"/>
              <a:cs typeface="Calibri"/>
              <a:sym typeface="Calibri"/>
            </a:endParaRPr>
          </a:p>
        </p:txBody>
      </p:sp>
      <p:pic>
        <p:nvPicPr>
          <p:cNvPr id="358" name="Google Shape;358;gd83fd30aaf_0_71"/>
          <p:cNvPicPr preferRelativeResize="0"/>
          <p:nvPr/>
        </p:nvPicPr>
        <p:blipFill rotWithShape="1">
          <a:blip r:embed="rId3">
            <a:alphaModFix/>
          </a:blip>
          <a:srcRect/>
          <a:stretch/>
        </p:blipFill>
        <p:spPr>
          <a:xfrm>
            <a:off x="8436700" y="88100"/>
            <a:ext cx="617474" cy="875475"/>
          </a:xfrm>
          <a:prstGeom prst="rect">
            <a:avLst/>
          </a:prstGeom>
          <a:noFill/>
          <a:ln>
            <a:noFill/>
          </a:ln>
        </p:spPr>
      </p:pic>
      <p:grpSp>
        <p:nvGrpSpPr>
          <p:cNvPr id="359" name="Google Shape;359;gd83fd30aaf_0_71"/>
          <p:cNvGrpSpPr/>
          <p:nvPr/>
        </p:nvGrpSpPr>
        <p:grpSpPr>
          <a:xfrm>
            <a:off x="413088" y="225575"/>
            <a:ext cx="1935412" cy="1915175"/>
            <a:chOff x="383413" y="454175"/>
            <a:chExt cx="1935412" cy="1915175"/>
          </a:xfrm>
        </p:grpSpPr>
        <p:pic>
          <p:nvPicPr>
            <p:cNvPr id="360" name="Google Shape;360;gd83fd30aaf_0_71"/>
            <p:cNvPicPr preferRelativeResize="0"/>
            <p:nvPr/>
          </p:nvPicPr>
          <p:blipFill rotWithShape="1">
            <a:blip r:embed="rId4">
              <a:alphaModFix/>
            </a:blip>
            <a:srcRect/>
            <a:stretch/>
          </p:blipFill>
          <p:spPr>
            <a:xfrm>
              <a:off x="383413" y="454175"/>
              <a:ext cx="1924050" cy="1781175"/>
            </a:xfrm>
            <a:prstGeom prst="rect">
              <a:avLst/>
            </a:prstGeom>
            <a:noFill/>
            <a:ln>
              <a:noFill/>
            </a:ln>
          </p:spPr>
        </p:pic>
        <p:sp>
          <p:nvSpPr>
            <p:cNvPr id="361" name="Google Shape;361;gd83fd30aaf_0_71"/>
            <p:cNvSpPr/>
            <p:nvPr/>
          </p:nvSpPr>
          <p:spPr>
            <a:xfrm>
              <a:off x="407225" y="2232850"/>
              <a:ext cx="1911600" cy="136500"/>
            </a:xfrm>
            <a:prstGeom prst="rect">
              <a:avLst/>
            </a:prstGeom>
            <a:solidFill>
              <a:schemeClr val="dk2"/>
            </a:solidFill>
            <a:ln w="9525" cap="flat" cmpd="sng">
              <a:solidFill>
                <a:schemeClr val="dk2"/>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grpSp>
        <p:nvGrpSpPr>
          <p:cNvPr id="366" name="Google Shape;366;gd842e5c47e_0_467"/>
          <p:cNvGrpSpPr/>
          <p:nvPr/>
        </p:nvGrpSpPr>
        <p:grpSpPr>
          <a:xfrm>
            <a:off x="8063703" y="2018751"/>
            <a:ext cx="4128303" cy="4839240"/>
            <a:chOff x="2698508" y="1540875"/>
            <a:chExt cx="3409848" cy="3596611"/>
          </a:xfrm>
        </p:grpSpPr>
        <p:sp>
          <p:nvSpPr>
            <p:cNvPr id="367" name="Google Shape;367;gd842e5c47e_0_467"/>
            <p:cNvSpPr/>
            <p:nvPr/>
          </p:nvSpPr>
          <p:spPr>
            <a:xfrm>
              <a:off x="3158459" y="1540875"/>
              <a:ext cx="957322" cy="728994"/>
            </a:xfrm>
            <a:custGeom>
              <a:avLst/>
              <a:gdLst/>
              <a:ahLst/>
              <a:cxnLst/>
              <a:rect l="l" t="t" r="r" b="b"/>
              <a:pathLst>
                <a:path w="312" h="238" extrusionOk="0">
                  <a:moveTo>
                    <a:pt x="287" y="191"/>
                  </a:moveTo>
                  <a:cubicBezTo>
                    <a:pt x="231" y="238"/>
                    <a:pt x="159" y="236"/>
                    <a:pt x="118" y="163"/>
                  </a:cubicBezTo>
                  <a:cubicBezTo>
                    <a:pt x="88" y="107"/>
                    <a:pt x="58" y="57"/>
                    <a:pt x="0" y="23"/>
                  </a:cubicBezTo>
                  <a:cubicBezTo>
                    <a:pt x="88" y="0"/>
                    <a:pt x="169" y="3"/>
                    <a:pt x="238" y="55"/>
                  </a:cubicBezTo>
                  <a:cubicBezTo>
                    <a:pt x="238" y="55"/>
                    <a:pt x="312" y="99"/>
                    <a:pt x="295" y="177"/>
                  </a:cubicBezTo>
                  <a:cubicBezTo>
                    <a:pt x="237" y="111"/>
                    <a:pt x="159" y="67"/>
                    <a:pt x="77" y="39"/>
                  </a:cubicBezTo>
                  <a:cubicBezTo>
                    <a:pt x="173" y="79"/>
                    <a:pt x="237" y="127"/>
                    <a:pt x="287" y="191"/>
                  </a:cubicBezTo>
                  <a:close/>
                </a:path>
              </a:pathLst>
            </a:custGeom>
            <a:solidFill>
              <a:schemeClr val="dk2"/>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68" name="Google Shape;368;gd842e5c47e_0_467"/>
            <p:cNvSpPr/>
            <p:nvPr/>
          </p:nvSpPr>
          <p:spPr>
            <a:xfrm>
              <a:off x="2698508" y="3521074"/>
              <a:ext cx="728951" cy="1039248"/>
            </a:xfrm>
            <a:custGeom>
              <a:avLst/>
              <a:gdLst/>
              <a:ahLst/>
              <a:cxnLst/>
              <a:rect l="l" t="t" r="r" b="b"/>
              <a:pathLst>
                <a:path w="265" h="378" extrusionOk="0">
                  <a:moveTo>
                    <a:pt x="240" y="75"/>
                  </a:moveTo>
                  <a:cubicBezTo>
                    <a:pt x="265" y="141"/>
                    <a:pt x="240" y="189"/>
                    <a:pt x="190" y="215"/>
                  </a:cubicBezTo>
                  <a:cubicBezTo>
                    <a:pt x="122" y="249"/>
                    <a:pt x="71" y="304"/>
                    <a:pt x="35" y="378"/>
                  </a:cubicBezTo>
                  <a:cubicBezTo>
                    <a:pt x="17" y="274"/>
                    <a:pt x="0" y="159"/>
                    <a:pt x="67" y="64"/>
                  </a:cubicBezTo>
                  <a:cubicBezTo>
                    <a:pt x="112" y="0"/>
                    <a:pt x="169" y="0"/>
                    <a:pt x="229" y="60"/>
                  </a:cubicBezTo>
                  <a:cubicBezTo>
                    <a:pt x="139" y="105"/>
                    <a:pt x="80" y="195"/>
                    <a:pt x="50" y="294"/>
                  </a:cubicBezTo>
                  <a:cubicBezTo>
                    <a:pt x="94" y="179"/>
                    <a:pt x="156" y="113"/>
                    <a:pt x="240" y="75"/>
                  </a:cubicBezTo>
                  <a:close/>
                </a:path>
              </a:pathLst>
            </a:custGeom>
            <a:solidFill>
              <a:schemeClr val="accent6"/>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69" name="Google Shape;369;gd842e5c47e_0_467"/>
            <p:cNvSpPr/>
            <p:nvPr/>
          </p:nvSpPr>
          <p:spPr>
            <a:xfrm rot="-666128">
              <a:off x="5113145" y="2402818"/>
              <a:ext cx="934096" cy="725555"/>
            </a:xfrm>
            <a:custGeom>
              <a:avLst/>
              <a:gdLst/>
              <a:ahLst/>
              <a:cxnLst/>
              <a:rect l="l" t="t" r="r" b="b"/>
              <a:pathLst>
                <a:path w="369" h="231" extrusionOk="0">
                  <a:moveTo>
                    <a:pt x="0" y="100"/>
                  </a:moveTo>
                  <a:cubicBezTo>
                    <a:pt x="22" y="186"/>
                    <a:pt x="90" y="231"/>
                    <a:pt x="175" y="189"/>
                  </a:cubicBezTo>
                  <a:cubicBezTo>
                    <a:pt x="235" y="160"/>
                    <a:pt x="295" y="134"/>
                    <a:pt x="369" y="142"/>
                  </a:cubicBezTo>
                  <a:cubicBezTo>
                    <a:pt x="303" y="60"/>
                    <a:pt x="224" y="8"/>
                    <a:pt x="128" y="6"/>
                  </a:cubicBezTo>
                  <a:cubicBezTo>
                    <a:pt x="128" y="6"/>
                    <a:pt x="34" y="0"/>
                    <a:pt x="2" y="82"/>
                  </a:cubicBezTo>
                  <a:cubicBezTo>
                    <a:pt x="96" y="62"/>
                    <a:pt x="196" y="74"/>
                    <a:pt x="288" y="104"/>
                  </a:cubicBezTo>
                  <a:cubicBezTo>
                    <a:pt x="175" y="76"/>
                    <a:pt x="86" y="78"/>
                    <a:pt x="0" y="100"/>
                  </a:cubicBezTo>
                  <a:close/>
                </a:path>
              </a:pathLst>
            </a:custGeom>
            <a:solidFill>
              <a:schemeClr val="accent2"/>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0" name="Google Shape;370;gd842e5c47e_0_467"/>
            <p:cNvSpPr/>
            <p:nvPr/>
          </p:nvSpPr>
          <p:spPr>
            <a:xfrm>
              <a:off x="3655464" y="2242747"/>
              <a:ext cx="199259" cy="344663"/>
            </a:xfrm>
            <a:custGeom>
              <a:avLst/>
              <a:gdLst/>
              <a:ahLst/>
              <a:cxnLst/>
              <a:rect l="l" t="t" r="r" b="b"/>
              <a:pathLst>
                <a:path w="100" h="172" extrusionOk="0">
                  <a:moveTo>
                    <a:pt x="39" y="170"/>
                  </a:moveTo>
                  <a:cubicBezTo>
                    <a:pt x="11" y="156"/>
                    <a:pt x="0" y="130"/>
                    <a:pt x="11" y="106"/>
                  </a:cubicBezTo>
                  <a:cubicBezTo>
                    <a:pt x="24" y="72"/>
                    <a:pt x="24" y="36"/>
                    <a:pt x="15" y="0"/>
                  </a:cubicBezTo>
                  <a:cubicBezTo>
                    <a:pt x="51" y="28"/>
                    <a:pt x="90" y="62"/>
                    <a:pt x="96" y="116"/>
                  </a:cubicBezTo>
                  <a:cubicBezTo>
                    <a:pt x="100" y="152"/>
                    <a:pt x="86" y="172"/>
                    <a:pt x="49" y="170"/>
                  </a:cubicBezTo>
                  <a:cubicBezTo>
                    <a:pt x="53" y="130"/>
                    <a:pt x="51" y="80"/>
                    <a:pt x="34" y="32"/>
                  </a:cubicBezTo>
                  <a:cubicBezTo>
                    <a:pt x="51" y="86"/>
                    <a:pt x="49" y="128"/>
                    <a:pt x="39" y="170"/>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1" name="Google Shape;371;gd842e5c47e_0_467"/>
            <p:cNvSpPr/>
            <p:nvPr/>
          </p:nvSpPr>
          <p:spPr>
            <a:xfrm>
              <a:off x="4184194" y="2870249"/>
              <a:ext cx="199259" cy="341073"/>
            </a:xfrm>
            <a:custGeom>
              <a:avLst/>
              <a:gdLst/>
              <a:ahLst/>
              <a:cxnLst/>
              <a:rect l="l" t="t" r="r" b="b"/>
              <a:pathLst>
                <a:path w="100" h="171" extrusionOk="0">
                  <a:moveTo>
                    <a:pt x="40" y="169"/>
                  </a:moveTo>
                  <a:cubicBezTo>
                    <a:pt x="11" y="155"/>
                    <a:pt x="0" y="129"/>
                    <a:pt x="11" y="105"/>
                  </a:cubicBezTo>
                  <a:cubicBezTo>
                    <a:pt x="25" y="71"/>
                    <a:pt x="25" y="35"/>
                    <a:pt x="15" y="0"/>
                  </a:cubicBezTo>
                  <a:cubicBezTo>
                    <a:pt x="51" y="27"/>
                    <a:pt x="90" y="61"/>
                    <a:pt x="96" y="115"/>
                  </a:cubicBezTo>
                  <a:cubicBezTo>
                    <a:pt x="100" y="151"/>
                    <a:pt x="87" y="171"/>
                    <a:pt x="49" y="169"/>
                  </a:cubicBezTo>
                  <a:cubicBezTo>
                    <a:pt x="53" y="129"/>
                    <a:pt x="51" y="79"/>
                    <a:pt x="34" y="31"/>
                  </a:cubicBezTo>
                  <a:cubicBezTo>
                    <a:pt x="51" y="85"/>
                    <a:pt x="49" y="127"/>
                    <a:pt x="40" y="169"/>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2" name="Google Shape;372;gd842e5c47e_0_467"/>
            <p:cNvSpPr/>
            <p:nvPr/>
          </p:nvSpPr>
          <p:spPr>
            <a:xfrm>
              <a:off x="3233285" y="3066584"/>
              <a:ext cx="184152" cy="307344"/>
            </a:xfrm>
            <a:custGeom>
              <a:avLst/>
              <a:gdLst/>
              <a:ahLst/>
              <a:cxnLst/>
              <a:rect l="l" t="t" r="r" b="b"/>
              <a:pathLst>
                <a:path w="130" h="217" extrusionOk="0">
                  <a:moveTo>
                    <a:pt x="80" y="217"/>
                  </a:moveTo>
                  <a:cubicBezTo>
                    <a:pt x="119" y="204"/>
                    <a:pt x="130" y="171"/>
                    <a:pt x="119" y="138"/>
                  </a:cubicBezTo>
                  <a:cubicBezTo>
                    <a:pt x="106" y="91"/>
                    <a:pt x="109" y="47"/>
                    <a:pt x="125" y="0"/>
                  </a:cubicBezTo>
                  <a:cubicBezTo>
                    <a:pt x="75" y="33"/>
                    <a:pt x="21" y="71"/>
                    <a:pt x="7" y="140"/>
                  </a:cubicBezTo>
                  <a:cubicBezTo>
                    <a:pt x="0" y="187"/>
                    <a:pt x="21" y="215"/>
                    <a:pt x="73" y="217"/>
                  </a:cubicBezTo>
                  <a:cubicBezTo>
                    <a:pt x="54" y="157"/>
                    <a:pt x="67" y="94"/>
                    <a:pt x="96" y="38"/>
                  </a:cubicBezTo>
                  <a:cubicBezTo>
                    <a:pt x="67" y="107"/>
                    <a:pt x="65" y="162"/>
                    <a:pt x="80" y="217"/>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3" name="Google Shape;373;gd842e5c47e_0_467"/>
            <p:cNvSpPr/>
            <p:nvPr/>
          </p:nvSpPr>
          <p:spPr>
            <a:xfrm>
              <a:off x="4126750" y="2583030"/>
              <a:ext cx="262088" cy="206439"/>
            </a:xfrm>
            <a:custGeom>
              <a:avLst/>
              <a:gdLst/>
              <a:ahLst/>
              <a:cxnLst/>
              <a:rect l="l" t="t" r="r" b="b"/>
              <a:pathLst>
                <a:path w="130" h="103" extrusionOk="0">
                  <a:moveTo>
                    <a:pt x="116" y="84"/>
                  </a:moveTo>
                  <a:cubicBezTo>
                    <a:pt x="91" y="103"/>
                    <a:pt x="63" y="101"/>
                    <a:pt x="46" y="69"/>
                  </a:cubicBezTo>
                  <a:cubicBezTo>
                    <a:pt x="35" y="47"/>
                    <a:pt x="23" y="24"/>
                    <a:pt x="0" y="10"/>
                  </a:cubicBezTo>
                  <a:cubicBezTo>
                    <a:pt x="37" y="0"/>
                    <a:pt x="70" y="5"/>
                    <a:pt x="98" y="27"/>
                  </a:cubicBezTo>
                  <a:cubicBezTo>
                    <a:pt x="98" y="27"/>
                    <a:pt x="130" y="44"/>
                    <a:pt x="121" y="76"/>
                  </a:cubicBezTo>
                  <a:cubicBezTo>
                    <a:pt x="98" y="52"/>
                    <a:pt x="65" y="29"/>
                    <a:pt x="32" y="17"/>
                  </a:cubicBezTo>
                  <a:cubicBezTo>
                    <a:pt x="70" y="37"/>
                    <a:pt x="95" y="57"/>
                    <a:pt x="116" y="84"/>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4" name="Google Shape;374;gd842e5c47e_0_467"/>
            <p:cNvSpPr/>
            <p:nvPr/>
          </p:nvSpPr>
          <p:spPr>
            <a:xfrm>
              <a:off x="4250674" y="2169198"/>
              <a:ext cx="455960" cy="342869"/>
            </a:xfrm>
            <a:custGeom>
              <a:avLst/>
              <a:gdLst/>
              <a:ahLst/>
              <a:cxnLst/>
              <a:rect l="l" t="t" r="r" b="b"/>
              <a:pathLst>
                <a:path w="228" h="171" extrusionOk="0">
                  <a:moveTo>
                    <a:pt x="187" y="151"/>
                  </a:moveTo>
                  <a:cubicBezTo>
                    <a:pt x="151" y="171"/>
                    <a:pt x="120" y="157"/>
                    <a:pt x="103" y="127"/>
                  </a:cubicBezTo>
                  <a:cubicBezTo>
                    <a:pt x="80" y="85"/>
                    <a:pt x="45" y="54"/>
                    <a:pt x="0" y="34"/>
                  </a:cubicBezTo>
                  <a:cubicBezTo>
                    <a:pt x="58" y="15"/>
                    <a:pt x="126" y="0"/>
                    <a:pt x="183" y="39"/>
                  </a:cubicBezTo>
                  <a:cubicBezTo>
                    <a:pt x="223" y="64"/>
                    <a:pt x="228" y="103"/>
                    <a:pt x="194" y="144"/>
                  </a:cubicBezTo>
                  <a:cubicBezTo>
                    <a:pt x="163" y="87"/>
                    <a:pt x="109" y="55"/>
                    <a:pt x="48" y="39"/>
                  </a:cubicBezTo>
                  <a:cubicBezTo>
                    <a:pt x="118" y="62"/>
                    <a:pt x="160" y="99"/>
                    <a:pt x="187" y="151"/>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5" name="Google Shape;375;gd842e5c47e_0_467"/>
            <p:cNvSpPr/>
            <p:nvPr/>
          </p:nvSpPr>
          <p:spPr>
            <a:xfrm>
              <a:off x="4914807" y="2100143"/>
              <a:ext cx="529561" cy="384156"/>
            </a:xfrm>
            <a:custGeom>
              <a:avLst/>
              <a:gdLst/>
              <a:ahLst/>
              <a:cxnLst/>
              <a:rect l="l" t="t" r="r" b="b"/>
              <a:pathLst>
                <a:path w="264" h="192" extrusionOk="0">
                  <a:moveTo>
                    <a:pt x="8" y="136"/>
                  </a:moveTo>
                  <a:cubicBezTo>
                    <a:pt x="49" y="186"/>
                    <a:pt x="108" y="192"/>
                    <a:pt x="149" y="138"/>
                  </a:cubicBezTo>
                  <a:cubicBezTo>
                    <a:pt x="181" y="96"/>
                    <a:pt x="213" y="58"/>
                    <a:pt x="264" y="40"/>
                  </a:cubicBezTo>
                  <a:cubicBezTo>
                    <a:pt x="196" y="8"/>
                    <a:pt x="128" y="0"/>
                    <a:pt x="64" y="32"/>
                  </a:cubicBezTo>
                  <a:cubicBezTo>
                    <a:pt x="64" y="32"/>
                    <a:pt x="0" y="58"/>
                    <a:pt x="2" y="124"/>
                  </a:cubicBezTo>
                  <a:cubicBezTo>
                    <a:pt x="61" y="78"/>
                    <a:pt x="128" y="52"/>
                    <a:pt x="200" y="42"/>
                  </a:cubicBezTo>
                  <a:cubicBezTo>
                    <a:pt x="115" y="60"/>
                    <a:pt x="57" y="92"/>
                    <a:pt x="8" y="136"/>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6" name="Google Shape;376;gd842e5c47e_0_467"/>
            <p:cNvSpPr/>
            <p:nvPr/>
          </p:nvSpPr>
          <p:spPr>
            <a:xfrm>
              <a:off x="5270241" y="3082438"/>
              <a:ext cx="132839" cy="201053"/>
            </a:xfrm>
            <a:custGeom>
              <a:avLst/>
              <a:gdLst/>
              <a:ahLst/>
              <a:cxnLst/>
              <a:rect l="l" t="t" r="r" b="b"/>
              <a:pathLst>
                <a:path w="66" h="100" extrusionOk="0">
                  <a:moveTo>
                    <a:pt x="30" y="100"/>
                  </a:moveTo>
                  <a:cubicBezTo>
                    <a:pt x="13" y="94"/>
                    <a:pt x="6" y="80"/>
                    <a:pt x="8" y="64"/>
                  </a:cubicBezTo>
                  <a:cubicBezTo>
                    <a:pt x="13" y="42"/>
                    <a:pt x="10" y="20"/>
                    <a:pt x="0" y="0"/>
                  </a:cubicBezTo>
                  <a:cubicBezTo>
                    <a:pt x="25" y="12"/>
                    <a:pt x="51" y="28"/>
                    <a:pt x="60" y="60"/>
                  </a:cubicBezTo>
                  <a:cubicBezTo>
                    <a:pt x="66" y="80"/>
                    <a:pt x="59" y="94"/>
                    <a:pt x="34" y="98"/>
                  </a:cubicBezTo>
                  <a:cubicBezTo>
                    <a:pt x="40" y="70"/>
                    <a:pt x="30" y="42"/>
                    <a:pt x="15" y="18"/>
                  </a:cubicBezTo>
                  <a:cubicBezTo>
                    <a:pt x="32" y="48"/>
                    <a:pt x="36" y="72"/>
                    <a:pt x="30" y="100"/>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7" name="Google Shape;377;gd842e5c47e_0_467"/>
            <p:cNvSpPr/>
            <p:nvPr/>
          </p:nvSpPr>
          <p:spPr>
            <a:xfrm>
              <a:off x="3196878" y="1929606"/>
              <a:ext cx="2209794" cy="3207880"/>
            </a:xfrm>
            <a:custGeom>
              <a:avLst/>
              <a:gdLst/>
              <a:ahLst/>
              <a:cxnLst/>
              <a:rect l="l" t="t" r="r" b="b"/>
              <a:pathLst>
                <a:path w="1102" h="1601" extrusionOk="0">
                  <a:moveTo>
                    <a:pt x="935" y="802"/>
                  </a:moveTo>
                  <a:cubicBezTo>
                    <a:pt x="1004" y="772"/>
                    <a:pt x="1064" y="712"/>
                    <a:pt x="1068" y="631"/>
                  </a:cubicBezTo>
                  <a:cubicBezTo>
                    <a:pt x="1047" y="762"/>
                    <a:pt x="933" y="762"/>
                    <a:pt x="859" y="776"/>
                  </a:cubicBezTo>
                  <a:cubicBezTo>
                    <a:pt x="800" y="786"/>
                    <a:pt x="766" y="801"/>
                    <a:pt x="733" y="833"/>
                  </a:cubicBezTo>
                  <a:cubicBezTo>
                    <a:pt x="740" y="815"/>
                    <a:pt x="747" y="795"/>
                    <a:pt x="756" y="774"/>
                  </a:cubicBezTo>
                  <a:cubicBezTo>
                    <a:pt x="769" y="741"/>
                    <a:pt x="780" y="707"/>
                    <a:pt x="787" y="673"/>
                  </a:cubicBezTo>
                  <a:cubicBezTo>
                    <a:pt x="837" y="539"/>
                    <a:pt x="931" y="384"/>
                    <a:pt x="1102" y="378"/>
                  </a:cubicBezTo>
                  <a:cubicBezTo>
                    <a:pt x="1000" y="373"/>
                    <a:pt x="882" y="453"/>
                    <a:pt x="799" y="562"/>
                  </a:cubicBezTo>
                  <a:cubicBezTo>
                    <a:pt x="799" y="517"/>
                    <a:pt x="795" y="472"/>
                    <a:pt x="784" y="427"/>
                  </a:cubicBezTo>
                  <a:cubicBezTo>
                    <a:pt x="779" y="342"/>
                    <a:pt x="802" y="248"/>
                    <a:pt x="899" y="191"/>
                  </a:cubicBezTo>
                  <a:cubicBezTo>
                    <a:pt x="839" y="221"/>
                    <a:pt x="785" y="279"/>
                    <a:pt x="763" y="361"/>
                  </a:cubicBezTo>
                  <a:cubicBezTo>
                    <a:pt x="746" y="315"/>
                    <a:pt x="722" y="271"/>
                    <a:pt x="690" y="229"/>
                  </a:cubicBezTo>
                  <a:cubicBezTo>
                    <a:pt x="803" y="411"/>
                    <a:pt x="773" y="565"/>
                    <a:pt x="721" y="695"/>
                  </a:cubicBezTo>
                  <a:cubicBezTo>
                    <a:pt x="713" y="559"/>
                    <a:pt x="646" y="447"/>
                    <a:pt x="558" y="380"/>
                  </a:cubicBezTo>
                  <a:cubicBezTo>
                    <a:pt x="696" y="522"/>
                    <a:pt x="690" y="728"/>
                    <a:pt x="641" y="869"/>
                  </a:cubicBezTo>
                  <a:cubicBezTo>
                    <a:pt x="614" y="927"/>
                    <a:pt x="596" y="967"/>
                    <a:pt x="590" y="1012"/>
                  </a:cubicBezTo>
                  <a:cubicBezTo>
                    <a:pt x="552" y="943"/>
                    <a:pt x="518" y="871"/>
                    <a:pt x="493" y="807"/>
                  </a:cubicBezTo>
                  <a:cubicBezTo>
                    <a:pt x="549" y="704"/>
                    <a:pt x="539" y="595"/>
                    <a:pt x="539" y="595"/>
                  </a:cubicBezTo>
                  <a:cubicBezTo>
                    <a:pt x="540" y="660"/>
                    <a:pt x="494" y="719"/>
                    <a:pt x="471" y="746"/>
                  </a:cubicBezTo>
                  <a:cubicBezTo>
                    <a:pt x="466" y="731"/>
                    <a:pt x="462" y="717"/>
                    <a:pt x="459" y="704"/>
                  </a:cubicBezTo>
                  <a:cubicBezTo>
                    <a:pt x="417" y="531"/>
                    <a:pt x="425" y="253"/>
                    <a:pt x="605" y="0"/>
                  </a:cubicBezTo>
                  <a:cubicBezTo>
                    <a:pt x="558" y="58"/>
                    <a:pt x="511" y="131"/>
                    <a:pt x="474" y="213"/>
                  </a:cubicBezTo>
                  <a:cubicBezTo>
                    <a:pt x="462" y="127"/>
                    <a:pt x="415" y="60"/>
                    <a:pt x="357" y="22"/>
                  </a:cubicBezTo>
                  <a:cubicBezTo>
                    <a:pt x="457" y="97"/>
                    <a:pt x="461" y="209"/>
                    <a:pt x="440" y="298"/>
                  </a:cubicBezTo>
                  <a:cubicBezTo>
                    <a:pt x="398" y="414"/>
                    <a:pt x="376" y="541"/>
                    <a:pt x="391" y="665"/>
                  </a:cubicBezTo>
                  <a:cubicBezTo>
                    <a:pt x="395" y="695"/>
                    <a:pt x="406" y="786"/>
                    <a:pt x="423" y="846"/>
                  </a:cubicBezTo>
                  <a:cubicBezTo>
                    <a:pt x="321" y="706"/>
                    <a:pt x="254" y="499"/>
                    <a:pt x="282" y="227"/>
                  </a:cubicBezTo>
                  <a:cubicBezTo>
                    <a:pt x="267" y="310"/>
                    <a:pt x="263" y="406"/>
                    <a:pt x="271" y="507"/>
                  </a:cubicBezTo>
                  <a:cubicBezTo>
                    <a:pt x="192" y="422"/>
                    <a:pt x="86" y="400"/>
                    <a:pt x="0" y="422"/>
                  </a:cubicBezTo>
                  <a:cubicBezTo>
                    <a:pt x="143" y="398"/>
                    <a:pt x="233" y="482"/>
                    <a:pt x="276" y="569"/>
                  </a:cubicBezTo>
                  <a:cubicBezTo>
                    <a:pt x="289" y="663"/>
                    <a:pt x="310" y="754"/>
                    <a:pt x="346" y="842"/>
                  </a:cubicBezTo>
                  <a:cubicBezTo>
                    <a:pt x="301" y="826"/>
                    <a:pt x="256" y="822"/>
                    <a:pt x="212" y="826"/>
                  </a:cubicBezTo>
                  <a:cubicBezTo>
                    <a:pt x="139" y="798"/>
                    <a:pt x="67" y="740"/>
                    <a:pt x="54" y="627"/>
                  </a:cubicBezTo>
                  <a:cubicBezTo>
                    <a:pt x="58" y="702"/>
                    <a:pt x="96" y="784"/>
                    <a:pt x="167" y="836"/>
                  </a:cubicBezTo>
                  <a:cubicBezTo>
                    <a:pt x="114" y="850"/>
                    <a:pt x="64" y="876"/>
                    <a:pt x="22" y="913"/>
                  </a:cubicBezTo>
                  <a:cubicBezTo>
                    <a:pt x="188" y="850"/>
                    <a:pt x="303" y="870"/>
                    <a:pt x="389" y="929"/>
                  </a:cubicBezTo>
                  <a:cubicBezTo>
                    <a:pt x="404" y="955"/>
                    <a:pt x="421" y="983"/>
                    <a:pt x="440" y="1007"/>
                  </a:cubicBezTo>
                  <a:cubicBezTo>
                    <a:pt x="578" y="1192"/>
                    <a:pt x="661" y="1342"/>
                    <a:pt x="655" y="1517"/>
                  </a:cubicBezTo>
                  <a:cubicBezTo>
                    <a:pt x="653" y="1533"/>
                    <a:pt x="632" y="1582"/>
                    <a:pt x="485" y="1601"/>
                  </a:cubicBezTo>
                  <a:cubicBezTo>
                    <a:pt x="978" y="1601"/>
                    <a:pt x="978" y="1601"/>
                    <a:pt x="978" y="1601"/>
                  </a:cubicBezTo>
                  <a:cubicBezTo>
                    <a:pt x="978" y="1601"/>
                    <a:pt x="865" y="1568"/>
                    <a:pt x="843" y="1513"/>
                  </a:cubicBezTo>
                  <a:cubicBezTo>
                    <a:pt x="843" y="1513"/>
                    <a:pt x="843" y="1513"/>
                    <a:pt x="843" y="1513"/>
                  </a:cubicBezTo>
                  <a:cubicBezTo>
                    <a:pt x="836" y="1386"/>
                    <a:pt x="791" y="1260"/>
                    <a:pt x="707" y="1144"/>
                  </a:cubicBezTo>
                  <a:cubicBezTo>
                    <a:pt x="692" y="1093"/>
                    <a:pt x="685" y="1050"/>
                    <a:pt x="688" y="1006"/>
                  </a:cubicBezTo>
                  <a:cubicBezTo>
                    <a:pt x="721" y="915"/>
                    <a:pt x="766" y="845"/>
                    <a:pt x="874" y="822"/>
                  </a:cubicBezTo>
                  <a:cubicBezTo>
                    <a:pt x="876" y="822"/>
                    <a:pt x="876" y="822"/>
                    <a:pt x="876" y="822"/>
                  </a:cubicBezTo>
                  <a:cubicBezTo>
                    <a:pt x="953" y="822"/>
                    <a:pt x="1040" y="848"/>
                    <a:pt x="1091" y="949"/>
                  </a:cubicBezTo>
                  <a:cubicBezTo>
                    <a:pt x="1064" y="886"/>
                    <a:pt x="1010" y="828"/>
                    <a:pt x="935" y="802"/>
                  </a:cubicBezTo>
                  <a:close/>
                </a:path>
              </a:pathLst>
            </a:custGeom>
            <a:solidFill>
              <a:srgbClr val="BFBFBF"/>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8" name="Google Shape;378;gd842e5c47e_0_467"/>
            <p:cNvSpPr/>
            <p:nvPr/>
          </p:nvSpPr>
          <p:spPr>
            <a:xfrm rot="10012446">
              <a:off x="5296837" y="3738667"/>
              <a:ext cx="184152" cy="307344"/>
            </a:xfrm>
            <a:custGeom>
              <a:avLst/>
              <a:gdLst/>
              <a:ahLst/>
              <a:cxnLst/>
              <a:rect l="l" t="t" r="r" b="b"/>
              <a:pathLst>
                <a:path w="130" h="217" extrusionOk="0">
                  <a:moveTo>
                    <a:pt x="80" y="217"/>
                  </a:moveTo>
                  <a:cubicBezTo>
                    <a:pt x="119" y="204"/>
                    <a:pt x="130" y="171"/>
                    <a:pt x="119" y="138"/>
                  </a:cubicBezTo>
                  <a:cubicBezTo>
                    <a:pt x="106" y="91"/>
                    <a:pt x="109" y="47"/>
                    <a:pt x="125" y="0"/>
                  </a:cubicBezTo>
                  <a:cubicBezTo>
                    <a:pt x="75" y="33"/>
                    <a:pt x="21" y="71"/>
                    <a:pt x="7" y="140"/>
                  </a:cubicBezTo>
                  <a:cubicBezTo>
                    <a:pt x="0" y="187"/>
                    <a:pt x="21" y="215"/>
                    <a:pt x="73" y="217"/>
                  </a:cubicBezTo>
                  <a:cubicBezTo>
                    <a:pt x="54" y="157"/>
                    <a:pt x="67" y="94"/>
                    <a:pt x="96" y="38"/>
                  </a:cubicBezTo>
                  <a:cubicBezTo>
                    <a:pt x="67" y="107"/>
                    <a:pt x="65" y="162"/>
                    <a:pt x="80" y="217"/>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79" name="Google Shape;379;gd842e5c47e_0_467"/>
            <p:cNvSpPr/>
            <p:nvPr/>
          </p:nvSpPr>
          <p:spPr>
            <a:xfrm rot="1704946">
              <a:off x="4341653" y="1696650"/>
              <a:ext cx="199259" cy="341073"/>
            </a:xfrm>
            <a:custGeom>
              <a:avLst/>
              <a:gdLst/>
              <a:ahLst/>
              <a:cxnLst/>
              <a:rect l="l" t="t" r="r" b="b"/>
              <a:pathLst>
                <a:path w="100" h="171" extrusionOk="0">
                  <a:moveTo>
                    <a:pt x="40" y="169"/>
                  </a:moveTo>
                  <a:cubicBezTo>
                    <a:pt x="11" y="155"/>
                    <a:pt x="0" y="129"/>
                    <a:pt x="11" y="105"/>
                  </a:cubicBezTo>
                  <a:cubicBezTo>
                    <a:pt x="25" y="71"/>
                    <a:pt x="25" y="35"/>
                    <a:pt x="15" y="0"/>
                  </a:cubicBezTo>
                  <a:cubicBezTo>
                    <a:pt x="51" y="27"/>
                    <a:pt x="90" y="61"/>
                    <a:pt x="96" y="115"/>
                  </a:cubicBezTo>
                  <a:cubicBezTo>
                    <a:pt x="100" y="151"/>
                    <a:pt x="87" y="171"/>
                    <a:pt x="49" y="169"/>
                  </a:cubicBezTo>
                  <a:cubicBezTo>
                    <a:pt x="53" y="129"/>
                    <a:pt x="51" y="79"/>
                    <a:pt x="34" y="31"/>
                  </a:cubicBezTo>
                  <a:cubicBezTo>
                    <a:pt x="51" y="85"/>
                    <a:pt x="49" y="127"/>
                    <a:pt x="40" y="169"/>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80" name="Google Shape;380;gd842e5c47e_0_467"/>
            <p:cNvSpPr/>
            <p:nvPr/>
          </p:nvSpPr>
          <p:spPr>
            <a:xfrm rot="-3832174">
              <a:off x="2908506" y="2669226"/>
              <a:ext cx="455960" cy="342869"/>
            </a:xfrm>
            <a:custGeom>
              <a:avLst/>
              <a:gdLst/>
              <a:ahLst/>
              <a:cxnLst/>
              <a:rect l="l" t="t" r="r" b="b"/>
              <a:pathLst>
                <a:path w="228" h="171" extrusionOk="0">
                  <a:moveTo>
                    <a:pt x="187" y="151"/>
                  </a:moveTo>
                  <a:cubicBezTo>
                    <a:pt x="151" y="171"/>
                    <a:pt x="120" y="157"/>
                    <a:pt x="103" y="127"/>
                  </a:cubicBezTo>
                  <a:cubicBezTo>
                    <a:pt x="80" y="85"/>
                    <a:pt x="45" y="54"/>
                    <a:pt x="0" y="34"/>
                  </a:cubicBezTo>
                  <a:cubicBezTo>
                    <a:pt x="58" y="15"/>
                    <a:pt x="126" y="0"/>
                    <a:pt x="183" y="39"/>
                  </a:cubicBezTo>
                  <a:cubicBezTo>
                    <a:pt x="223" y="64"/>
                    <a:pt x="228" y="103"/>
                    <a:pt x="194" y="144"/>
                  </a:cubicBezTo>
                  <a:cubicBezTo>
                    <a:pt x="163" y="87"/>
                    <a:pt x="109" y="55"/>
                    <a:pt x="48" y="39"/>
                  </a:cubicBezTo>
                  <a:cubicBezTo>
                    <a:pt x="118" y="62"/>
                    <a:pt x="160" y="99"/>
                    <a:pt x="187" y="151"/>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grpSp>
      <p:sp>
        <p:nvSpPr>
          <p:cNvPr id="381" name="Google Shape;381;gd842e5c47e_0_467"/>
          <p:cNvSpPr txBox="1">
            <a:spLocks noGrp="1"/>
          </p:cNvSpPr>
          <p:nvPr>
            <p:ph type="title"/>
          </p:nvPr>
        </p:nvSpPr>
        <p:spPr>
          <a:xfrm>
            <a:off x="8841750" y="454175"/>
            <a:ext cx="2572200" cy="661800"/>
          </a:xfrm>
          <a:prstGeom prst="rect">
            <a:avLst/>
          </a:prstGeom>
          <a:noFill/>
          <a:ln>
            <a:noFill/>
          </a:ln>
        </p:spPr>
        <p:txBody>
          <a:bodyPr spcFirstLastPara="1" wrap="square" lIns="240000" tIns="45700" rIns="48000" bIns="45700" anchor="ctr" anchorCtr="0">
            <a:normAutofit/>
          </a:bodyPr>
          <a:lstStyle/>
          <a:p>
            <a:pPr marL="0" lvl="0" indent="0" algn="r" rtl="0">
              <a:lnSpc>
                <a:spcPct val="90000"/>
              </a:lnSpc>
              <a:spcBef>
                <a:spcPts val="0"/>
              </a:spcBef>
              <a:spcAft>
                <a:spcPts val="0"/>
              </a:spcAft>
              <a:buClr>
                <a:schemeClr val="dk1"/>
              </a:buClr>
              <a:buSzPts val="4400"/>
              <a:buFont typeface="Arial"/>
              <a:buNone/>
            </a:pPr>
            <a:r>
              <a:rPr lang="fr-FR" sz="3300" b="1">
                <a:solidFill>
                  <a:schemeClr val="dk2"/>
                </a:solidFill>
                <a:latin typeface="Calibri"/>
                <a:ea typeface="Calibri"/>
                <a:cs typeface="Calibri"/>
                <a:sym typeface="Calibri"/>
              </a:rPr>
              <a:t>QUI SUIS-JE?</a:t>
            </a:r>
            <a:endParaRPr sz="3300" b="1">
              <a:solidFill>
                <a:schemeClr val="dk2"/>
              </a:solidFill>
              <a:latin typeface="Calibri"/>
              <a:ea typeface="Calibri"/>
              <a:cs typeface="Calibri"/>
              <a:sym typeface="Calibri"/>
            </a:endParaRPr>
          </a:p>
        </p:txBody>
      </p:sp>
      <p:sp>
        <p:nvSpPr>
          <p:cNvPr id="382" name="Google Shape;382;gd842e5c47e_0_467"/>
          <p:cNvSpPr txBox="1"/>
          <p:nvPr/>
        </p:nvSpPr>
        <p:spPr>
          <a:xfrm>
            <a:off x="3200125" y="1196725"/>
            <a:ext cx="5522700" cy="4848600"/>
          </a:xfrm>
          <a:prstGeom prst="rect">
            <a:avLst/>
          </a:prstGeom>
          <a:noFill/>
          <a:ln>
            <a:noFill/>
          </a:ln>
        </p:spPr>
        <p:txBody>
          <a:bodyPr spcFirstLastPara="1" wrap="square" lIns="360000" tIns="0" rIns="0" bIns="0"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fr-FR" sz="2700" b="1" i="0" u="none" strike="noStrike" cap="none">
                <a:solidFill>
                  <a:srgbClr val="516482"/>
                </a:solidFill>
                <a:latin typeface="Calibri"/>
                <a:ea typeface="Calibri"/>
                <a:cs typeface="Calibri"/>
                <a:sym typeface="Calibri"/>
              </a:rPr>
              <a:t>Ma Vision</a:t>
            </a:r>
            <a:endParaRPr sz="2700" b="1" i="0" u="none" strike="noStrike" cap="none">
              <a:solidFill>
                <a:srgbClr val="51648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br>
              <a:rPr lang="fr-FR" sz="2400" b="1" i="0" u="none" strike="noStrike" cap="none">
                <a:solidFill>
                  <a:srgbClr val="516482"/>
                </a:solidFill>
                <a:latin typeface="Calibri"/>
                <a:ea typeface="Calibri"/>
                <a:cs typeface="Calibri"/>
                <a:sym typeface="Calibri"/>
              </a:rPr>
            </a:br>
            <a:r>
              <a:rPr lang="fr-FR" sz="2400" b="1" i="0" u="none" strike="noStrike" cap="none">
                <a:solidFill>
                  <a:srgbClr val="516482"/>
                </a:solidFill>
                <a:latin typeface="Calibri"/>
                <a:ea typeface="Calibri"/>
                <a:cs typeface="Calibri"/>
                <a:sym typeface="Calibri"/>
              </a:rPr>
              <a:t>La réussite de l’entreprise dans la durée passe par le bien-être de ses acteurs.</a:t>
            </a:r>
            <a:endParaRPr sz="2400" b="1" i="0" u="none" strike="noStrike" cap="none">
              <a:solidFill>
                <a:srgbClr val="51648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51648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516482"/>
                </a:solidFill>
                <a:latin typeface="Calibri"/>
                <a:ea typeface="Calibri"/>
                <a:cs typeface="Calibri"/>
                <a:sym typeface="Calibri"/>
              </a:rPr>
              <a:t>Concilier bien-être des salariés et réussite de l’entreprise est </a:t>
            </a:r>
            <a:r>
              <a:rPr lang="fr-FR" sz="2400" b="1" i="0" u="none" strike="noStrike" cap="none">
                <a:solidFill>
                  <a:srgbClr val="516482"/>
                </a:solidFill>
                <a:latin typeface="Calibri"/>
                <a:ea typeface="Calibri"/>
                <a:cs typeface="Calibri"/>
                <a:sym typeface="Calibri"/>
              </a:rPr>
              <a:t>LA </a:t>
            </a:r>
            <a:r>
              <a:rPr lang="fr-FR" sz="2400" b="0" i="0" u="none" strike="noStrike" cap="none">
                <a:solidFill>
                  <a:srgbClr val="516482"/>
                </a:solidFill>
                <a:latin typeface="Calibri"/>
                <a:ea typeface="Calibri"/>
                <a:cs typeface="Calibri"/>
                <a:sym typeface="Calibri"/>
              </a:rPr>
              <a:t>solution:</a:t>
            </a:r>
            <a:endParaRPr sz="2400" b="0" i="0" u="none" strike="noStrike" cap="none">
              <a:solidFill>
                <a:srgbClr val="516482"/>
              </a:solidFill>
              <a:latin typeface="Calibri"/>
              <a:ea typeface="Calibri"/>
              <a:cs typeface="Calibri"/>
              <a:sym typeface="Calibri"/>
            </a:endParaRPr>
          </a:p>
          <a:p>
            <a:pPr marL="304800" marR="0" lvl="0" indent="-228600" algn="l" rtl="0">
              <a:lnSpc>
                <a:spcPct val="100000"/>
              </a:lnSpc>
              <a:spcBef>
                <a:spcPts val="0"/>
              </a:spcBef>
              <a:spcAft>
                <a:spcPts val="0"/>
              </a:spcAft>
              <a:buClr>
                <a:srgbClr val="516482"/>
              </a:buClr>
              <a:buSzPts val="2400"/>
              <a:buFont typeface="Calibri"/>
              <a:buChar char="■"/>
            </a:pPr>
            <a:r>
              <a:rPr lang="fr-FR" sz="2400" b="0" i="0" u="none" strike="noStrike" cap="none">
                <a:solidFill>
                  <a:srgbClr val="516482"/>
                </a:solidFill>
                <a:latin typeface="Calibri"/>
                <a:ea typeface="Calibri"/>
                <a:cs typeface="Calibri"/>
                <a:sym typeface="Calibri"/>
              </a:rPr>
              <a:t>en </a:t>
            </a:r>
            <a:r>
              <a:rPr lang="fr-FR" sz="2400" b="1" i="1" u="none" strike="noStrike" cap="none">
                <a:solidFill>
                  <a:srgbClr val="516482"/>
                </a:solidFill>
                <a:latin typeface="Calibri"/>
                <a:ea typeface="Calibri"/>
                <a:cs typeface="Calibri"/>
                <a:sym typeface="Calibri"/>
              </a:rPr>
              <a:t>sécurisant </a:t>
            </a:r>
            <a:r>
              <a:rPr lang="fr-FR" sz="2400" b="0" i="0" u="none" strike="noStrike" cap="none">
                <a:solidFill>
                  <a:srgbClr val="516482"/>
                </a:solidFill>
                <a:latin typeface="Calibri"/>
                <a:ea typeface="Calibri"/>
                <a:cs typeface="Calibri"/>
                <a:sym typeface="Calibri"/>
              </a:rPr>
              <a:t>les aspects légaux</a:t>
            </a:r>
            <a:endParaRPr sz="2400" b="0" i="0" u="none" strike="noStrike" cap="none">
              <a:solidFill>
                <a:srgbClr val="516482"/>
              </a:solidFill>
              <a:latin typeface="Calibri"/>
              <a:ea typeface="Calibri"/>
              <a:cs typeface="Calibri"/>
              <a:sym typeface="Calibri"/>
            </a:endParaRPr>
          </a:p>
          <a:p>
            <a:pPr marL="304800" marR="0" lvl="0" indent="-228600" algn="l" rtl="0">
              <a:lnSpc>
                <a:spcPct val="100000"/>
              </a:lnSpc>
              <a:spcBef>
                <a:spcPts val="0"/>
              </a:spcBef>
              <a:spcAft>
                <a:spcPts val="0"/>
              </a:spcAft>
              <a:buClr>
                <a:srgbClr val="516482"/>
              </a:buClr>
              <a:buSzPts val="2400"/>
              <a:buFont typeface="Calibri"/>
              <a:buChar char="■"/>
            </a:pPr>
            <a:r>
              <a:rPr lang="fr-FR" sz="2400" b="0" i="0" u="none" strike="noStrike" cap="none">
                <a:solidFill>
                  <a:srgbClr val="516482"/>
                </a:solidFill>
                <a:latin typeface="Calibri"/>
                <a:ea typeface="Calibri"/>
                <a:cs typeface="Calibri"/>
                <a:sym typeface="Calibri"/>
              </a:rPr>
              <a:t>en </a:t>
            </a:r>
            <a:r>
              <a:rPr lang="fr-FR" sz="2400" b="1" i="1" u="none" strike="noStrike" cap="none">
                <a:solidFill>
                  <a:srgbClr val="516482"/>
                </a:solidFill>
                <a:latin typeface="Calibri"/>
                <a:ea typeface="Calibri"/>
                <a:cs typeface="Calibri"/>
                <a:sym typeface="Calibri"/>
              </a:rPr>
              <a:t>accompagnant </a:t>
            </a:r>
            <a:r>
              <a:rPr lang="fr-FR" sz="2400" b="0" i="0" u="none" strike="noStrike" cap="none">
                <a:solidFill>
                  <a:srgbClr val="516482"/>
                </a:solidFill>
                <a:latin typeface="Calibri"/>
                <a:ea typeface="Calibri"/>
                <a:cs typeface="Calibri"/>
                <a:sym typeface="Calibri"/>
              </a:rPr>
              <a:t>l’ensemble des acteurs de l’entreprise avec bienveillance</a:t>
            </a:r>
            <a:endParaRPr sz="2400" b="0" i="0" u="none" strike="noStrike" cap="none">
              <a:solidFill>
                <a:srgbClr val="516482"/>
              </a:solidFill>
              <a:latin typeface="Calibri"/>
              <a:ea typeface="Calibri"/>
              <a:cs typeface="Calibri"/>
              <a:sym typeface="Calibri"/>
            </a:endParaRPr>
          </a:p>
          <a:p>
            <a:pPr marL="304800" marR="0" lvl="0" indent="-228600" algn="l" rtl="0">
              <a:lnSpc>
                <a:spcPct val="100000"/>
              </a:lnSpc>
              <a:spcBef>
                <a:spcPts val="0"/>
              </a:spcBef>
              <a:spcAft>
                <a:spcPts val="0"/>
              </a:spcAft>
              <a:buClr>
                <a:srgbClr val="516482"/>
              </a:buClr>
              <a:buSzPts val="2400"/>
              <a:buFont typeface="Calibri"/>
              <a:buChar char="■"/>
            </a:pPr>
            <a:r>
              <a:rPr lang="fr-FR" sz="2400" b="0" i="0" u="none" strike="noStrike" cap="none">
                <a:solidFill>
                  <a:srgbClr val="516482"/>
                </a:solidFill>
                <a:latin typeface="Calibri"/>
                <a:ea typeface="Calibri"/>
                <a:cs typeface="Calibri"/>
                <a:sym typeface="Calibri"/>
              </a:rPr>
              <a:t>en </a:t>
            </a:r>
            <a:r>
              <a:rPr lang="fr-FR" sz="2400" b="1" i="1" u="none" strike="noStrike" cap="none">
                <a:solidFill>
                  <a:srgbClr val="516482"/>
                </a:solidFill>
                <a:latin typeface="Calibri"/>
                <a:ea typeface="Calibri"/>
                <a:cs typeface="Calibri"/>
                <a:sym typeface="Calibri"/>
              </a:rPr>
              <a:t>capitalisant </a:t>
            </a:r>
            <a:r>
              <a:rPr lang="fr-FR" sz="2400" b="0" i="0" u="none" strike="noStrike" cap="none">
                <a:solidFill>
                  <a:srgbClr val="516482"/>
                </a:solidFill>
                <a:latin typeface="Calibri"/>
                <a:ea typeface="Calibri"/>
                <a:cs typeface="Calibri"/>
                <a:sym typeface="Calibri"/>
              </a:rPr>
              <a:t>sur le bien-être </a:t>
            </a:r>
            <a:endParaRPr sz="2400" b="0" i="0" u="none" strike="noStrike" cap="none">
              <a:solidFill>
                <a:srgbClr val="516482"/>
              </a:solidFill>
              <a:latin typeface="Calibri"/>
              <a:ea typeface="Calibri"/>
              <a:cs typeface="Calibri"/>
              <a:sym typeface="Calibri"/>
            </a:endParaRPr>
          </a:p>
          <a:p>
            <a:pPr marL="304800" marR="0" lvl="0" indent="0" algn="l" rtl="0">
              <a:lnSpc>
                <a:spcPct val="100000"/>
              </a:lnSpc>
              <a:spcBef>
                <a:spcPts val="0"/>
              </a:spcBef>
              <a:spcAft>
                <a:spcPts val="0"/>
              </a:spcAft>
              <a:buClr>
                <a:srgbClr val="000000"/>
              </a:buClr>
              <a:buSzPts val="2400"/>
              <a:buFont typeface="Arial"/>
              <a:buNone/>
            </a:pPr>
            <a:r>
              <a:rPr lang="fr-FR" sz="2400" b="0" i="0" u="none" strike="noStrike" cap="none">
                <a:solidFill>
                  <a:srgbClr val="516482"/>
                </a:solidFill>
                <a:latin typeface="Calibri"/>
                <a:ea typeface="Calibri"/>
                <a:cs typeface="Calibri"/>
                <a:sym typeface="Calibri"/>
              </a:rPr>
              <a:t>de chacun.</a:t>
            </a:r>
            <a:endParaRPr sz="2400" b="0" i="0" u="none" strike="noStrike" cap="none">
              <a:solidFill>
                <a:srgbClr val="516482"/>
              </a:solidFill>
              <a:latin typeface="Calibri"/>
              <a:ea typeface="Calibri"/>
              <a:cs typeface="Calibri"/>
              <a:sym typeface="Calibri"/>
            </a:endParaRPr>
          </a:p>
        </p:txBody>
      </p:sp>
      <p:pic>
        <p:nvPicPr>
          <p:cNvPr id="383" name="Google Shape;383;gd842e5c47e_0_467"/>
          <p:cNvPicPr preferRelativeResize="0"/>
          <p:nvPr/>
        </p:nvPicPr>
        <p:blipFill rotWithShape="1">
          <a:blip r:embed="rId3">
            <a:alphaModFix/>
          </a:blip>
          <a:srcRect/>
          <a:stretch/>
        </p:blipFill>
        <p:spPr>
          <a:xfrm>
            <a:off x="8436700" y="88100"/>
            <a:ext cx="617474" cy="875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gd842e5c47e_0_1275"/>
          <p:cNvGrpSpPr/>
          <p:nvPr/>
        </p:nvGrpSpPr>
        <p:grpSpPr>
          <a:xfrm>
            <a:off x="8063703" y="2018751"/>
            <a:ext cx="4128303" cy="4839240"/>
            <a:chOff x="2698508" y="1540875"/>
            <a:chExt cx="3409848" cy="3596611"/>
          </a:xfrm>
        </p:grpSpPr>
        <p:sp>
          <p:nvSpPr>
            <p:cNvPr id="389" name="Google Shape;389;gd842e5c47e_0_1275"/>
            <p:cNvSpPr/>
            <p:nvPr/>
          </p:nvSpPr>
          <p:spPr>
            <a:xfrm>
              <a:off x="3158459" y="1540875"/>
              <a:ext cx="957322" cy="728994"/>
            </a:xfrm>
            <a:custGeom>
              <a:avLst/>
              <a:gdLst/>
              <a:ahLst/>
              <a:cxnLst/>
              <a:rect l="l" t="t" r="r" b="b"/>
              <a:pathLst>
                <a:path w="312" h="238" extrusionOk="0">
                  <a:moveTo>
                    <a:pt x="287" y="191"/>
                  </a:moveTo>
                  <a:cubicBezTo>
                    <a:pt x="231" y="238"/>
                    <a:pt x="159" y="236"/>
                    <a:pt x="118" y="163"/>
                  </a:cubicBezTo>
                  <a:cubicBezTo>
                    <a:pt x="88" y="107"/>
                    <a:pt x="58" y="57"/>
                    <a:pt x="0" y="23"/>
                  </a:cubicBezTo>
                  <a:cubicBezTo>
                    <a:pt x="88" y="0"/>
                    <a:pt x="169" y="3"/>
                    <a:pt x="238" y="55"/>
                  </a:cubicBezTo>
                  <a:cubicBezTo>
                    <a:pt x="238" y="55"/>
                    <a:pt x="312" y="99"/>
                    <a:pt x="295" y="177"/>
                  </a:cubicBezTo>
                  <a:cubicBezTo>
                    <a:pt x="237" y="111"/>
                    <a:pt x="159" y="67"/>
                    <a:pt x="77" y="39"/>
                  </a:cubicBezTo>
                  <a:cubicBezTo>
                    <a:pt x="173" y="79"/>
                    <a:pt x="237" y="127"/>
                    <a:pt x="287" y="191"/>
                  </a:cubicBezTo>
                  <a:close/>
                </a:path>
              </a:pathLst>
            </a:custGeom>
            <a:solidFill>
              <a:schemeClr val="dk2"/>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0" name="Google Shape;390;gd842e5c47e_0_1275"/>
            <p:cNvSpPr/>
            <p:nvPr/>
          </p:nvSpPr>
          <p:spPr>
            <a:xfrm>
              <a:off x="2698508" y="3521074"/>
              <a:ext cx="728951" cy="1039248"/>
            </a:xfrm>
            <a:custGeom>
              <a:avLst/>
              <a:gdLst/>
              <a:ahLst/>
              <a:cxnLst/>
              <a:rect l="l" t="t" r="r" b="b"/>
              <a:pathLst>
                <a:path w="265" h="378" extrusionOk="0">
                  <a:moveTo>
                    <a:pt x="240" y="75"/>
                  </a:moveTo>
                  <a:cubicBezTo>
                    <a:pt x="265" y="141"/>
                    <a:pt x="240" y="189"/>
                    <a:pt x="190" y="215"/>
                  </a:cubicBezTo>
                  <a:cubicBezTo>
                    <a:pt x="122" y="249"/>
                    <a:pt x="71" y="304"/>
                    <a:pt x="35" y="378"/>
                  </a:cubicBezTo>
                  <a:cubicBezTo>
                    <a:pt x="17" y="274"/>
                    <a:pt x="0" y="159"/>
                    <a:pt x="67" y="64"/>
                  </a:cubicBezTo>
                  <a:cubicBezTo>
                    <a:pt x="112" y="0"/>
                    <a:pt x="169" y="0"/>
                    <a:pt x="229" y="60"/>
                  </a:cubicBezTo>
                  <a:cubicBezTo>
                    <a:pt x="139" y="105"/>
                    <a:pt x="80" y="195"/>
                    <a:pt x="50" y="294"/>
                  </a:cubicBezTo>
                  <a:cubicBezTo>
                    <a:pt x="94" y="179"/>
                    <a:pt x="156" y="113"/>
                    <a:pt x="240" y="75"/>
                  </a:cubicBezTo>
                  <a:close/>
                </a:path>
              </a:pathLst>
            </a:custGeom>
            <a:solidFill>
              <a:schemeClr val="accent6"/>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1" name="Google Shape;391;gd842e5c47e_0_1275"/>
            <p:cNvSpPr/>
            <p:nvPr/>
          </p:nvSpPr>
          <p:spPr>
            <a:xfrm rot="-666128">
              <a:off x="5113145" y="2402818"/>
              <a:ext cx="934096" cy="725555"/>
            </a:xfrm>
            <a:custGeom>
              <a:avLst/>
              <a:gdLst/>
              <a:ahLst/>
              <a:cxnLst/>
              <a:rect l="l" t="t" r="r" b="b"/>
              <a:pathLst>
                <a:path w="369" h="231" extrusionOk="0">
                  <a:moveTo>
                    <a:pt x="0" y="100"/>
                  </a:moveTo>
                  <a:cubicBezTo>
                    <a:pt x="22" y="186"/>
                    <a:pt x="90" y="231"/>
                    <a:pt x="175" y="189"/>
                  </a:cubicBezTo>
                  <a:cubicBezTo>
                    <a:pt x="235" y="160"/>
                    <a:pt x="295" y="134"/>
                    <a:pt x="369" y="142"/>
                  </a:cubicBezTo>
                  <a:cubicBezTo>
                    <a:pt x="303" y="60"/>
                    <a:pt x="224" y="8"/>
                    <a:pt x="128" y="6"/>
                  </a:cubicBezTo>
                  <a:cubicBezTo>
                    <a:pt x="128" y="6"/>
                    <a:pt x="34" y="0"/>
                    <a:pt x="2" y="82"/>
                  </a:cubicBezTo>
                  <a:cubicBezTo>
                    <a:pt x="96" y="62"/>
                    <a:pt x="196" y="74"/>
                    <a:pt x="288" y="104"/>
                  </a:cubicBezTo>
                  <a:cubicBezTo>
                    <a:pt x="175" y="76"/>
                    <a:pt x="86" y="78"/>
                    <a:pt x="0" y="100"/>
                  </a:cubicBezTo>
                  <a:close/>
                </a:path>
              </a:pathLst>
            </a:custGeom>
            <a:solidFill>
              <a:schemeClr val="accent2"/>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2" name="Google Shape;392;gd842e5c47e_0_1275"/>
            <p:cNvSpPr/>
            <p:nvPr/>
          </p:nvSpPr>
          <p:spPr>
            <a:xfrm>
              <a:off x="3655464" y="2242747"/>
              <a:ext cx="199259" cy="344663"/>
            </a:xfrm>
            <a:custGeom>
              <a:avLst/>
              <a:gdLst/>
              <a:ahLst/>
              <a:cxnLst/>
              <a:rect l="l" t="t" r="r" b="b"/>
              <a:pathLst>
                <a:path w="100" h="172" extrusionOk="0">
                  <a:moveTo>
                    <a:pt x="39" y="170"/>
                  </a:moveTo>
                  <a:cubicBezTo>
                    <a:pt x="11" y="156"/>
                    <a:pt x="0" y="130"/>
                    <a:pt x="11" y="106"/>
                  </a:cubicBezTo>
                  <a:cubicBezTo>
                    <a:pt x="24" y="72"/>
                    <a:pt x="24" y="36"/>
                    <a:pt x="15" y="0"/>
                  </a:cubicBezTo>
                  <a:cubicBezTo>
                    <a:pt x="51" y="28"/>
                    <a:pt x="90" y="62"/>
                    <a:pt x="96" y="116"/>
                  </a:cubicBezTo>
                  <a:cubicBezTo>
                    <a:pt x="100" y="152"/>
                    <a:pt x="86" y="172"/>
                    <a:pt x="49" y="170"/>
                  </a:cubicBezTo>
                  <a:cubicBezTo>
                    <a:pt x="53" y="130"/>
                    <a:pt x="51" y="80"/>
                    <a:pt x="34" y="32"/>
                  </a:cubicBezTo>
                  <a:cubicBezTo>
                    <a:pt x="51" y="86"/>
                    <a:pt x="49" y="128"/>
                    <a:pt x="39" y="170"/>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3" name="Google Shape;393;gd842e5c47e_0_1275"/>
            <p:cNvSpPr/>
            <p:nvPr/>
          </p:nvSpPr>
          <p:spPr>
            <a:xfrm>
              <a:off x="4184194" y="2870249"/>
              <a:ext cx="199259" cy="341073"/>
            </a:xfrm>
            <a:custGeom>
              <a:avLst/>
              <a:gdLst/>
              <a:ahLst/>
              <a:cxnLst/>
              <a:rect l="l" t="t" r="r" b="b"/>
              <a:pathLst>
                <a:path w="100" h="171" extrusionOk="0">
                  <a:moveTo>
                    <a:pt x="40" y="169"/>
                  </a:moveTo>
                  <a:cubicBezTo>
                    <a:pt x="11" y="155"/>
                    <a:pt x="0" y="129"/>
                    <a:pt x="11" y="105"/>
                  </a:cubicBezTo>
                  <a:cubicBezTo>
                    <a:pt x="25" y="71"/>
                    <a:pt x="25" y="35"/>
                    <a:pt x="15" y="0"/>
                  </a:cubicBezTo>
                  <a:cubicBezTo>
                    <a:pt x="51" y="27"/>
                    <a:pt x="90" y="61"/>
                    <a:pt x="96" y="115"/>
                  </a:cubicBezTo>
                  <a:cubicBezTo>
                    <a:pt x="100" y="151"/>
                    <a:pt x="87" y="171"/>
                    <a:pt x="49" y="169"/>
                  </a:cubicBezTo>
                  <a:cubicBezTo>
                    <a:pt x="53" y="129"/>
                    <a:pt x="51" y="79"/>
                    <a:pt x="34" y="31"/>
                  </a:cubicBezTo>
                  <a:cubicBezTo>
                    <a:pt x="51" y="85"/>
                    <a:pt x="49" y="127"/>
                    <a:pt x="40" y="169"/>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4" name="Google Shape;394;gd842e5c47e_0_1275"/>
            <p:cNvSpPr/>
            <p:nvPr/>
          </p:nvSpPr>
          <p:spPr>
            <a:xfrm>
              <a:off x="3233285" y="3066584"/>
              <a:ext cx="184152" cy="307344"/>
            </a:xfrm>
            <a:custGeom>
              <a:avLst/>
              <a:gdLst/>
              <a:ahLst/>
              <a:cxnLst/>
              <a:rect l="l" t="t" r="r" b="b"/>
              <a:pathLst>
                <a:path w="130" h="217" extrusionOk="0">
                  <a:moveTo>
                    <a:pt x="80" y="217"/>
                  </a:moveTo>
                  <a:cubicBezTo>
                    <a:pt x="119" y="204"/>
                    <a:pt x="130" y="171"/>
                    <a:pt x="119" y="138"/>
                  </a:cubicBezTo>
                  <a:cubicBezTo>
                    <a:pt x="106" y="91"/>
                    <a:pt x="109" y="47"/>
                    <a:pt x="125" y="0"/>
                  </a:cubicBezTo>
                  <a:cubicBezTo>
                    <a:pt x="75" y="33"/>
                    <a:pt x="21" y="71"/>
                    <a:pt x="7" y="140"/>
                  </a:cubicBezTo>
                  <a:cubicBezTo>
                    <a:pt x="0" y="187"/>
                    <a:pt x="21" y="215"/>
                    <a:pt x="73" y="217"/>
                  </a:cubicBezTo>
                  <a:cubicBezTo>
                    <a:pt x="54" y="157"/>
                    <a:pt x="67" y="94"/>
                    <a:pt x="96" y="38"/>
                  </a:cubicBezTo>
                  <a:cubicBezTo>
                    <a:pt x="67" y="107"/>
                    <a:pt x="65" y="162"/>
                    <a:pt x="80" y="217"/>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5" name="Google Shape;395;gd842e5c47e_0_1275"/>
            <p:cNvSpPr/>
            <p:nvPr/>
          </p:nvSpPr>
          <p:spPr>
            <a:xfrm>
              <a:off x="4126750" y="2583030"/>
              <a:ext cx="262088" cy="206439"/>
            </a:xfrm>
            <a:custGeom>
              <a:avLst/>
              <a:gdLst/>
              <a:ahLst/>
              <a:cxnLst/>
              <a:rect l="l" t="t" r="r" b="b"/>
              <a:pathLst>
                <a:path w="130" h="103" extrusionOk="0">
                  <a:moveTo>
                    <a:pt x="116" y="84"/>
                  </a:moveTo>
                  <a:cubicBezTo>
                    <a:pt x="91" y="103"/>
                    <a:pt x="63" y="101"/>
                    <a:pt x="46" y="69"/>
                  </a:cubicBezTo>
                  <a:cubicBezTo>
                    <a:pt x="35" y="47"/>
                    <a:pt x="23" y="24"/>
                    <a:pt x="0" y="10"/>
                  </a:cubicBezTo>
                  <a:cubicBezTo>
                    <a:pt x="37" y="0"/>
                    <a:pt x="70" y="5"/>
                    <a:pt x="98" y="27"/>
                  </a:cubicBezTo>
                  <a:cubicBezTo>
                    <a:pt x="98" y="27"/>
                    <a:pt x="130" y="44"/>
                    <a:pt x="121" y="76"/>
                  </a:cubicBezTo>
                  <a:cubicBezTo>
                    <a:pt x="98" y="52"/>
                    <a:pt x="65" y="29"/>
                    <a:pt x="32" y="17"/>
                  </a:cubicBezTo>
                  <a:cubicBezTo>
                    <a:pt x="70" y="37"/>
                    <a:pt x="95" y="57"/>
                    <a:pt x="116" y="84"/>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6" name="Google Shape;396;gd842e5c47e_0_1275"/>
            <p:cNvSpPr/>
            <p:nvPr/>
          </p:nvSpPr>
          <p:spPr>
            <a:xfrm>
              <a:off x="4250674" y="2169198"/>
              <a:ext cx="455960" cy="342869"/>
            </a:xfrm>
            <a:custGeom>
              <a:avLst/>
              <a:gdLst/>
              <a:ahLst/>
              <a:cxnLst/>
              <a:rect l="l" t="t" r="r" b="b"/>
              <a:pathLst>
                <a:path w="228" h="171" extrusionOk="0">
                  <a:moveTo>
                    <a:pt x="187" y="151"/>
                  </a:moveTo>
                  <a:cubicBezTo>
                    <a:pt x="151" y="171"/>
                    <a:pt x="120" y="157"/>
                    <a:pt x="103" y="127"/>
                  </a:cubicBezTo>
                  <a:cubicBezTo>
                    <a:pt x="80" y="85"/>
                    <a:pt x="45" y="54"/>
                    <a:pt x="0" y="34"/>
                  </a:cubicBezTo>
                  <a:cubicBezTo>
                    <a:pt x="58" y="15"/>
                    <a:pt x="126" y="0"/>
                    <a:pt x="183" y="39"/>
                  </a:cubicBezTo>
                  <a:cubicBezTo>
                    <a:pt x="223" y="64"/>
                    <a:pt x="228" y="103"/>
                    <a:pt x="194" y="144"/>
                  </a:cubicBezTo>
                  <a:cubicBezTo>
                    <a:pt x="163" y="87"/>
                    <a:pt x="109" y="55"/>
                    <a:pt x="48" y="39"/>
                  </a:cubicBezTo>
                  <a:cubicBezTo>
                    <a:pt x="118" y="62"/>
                    <a:pt x="160" y="99"/>
                    <a:pt x="187" y="151"/>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7" name="Google Shape;397;gd842e5c47e_0_1275"/>
            <p:cNvSpPr/>
            <p:nvPr/>
          </p:nvSpPr>
          <p:spPr>
            <a:xfrm>
              <a:off x="4914807" y="2100143"/>
              <a:ext cx="529561" cy="384156"/>
            </a:xfrm>
            <a:custGeom>
              <a:avLst/>
              <a:gdLst/>
              <a:ahLst/>
              <a:cxnLst/>
              <a:rect l="l" t="t" r="r" b="b"/>
              <a:pathLst>
                <a:path w="264" h="192" extrusionOk="0">
                  <a:moveTo>
                    <a:pt x="8" y="136"/>
                  </a:moveTo>
                  <a:cubicBezTo>
                    <a:pt x="49" y="186"/>
                    <a:pt x="108" y="192"/>
                    <a:pt x="149" y="138"/>
                  </a:cubicBezTo>
                  <a:cubicBezTo>
                    <a:pt x="181" y="96"/>
                    <a:pt x="213" y="58"/>
                    <a:pt x="264" y="40"/>
                  </a:cubicBezTo>
                  <a:cubicBezTo>
                    <a:pt x="196" y="8"/>
                    <a:pt x="128" y="0"/>
                    <a:pt x="64" y="32"/>
                  </a:cubicBezTo>
                  <a:cubicBezTo>
                    <a:pt x="64" y="32"/>
                    <a:pt x="0" y="58"/>
                    <a:pt x="2" y="124"/>
                  </a:cubicBezTo>
                  <a:cubicBezTo>
                    <a:pt x="61" y="78"/>
                    <a:pt x="128" y="52"/>
                    <a:pt x="200" y="42"/>
                  </a:cubicBezTo>
                  <a:cubicBezTo>
                    <a:pt x="115" y="60"/>
                    <a:pt x="57" y="92"/>
                    <a:pt x="8" y="136"/>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8" name="Google Shape;398;gd842e5c47e_0_1275"/>
            <p:cNvSpPr/>
            <p:nvPr/>
          </p:nvSpPr>
          <p:spPr>
            <a:xfrm>
              <a:off x="5270241" y="3082438"/>
              <a:ext cx="132839" cy="201053"/>
            </a:xfrm>
            <a:custGeom>
              <a:avLst/>
              <a:gdLst/>
              <a:ahLst/>
              <a:cxnLst/>
              <a:rect l="l" t="t" r="r" b="b"/>
              <a:pathLst>
                <a:path w="66" h="100" extrusionOk="0">
                  <a:moveTo>
                    <a:pt x="30" y="100"/>
                  </a:moveTo>
                  <a:cubicBezTo>
                    <a:pt x="13" y="94"/>
                    <a:pt x="6" y="80"/>
                    <a:pt x="8" y="64"/>
                  </a:cubicBezTo>
                  <a:cubicBezTo>
                    <a:pt x="13" y="42"/>
                    <a:pt x="10" y="20"/>
                    <a:pt x="0" y="0"/>
                  </a:cubicBezTo>
                  <a:cubicBezTo>
                    <a:pt x="25" y="12"/>
                    <a:pt x="51" y="28"/>
                    <a:pt x="60" y="60"/>
                  </a:cubicBezTo>
                  <a:cubicBezTo>
                    <a:pt x="66" y="80"/>
                    <a:pt x="59" y="94"/>
                    <a:pt x="34" y="98"/>
                  </a:cubicBezTo>
                  <a:cubicBezTo>
                    <a:pt x="40" y="70"/>
                    <a:pt x="30" y="42"/>
                    <a:pt x="15" y="18"/>
                  </a:cubicBezTo>
                  <a:cubicBezTo>
                    <a:pt x="32" y="48"/>
                    <a:pt x="36" y="72"/>
                    <a:pt x="30" y="100"/>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399" name="Google Shape;399;gd842e5c47e_0_1275"/>
            <p:cNvSpPr/>
            <p:nvPr/>
          </p:nvSpPr>
          <p:spPr>
            <a:xfrm>
              <a:off x="3196878" y="1929606"/>
              <a:ext cx="2209794" cy="3207880"/>
            </a:xfrm>
            <a:custGeom>
              <a:avLst/>
              <a:gdLst/>
              <a:ahLst/>
              <a:cxnLst/>
              <a:rect l="l" t="t" r="r" b="b"/>
              <a:pathLst>
                <a:path w="1102" h="1601" extrusionOk="0">
                  <a:moveTo>
                    <a:pt x="935" y="802"/>
                  </a:moveTo>
                  <a:cubicBezTo>
                    <a:pt x="1004" y="772"/>
                    <a:pt x="1064" y="712"/>
                    <a:pt x="1068" y="631"/>
                  </a:cubicBezTo>
                  <a:cubicBezTo>
                    <a:pt x="1047" y="762"/>
                    <a:pt x="933" y="762"/>
                    <a:pt x="859" y="776"/>
                  </a:cubicBezTo>
                  <a:cubicBezTo>
                    <a:pt x="800" y="786"/>
                    <a:pt x="766" y="801"/>
                    <a:pt x="733" y="833"/>
                  </a:cubicBezTo>
                  <a:cubicBezTo>
                    <a:pt x="740" y="815"/>
                    <a:pt x="747" y="795"/>
                    <a:pt x="756" y="774"/>
                  </a:cubicBezTo>
                  <a:cubicBezTo>
                    <a:pt x="769" y="741"/>
                    <a:pt x="780" y="707"/>
                    <a:pt x="787" y="673"/>
                  </a:cubicBezTo>
                  <a:cubicBezTo>
                    <a:pt x="837" y="539"/>
                    <a:pt x="931" y="384"/>
                    <a:pt x="1102" y="378"/>
                  </a:cubicBezTo>
                  <a:cubicBezTo>
                    <a:pt x="1000" y="373"/>
                    <a:pt x="882" y="453"/>
                    <a:pt x="799" y="562"/>
                  </a:cubicBezTo>
                  <a:cubicBezTo>
                    <a:pt x="799" y="517"/>
                    <a:pt x="795" y="472"/>
                    <a:pt x="784" y="427"/>
                  </a:cubicBezTo>
                  <a:cubicBezTo>
                    <a:pt x="779" y="342"/>
                    <a:pt x="802" y="248"/>
                    <a:pt x="899" y="191"/>
                  </a:cubicBezTo>
                  <a:cubicBezTo>
                    <a:pt x="839" y="221"/>
                    <a:pt x="785" y="279"/>
                    <a:pt x="763" y="361"/>
                  </a:cubicBezTo>
                  <a:cubicBezTo>
                    <a:pt x="746" y="315"/>
                    <a:pt x="722" y="271"/>
                    <a:pt x="690" y="229"/>
                  </a:cubicBezTo>
                  <a:cubicBezTo>
                    <a:pt x="803" y="411"/>
                    <a:pt x="773" y="565"/>
                    <a:pt x="721" y="695"/>
                  </a:cubicBezTo>
                  <a:cubicBezTo>
                    <a:pt x="713" y="559"/>
                    <a:pt x="646" y="447"/>
                    <a:pt x="558" y="380"/>
                  </a:cubicBezTo>
                  <a:cubicBezTo>
                    <a:pt x="696" y="522"/>
                    <a:pt x="690" y="728"/>
                    <a:pt x="641" y="869"/>
                  </a:cubicBezTo>
                  <a:cubicBezTo>
                    <a:pt x="614" y="927"/>
                    <a:pt x="596" y="967"/>
                    <a:pt x="590" y="1012"/>
                  </a:cubicBezTo>
                  <a:cubicBezTo>
                    <a:pt x="552" y="943"/>
                    <a:pt x="518" y="871"/>
                    <a:pt x="493" y="807"/>
                  </a:cubicBezTo>
                  <a:cubicBezTo>
                    <a:pt x="549" y="704"/>
                    <a:pt x="539" y="595"/>
                    <a:pt x="539" y="595"/>
                  </a:cubicBezTo>
                  <a:cubicBezTo>
                    <a:pt x="540" y="660"/>
                    <a:pt x="494" y="719"/>
                    <a:pt x="471" y="746"/>
                  </a:cubicBezTo>
                  <a:cubicBezTo>
                    <a:pt x="466" y="731"/>
                    <a:pt x="462" y="717"/>
                    <a:pt x="459" y="704"/>
                  </a:cubicBezTo>
                  <a:cubicBezTo>
                    <a:pt x="417" y="531"/>
                    <a:pt x="425" y="253"/>
                    <a:pt x="605" y="0"/>
                  </a:cubicBezTo>
                  <a:cubicBezTo>
                    <a:pt x="558" y="58"/>
                    <a:pt x="511" y="131"/>
                    <a:pt x="474" y="213"/>
                  </a:cubicBezTo>
                  <a:cubicBezTo>
                    <a:pt x="462" y="127"/>
                    <a:pt x="415" y="60"/>
                    <a:pt x="357" y="22"/>
                  </a:cubicBezTo>
                  <a:cubicBezTo>
                    <a:pt x="457" y="97"/>
                    <a:pt x="461" y="209"/>
                    <a:pt x="440" y="298"/>
                  </a:cubicBezTo>
                  <a:cubicBezTo>
                    <a:pt x="398" y="414"/>
                    <a:pt x="376" y="541"/>
                    <a:pt x="391" y="665"/>
                  </a:cubicBezTo>
                  <a:cubicBezTo>
                    <a:pt x="395" y="695"/>
                    <a:pt x="406" y="786"/>
                    <a:pt x="423" y="846"/>
                  </a:cubicBezTo>
                  <a:cubicBezTo>
                    <a:pt x="321" y="706"/>
                    <a:pt x="254" y="499"/>
                    <a:pt x="282" y="227"/>
                  </a:cubicBezTo>
                  <a:cubicBezTo>
                    <a:pt x="267" y="310"/>
                    <a:pt x="263" y="406"/>
                    <a:pt x="271" y="507"/>
                  </a:cubicBezTo>
                  <a:cubicBezTo>
                    <a:pt x="192" y="422"/>
                    <a:pt x="86" y="400"/>
                    <a:pt x="0" y="422"/>
                  </a:cubicBezTo>
                  <a:cubicBezTo>
                    <a:pt x="143" y="398"/>
                    <a:pt x="233" y="482"/>
                    <a:pt x="276" y="569"/>
                  </a:cubicBezTo>
                  <a:cubicBezTo>
                    <a:pt x="289" y="663"/>
                    <a:pt x="310" y="754"/>
                    <a:pt x="346" y="842"/>
                  </a:cubicBezTo>
                  <a:cubicBezTo>
                    <a:pt x="301" y="826"/>
                    <a:pt x="256" y="822"/>
                    <a:pt x="212" y="826"/>
                  </a:cubicBezTo>
                  <a:cubicBezTo>
                    <a:pt x="139" y="798"/>
                    <a:pt x="67" y="740"/>
                    <a:pt x="54" y="627"/>
                  </a:cubicBezTo>
                  <a:cubicBezTo>
                    <a:pt x="58" y="702"/>
                    <a:pt x="96" y="784"/>
                    <a:pt x="167" y="836"/>
                  </a:cubicBezTo>
                  <a:cubicBezTo>
                    <a:pt x="114" y="850"/>
                    <a:pt x="64" y="876"/>
                    <a:pt x="22" y="913"/>
                  </a:cubicBezTo>
                  <a:cubicBezTo>
                    <a:pt x="188" y="850"/>
                    <a:pt x="303" y="870"/>
                    <a:pt x="389" y="929"/>
                  </a:cubicBezTo>
                  <a:cubicBezTo>
                    <a:pt x="404" y="955"/>
                    <a:pt x="421" y="983"/>
                    <a:pt x="440" y="1007"/>
                  </a:cubicBezTo>
                  <a:cubicBezTo>
                    <a:pt x="578" y="1192"/>
                    <a:pt x="661" y="1342"/>
                    <a:pt x="655" y="1517"/>
                  </a:cubicBezTo>
                  <a:cubicBezTo>
                    <a:pt x="653" y="1533"/>
                    <a:pt x="632" y="1582"/>
                    <a:pt x="485" y="1601"/>
                  </a:cubicBezTo>
                  <a:cubicBezTo>
                    <a:pt x="978" y="1601"/>
                    <a:pt x="978" y="1601"/>
                    <a:pt x="978" y="1601"/>
                  </a:cubicBezTo>
                  <a:cubicBezTo>
                    <a:pt x="978" y="1601"/>
                    <a:pt x="865" y="1568"/>
                    <a:pt x="843" y="1513"/>
                  </a:cubicBezTo>
                  <a:cubicBezTo>
                    <a:pt x="843" y="1513"/>
                    <a:pt x="843" y="1513"/>
                    <a:pt x="843" y="1513"/>
                  </a:cubicBezTo>
                  <a:cubicBezTo>
                    <a:pt x="836" y="1386"/>
                    <a:pt x="791" y="1260"/>
                    <a:pt x="707" y="1144"/>
                  </a:cubicBezTo>
                  <a:cubicBezTo>
                    <a:pt x="692" y="1093"/>
                    <a:pt x="685" y="1050"/>
                    <a:pt x="688" y="1006"/>
                  </a:cubicBezTo>
                  <a:cubicBezTo>
                    <a:pt x="721" y="915"/>
                    <a:pt x="766" y="845"/>
                    <a:pt x="874" y="822"/>
                  </a:cubicBezTo>
                  <a:cubicBezTo>
                    <a:pt x="876" y="822"/>
                    <a:pt x="876" y="822"/>
                    <a:pt x="876" y="822"/>
                  </a:cubicBezTo>
                  <a:cubicBezTo>
                    <a:pt x="953" y="822"/>
                    <a:pt x="1040" y="848"/>
                    <a:pt x="1091" y="949"/>
                  </a:cubicBezTo>
                  <a:cubicBezTo>
                    <a:pt x="1064" y="886"/>
                    <a:pt x="1010" y="828"/>
                    <a:pt x="935" y="802"/>
                  </a:cubicBezTo>
                  <a:close/>
                </a:path>
              </a:pathLst>
            </a:custGeom>
            <a:solidFill>
              <a:srgbClr val="BFBFBF"/>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00" name="Google Shape;400;gd842e5c47e_0_1275"/>
            <p:cNvSpPr/>
            <p:nvPr/>
          </p:nvSpPr>
          <p:spPr>
            <a:xfrm rot="10012446">
              <a:off x="5296837" y="3738667"/>
              <a:ext cx="184152" cy="307344"/>
            </a:xfrm>
            <a:custGeom>
              <a:avLst/>
              <a:gdLst/>
              <a:ahLst/>
              <a:cxnLst/>
              <a:rect l="l" t="t" r="r" b="b"/>
              <a:pathLst>
                <a:path w="130" h="217" extrusionOk="0">
                  <a:moveTo>
                    <a:pt x="80" y="217"/>
                  </a:moveTo>
                  <a:cubicBezTo>
                    <a:pt x="119" y="204"/>
                    <a:pt x="130" y="171"/>
                    <a:pt x="119" y="138"/>
                  </a:cubicBezTo>
                  <a:cubicBezTo>
                    <a:pt x="106" y="91"/>
                    <a:pt x="109" y="47"/>
                    <a:pt x="125" y="0"/>
                  </a:cubicBezTo>
                  <a:cubicBezTo>
                    <a:pt x="75" y="33"/>
                    <a:pt x="21" y="71"/>
                    <a:pt x="7" y="140"/>
                  </a:cubicBezTo>
                  <a:cubicBezTo>
                    <a:pt x="0" y="187"/>
                    <a:pt x="21" y="215"/>
                    <a:pt x="73" y="217"/>
                  </a:cubicBezTo>
                  <a:cubicBezTo>
                    <a:pt x="54" y="157"/>
                    <a:pt x="67" y="94"/>
                    <a:pt x="96" y="38"/>
                  </a:cubicBezTo>
                  <a:cubicBezTo>
                    <a:pt x="67" y="107"/>
                    <a:pt x="65" y="162"/>
                    <a:pt x="80" y="217"/>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01" name="Google Shape;401;gd842e5c47e_0_1275"/>
            <p:cNvSpPr/>
            <p:nvPr/>
          </p:nvSpPr>
          <p:spPr>
            <a:xfrm rot="1704946">
              <a:off x="4341653" y="1696650"/>
              <a:ext cx="199259" cy="341073"/>
            </a:xfrm>
            <a:custGeom>
              <a:avLst/>
              <a:gdLst/>
              <a:ahLst/>
              <a:cxnLst/>
              <a:rect l="l" t="t" r="r" b="b"/>
              <a:pathLst>
                <a:path w="100" h="171" extrusionOk="0">
                  <a:moveTo>
                    <a:pt x="40" y="169"/>
                  </a:moveTo>
                  <a:cubicBezTo>
                    <a:pt x="11" y="155"/>
                    <a:pt x="0" y="129"/>
                    <a:pt x="11" y="105"/>
                  </a:cubicBezTo>
                  <a:cubicBezTo>
                    <a:pt x="25" y="71"/>
                    <a:pt x="25" y="35"/>
                    <a:pt x="15" y="0"/>
                  </a:cubicBezTo>
                  <a:cubicBezTo>
                    <a:pt x="51" y="27"/>
                    <a:pt x="90" y="61"/>
                    <a:pt x="96" y="115"/>
                  </a:cubicBezTo>
                  <a:cubicBezTo>
                    <a:pt x="100" y="151"/>
                    <a:pt x="87" y="171"/>
                    <a:pt x="49" y="169"/>
                  </a:cubicBezTo>
                  <a:cubicBezTo>
                    <a:pt x="53" y="129"/>
                    <a:pt x="51" y="79"/>
                    <a:pt x="34" y="31"/>
                  </a:cubicBezTo>
                  <a:cubicBezTo>
                    <a:pt x="51" y="85"/>
                    <a:pt x="49" y="127"/>
                    <a:pt x="40" y="169"/>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02" name="Google Shape;402;gd842e5c47e_0_1275"/>
            <p:cNvSpPr/>
            <p:nvPr/>
          </p:nvSpPr>
          <p:spPr>
            <a:xfrm rot="-3832174">
              <a:off x="2908506" y="2669226"/>
              <a:ext cx="455960" cy="342869"/>
            </a:xfrm>
            <a:custGeom>
              <a:avLst/>
              <a:gdLst/>
              <a:ahLst/>
              <a:cxnLst/>
              <a:rect l="l" t="t" r="r" b="b"/>
              <a:pathLst>
                <a:path w="228" h="171" extrusionOk="0">
                  <a:moveTo>
                    <a:pt x="187" y="151"/>
                  </a:moveTo>
                  <a:cubicBezTo>
                    <a:pt x="151" y="171"/>
                    <a:pt x="120" y="157"/>
                    <a:pt x="103" y="127"/>
                  </a:cubicBezTo>
                  <a:cubicBezTo>
                    <a:pt x="80" y="85"/>
                    <a:pt x="45" y="54"/>
                    <a:pt x="0" y="34"/>
                  </a:cubicBezTo>
                  <a:cubicBezTo>
                    <a:pt x="58" y="15"/>
                    <a:pt x="126" y="0"/>
                    <a:pt x="183" y="39"/>
                  </a:cubicBezTo>
                  <a:cubicBezTo>
                    <a:pt x="223" y="64"/>
                    <a:pt x="228" y="103"/>
                    <a:pt x="194" y="144"/>
                  </a:cubicBezTo>
                  <a:cubicBezTo>
                    <a:pt x="163" y="87"/>
                    <a:pt x="109" y="55"/>
                    <a:pt x="48" y="39"/>
                  </a:cubicBezTo>
                  <a:cubicBezTo>
                    <a:pt x="118" y="62"/>
                    <a:pt x="160" y="99"/>
                    <a:pt x="187" y="151"/>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grpSp>
      <p:sp>
        <p:nvSpPr>
          <p:cNvPr id="403" name="Google Shape;403;gd842e5c47e_0_1275"/>
          <p:cNvSpPr txBox="1"/>
          <p:nvPr/>
        </p:nvSpPr>
        <p:spPr>
          <a:xfrm>
            <a:off x="3214724" y="1158875"/>
            <a:ext cx="5061300" cy="5095800"/>
          </a:xfrm>
          <a:prstGeom prst="rect">
            <a:avLst/>
          </a:prstGeom>
          <a:noFill/>
          <a:ln>
            <a:noFill/>
          </a:ln>
        </p:spPr>
        <p:txBody>
          <a:bodyPr spcFirstLastPara="1" wrap="square" lIns="360000" tIns="0" rIns="0" bIns="0" anchor="t" anchorCtr="0">
            <a:spAutoFit/>
          </a:bodyPr>
          <a:lstStyle/>
          <a:p>
            <a:pPr marL="0" marR="0" lvl="0" indent="0" algn="l" rtl="0">
              <a:lnSpc>
                <a:spcPct val="115000"/>
              </a:lnSpc>
              <a:spcBef>
                <a:spcPts val="0"/>
              </a:spcBef>
              <a:spcAft>
                <a:spcPts val="0"/>
              </a:spcAft>
              <a:buClr>
                <a:schemeClr val="accent4"/>
              </a:buClr>
              <a:buSzPts val="1600"/>
              <a:buFont typeface="Calibri"/>
              <a:buNone/>
            </a:pPr>
            <a:r>
              <a:rPr lang="fr-FR" sz="2700" b="1" i="0" u="none" strike="noStrike" cap="none">
                <a:solidFill>
                  <a:srgbClr val="516482"/>
                </a:solidFill>
                <a:latin typeface="Calibri"/>
                <a:ea typeface="Calibri"/>
                <a:cs typeface="Calibri"/>
                <a:sym typeface="Calibri"/>
              </a:rPr>
              <a:t>Mes Missions</a:t>
            </a:r>
            <a:endParaRPr sz="2700" b="1" i="0" u="none" strike="noStrike" cap="none">
              <a:solidFill>
                <a:srgbClr val="516482"/>
              </a:solidFill>
              <a:latin typeface="Calibri"/>
              <a:ea typeface="Calibri"/>
              <a:cs typeface="Calibri"/>
              <a:sym typeface="Calibri"/>
            </a:endParaRPr>
          </a:p>
          <a:p>
            <a:pPr marL="0" marR="0" lvl="0" indent="0" algn="l" rtl="0">
              <a:lnSpc>
                <a:spcPct val="115000"/>
              </a:lnSpc>
              <a:spcBef>
                <a:spcPts val="0"/>
              </a:spcBef>
              <a:spcAft>
                <a:spcPts val="0"/>
              </a:spcAft>
              <a:buClr>
                <a:schemeClr val="accent4"/>
              </a:buClr>
              <a:buSzPts val="1600"/>
              <a:buFont typeface="Calibri"/>
              <a:buNone/>
            </a:pPr>
            <a:endParaRPr sz="2400" b="1" i="0" u="none" strike="noStrike" cap="none">
              <a:solidFill>
                <a:srgbClr val="516482"/>
              </a:solidFill>
              <a:latin typeface="Calibri"/>
              <a:ea typeface="Calibri"/>
              <a:cs typeface="Calibri"/>
              <a:sym typeface="Calibri"/>
            </a:endParaRPr>
          </a:p>
          <a:p>
            <a:pPr marL="304800" marR="0" lvl="0" indent="-184150" algn="l" rtl="0">
              <a:lnSpc>
                <a:spcPct val="115000"/>
              </a:lnSpc>
              <a:spcBef>
                <a:spcPts val="0"/>
              </a:spcBef>
              <a:spcAft>
                <a:spcPts val="0"/>
              </a:spcAft>
              <a:buClr>
                <a:srgbClr val="516482"/>
              </a:buClr>
              <a:buSzPts val="1700"/>
              <a:buFont typeface="Calibri"/>
              <a:buChar char="■"/>
            </a:pPr>
            <a:r>
              <a:rPr lang="fr-FR" sz="2400" b="0" i="0" u="none" strike="noStrike" cap="none">
                <a:solidFill>
                  <a:srgbClr val="516482"/>
                </a:solidFill>
                <a:latin typeface="Calibri"/>
                <a:ea typeface="Calibri"/>
                <a:cs typeface="Calibri"/>
                <a:sym typeface="Calibri"/>
              </a:rPr>
              <a:t>Apporter du </a:t>
            </a:r>
            <a:r>
              <a:rPr lang="fr-FR" sz="2400" b="1" i="1" u="none" strike="noStrike" cap="none">
                <a:solidFill>
                  <a:srgbClr val="516482"/>
                </a:solidFill>
                <a:latin typeface="Calibri"/>
                <a:ea typeface="Calibri"/>
                <a:cs typeface="Calibri"/>
                <a:sym typeface="Calibri"/>
              </a:rPr>
              <a:t>conseil </a:t>
            </a:r>
            <a:r>
              <a:rPr lang="fr-FR" sz="2400" b="0" i="0" u="none" strike="noStrike" cap="none">
                <a:solidFill>
                  <a:srgbClr val="516482"/>
                </a:solidFill>
                <a:latin typeface="Calibri"/>
                <a:ea typeface="Calibri"/>
                <a:cs typeface="Calibri"/>
                <a:sym typeface="Calibri"/>
              </a:rPr>
              <a:t>RH </a:t>
            </a:r>
            <a:endParaRPr sz="2400" b="0" i="0" u="none" strike="noStrike" cap="none">
              <a:solidFill>
                <a:srgbClr val="516482"/>
              </a:solidFill>
              <a:latin typeface="Calibri"/>
              <a:ea typeface="Calibri"/>
              <a:cs typeface="Calibri"/>
              <a:sym typeface="Calibri"/>
            </a:endParaRPr>
          </a:p>
          <a:p>
            <a:pPr marL="304800" marR="0" lvl="0" indent="-184150" algn="l" rtl="0">
              <a:lnSpc>
                <a:spcPct val="115000"/>
              </a:lnSpc>
              <a:spcBef>
                <a:spcPts val="0"/>
              </a:spcBef>
              <a:spcAft>
                <a:spcPts val="0"/>
              </a:spcAft>
              <a:buClr>
                <a:srgbClr val="516482"/>
              </a:buClr>
              <a:buSzPts val="1700"/>
              <a:buFont typeface="Calibri"/>
              <a:buChar char="■"/>
            </a:pPr>
            <a:r>
              <a:rPr lang="fr-FR" sz="2400" b="0" i="0" u="none" strike="noStrike" cap="none">
                <a:solidFill>
                  <a:srgbClr val="516482"/>
                </a:solidFill>
                <a:latin typeface="Calibri"/>
                <a:ea typeface="Calibri"/>
                <a:cs typeface="Calibri"/>
                <a:sym typeface="Calibri"/>
              </a:rPr>
              <a:t>Etablir un </a:t>
            </a:r>
            <a:r>
              <a:rPr lang="fr-FR" sz="2400" b="1" i="1" u="none" strike="noStrike" cap="none">
                <a:solidFill>
                  <a:srgbClr val="516482"/>
                </a:solidFill>
                <a:latin typeface="Calibri"/>
                <a:ea typeface="Calibri"/>
                <a:cs typeface="Calibri"/>
                <a:sym typeface="Calibri"/>
              </a:rPr>
              <a:t>diagnostic </a:t>
            </a:r>
            <a:r>
              <a:rPr lang="fr-FR" sz="2400" b="0" i="0" u="none" strike="noStrike" cap="none">
                <a:solidFill>
                  <a:srgbClr val="516482"/>
                </a:solidFill>
                <a:latin typeface="Calibri"/>
                <a:ea typeface="Calibri"/>
                <a:cs typeface="Calibri"/>
                <a:sym typeface="Calibri"/>
              </a:rPr>
              <a:t>de votre situation RH et définir une </a:t>
            </a:r>
            <a:r>
              <a:rPr lang="fr-FR" sz="2400" b="1" i="1" u="none" strike="noStrike" cap="none">
                <a:solidFill>
                  <a:srgbClr val="516482"/>
                </a:solidFill>
                <a:latin typeface="Calibri"/>
                <a:ea typeface="Calibri"/>
                <a:cs typeface="Calibri"/>
                <a:sym typeface="Calibri"/>
              </a:rPr>
              <a:t>stratégie </a:t>
            </a:r>
            <a:r>
              <a:rPr lang="fr-FR" sz="2400" b="0" i="0" u="none" strike="noStrike" cap="none">
                <a:solidFill>
                  <a:srgbClr val="516482"/>
                </a:solidFill>
                <a:latin typeface="Calibri"/>
                <a:ea typeface="Calibri"/>
                <a:cs typeface="Calibri"/>
                <a:sym typeface="Calibri"/>
              </a:rPr>
              <a:t>avec vous</a:t>
            </a:r>
            <a:endParaRPr sz="2400" b="0" i="0" u="none" strike="noStrike" cap="none">
              <a:solidFill>
                <a:srgbClr val="516482"/>
              </a:solidFill>
              <a:latin typeface="Calibri"/>
              <a:ea typeface="Calibri"/>
              <a:cs typeface="Calibri"/>
              <a:sym typeface="Calibri"/>
            </a:endParaRPr>
          </a:p>
          <a:p>
            <a:pPr marL="304800" marR="0" lvl="0" indent="-184150" algn="l" rtl="0">
              <a:lnSpc>
                <a:spcPct val="115000"/>
              </a:lnSpc>
              <a:spcBef>
                <a:spcPts val="0"/>
              </a:spcBef>
              <a:spcAft>
                <a:spcPts val="0"/>
              </a:spcAft>
              <a:buClr>
                <a:srgbClr val="516482"/>
              </a:buClr>
              <a:buSzPts val="1700"/>
              <a:buFont typeface="Calibri"/>
              <a:buChar char="■"/>
            </a:pPr>
            <a:r>
              <a:rPr lang="fr-FR" sz="2400" b="0" i="0" u="none" strike="noStrike" cap="none">
                <a:solidFill>
                  <a:srgbClr val="516482"/>
                </a:solidFill>
                <a:latin typeface="Calibri"/>
                <a:ea typeface="Calibri"/>
                <a:cs typeface="Calibri"/>
                <a:sym typeface="Calibri"/>
              </a:rPr>
              <a:t>Incarner une représentation</a:t>
            </a:r>
            <a:br>
              <a:rPr lang="fr-FR" sz="2400" b="0" i="0" u="none" strike="noStrike" cap="none">
                <a:solidFill>
                  <a:srgbClr val="516482"/>
                </a:solidFill>
                <a:latin typeface="Calibri"/>
                <a:ea typeface="Calibri"/>
                <a:cs typeface="Calibri"/>
                <a:sym typeface="Calibri"/>
              </a:rPr>
            </a:br>
            <a:r>
              <a:rPr lang="fr-FR" sz="2400" b="1" i="1" u="none" strike="noStrike" cap="none">
                <a:solidFill>
                  <a:srgbClr val="516482"/>
                </a:solidFill>
                <a:latin typeface="Calibri"/>
                <a:ea typeface="Calibri"/>
                <a:cs typeface="Calibri"/>
                <a:sym typeface="Calibri"/>
              </a:rPr>
              <a:t>neutre </a:t>
            </a:r>
            <a:r>
              <a:rPr lang="fr-FR" sz="2400" b="0" i="0" u="none" strike="noStrike" cap="none">
                <a:solidFill>
                  <a:srgbClr val="516482"/>
                </a:solidFill>
                <a:latin typeface="Calibri"/>
                <a:ea typeface="Calibri"/>
                <a:cs typeface="Calibri"/>
                <a:sym typeface="Calibri"/>
              </a:rPr>
              <a:t>de la fonction RH </a:t>
            </a:r>
            <a:endParaRPr sz="2400" b="0" i="0" u="none" strike="noStrike" cap="none">
              <a:solidFill>
                <a:srgbClr val="516482"/>
              </a:solidFill>
              <a:latin typeface="Calibri"/>
              <a:ea typeface="Calibri"/>
              <a:cs typeface="Calibri"/>
              <a:sym typeface="Calibri"/>
            </a:endParaRPr>
          </a:p>
          <a:p>
            <a:pPr marL="304800" marR="0" lvl="0" indent="-184150" algn="l" rtl="0">
              <a:lnSpc>
                <a:spcPct val="115000"/>
              </a:lnSpc>
              <a:spcBef>
                <a:spcPts val="0"/>
              </a:spcBef>
              <a:spcAft>
                <a:spcPts val="0"/>
              </a:spcAft>
              <a:buClr>
                <a:srgbClr val="516482"/>
              </a:buClr>
              <a:buSzPts val="1700"/>
              <a:buFont typeface="Calibri"/>
              <a:buChar char="■"/>
            </a:pPr>
            <a:r>
              <a:rPr lang="fr-FR" sz="2400" b="0" i="0" u="none" strike="noStrike" cap="none">
                <a:solidFill>
                  <a:srgbClr val="516482"/>
                </a:solidFill>
                <a:latin typeface="Calibri"/>
                <a:ea typeface="Calibri"/>
                <a:cs typeface="Calibri"/>
                <a:sym typeface="Calibri"/>
              </a:rPr>
              <a:t>Mettre en place les </a:t>
            </a:r>
            <a:r>
              <a:rPr lang="fr-FR" sz="2400" b="1" i="1" u="none" strike="noStrike" cap="none">
                <a:solidFill>
                  <a:srgbClr val="516482"/>
                </a:solidFill>
                <a:latin typeface="Calibri"/>
                <a:ea typeface="Calibri"/>
                <a:cs typeface="Calibri"/>
                <a:sym typeface="Calibri"/>
              </a:rPr>
              <a:t>plans d’actions</a:t>
            </a:r>
            <a:r>
              <a:rPr lang="fr-FR" sz="2400" b="0" i="0" u="none" strike="noStrike" cap="none">
                <a:solidFill>
                  <a:srgbClr val="516482"/>
                </a:solidFill>
                <a:latin typeface="Calibri"/>
                <a:ea typeface="Calibri"/>
                <a:cs typeface="Calibri"/>
                <a:sym typeface="Calibri"/>
              </a:rPr>
              <a:t> pour atteindre vos objectifs</a:t>
            </a:r>
            <a:endParaRPr sz="2400" b="0" i="0" u="none" strike="noStrike" cap="none">
              <a:solidFill>
                <a:srgbClr val="516482"/>
              </a:solidFill>
              <a:latin typeface="Calibri"/>
              <a:ea typeface="Calibri"/>
              <a:cs typeface="Calibri"/>
              <a:sym typeface="Calibri"/>
            </a:endParaRPr>
          </a:p>
          <a:p>
            <a:pPr marL="304800" marR="0" lvl="0" indent="-184150" algn="l" rtl="0">
              <a:lnSpc>
                <a:spcPct val="115000"/>
              </a:lnSpc>
              <a:spcBef>
                <a:spcPts val="0"/>
              </a:spcBef>
              <a:spcAft>
                <a:spcPts val="0"/>
              </a:spcAft>
              <a:buClr>
                <a:srgbClr val="516482"/>
              </a:buClr>
              <a:buSzPts val="1700"/>
              <a:buFont typeface="Calibri"/>
              <a:buChar char="■"/>
            </a:pPr>
            <a:r>
              <a:rPr lang="fr-FR" sz="2400" b="0" i="0" u="none" strike="noStrike" cap="none">
                <a:solidFill>
                  <a:srgbClr val="516482"/>
                </a:solidFill>
                <a:latin typeface="Calibri"/>
                <a:ea typeface="Calibri"/>
                <a:cs typeface="Calibri"/>
                <a:sym typeface="Calibri"/>
              </a:rPr>
              <a:t>Mener des </a:t>
            </a:r>
            <a:r>
              <a:rPr lang="fr-FR" sz="2400" b="1" i="1" u="none" strike="noStrike" cap="none">
                <a:solidFill>
                  <a:srgbClr val="516482"/>
                </a:solidFill>
                <a:latin typeface="Calibri"/>
                <a:ea typeface="Calibri"/>
                <a:cs typeface="Calibri"/>
                <a:sym typeface="Calibri"/>
              </a:rPr>
              <a:t>projets RH</a:t>
            </a:r>
            <a:br>
              <a:rPr lang="fr-FR" sz="2400" b="0" i="0" u="none" strike="noStrike" cap="none">
                <a:solidFill>
                  <a:srgbClr val="516482"/>
                </a:solidFill>
                <a:latin typeface="Calibri"/>
                <a:ea typeface="Calibri"/>
                <a:cs typeface="Calibri"/>
                <a:sym typeface="Calibri"/>
              </a:rPr>
            </a:br>
            <a:r>
              <a:rPr lang="fr-FR" sz="2400" b="0" i="0" u="none" strike="noStrike" cap="none">
                <a:solidFill>
                  <a:srgbClr val="516482"/>
                </a:solidFill>
                <a:latin typeface="Calibri"/>
                <a:ea typeface="Calibri"/>
                <a:cs typeface="Calibri"/>
                <a:sym typeface="Calibri"/>
              </a:rPr>
              <a:t>d’envergures variées</a:t>
            </a:r>
            <a:endParaRPr sz="2400" b="0" i="0" u="none" strike="noStrike" cap="none">
              <a:solidFill>
                <a:srgbClr val="516482"/>
              </a:solidFill>
              <a:latin typeface="Calibri"/>
              <a:ea typeface="Calibri"/>
              <a:cs typeface="Calibri"/>
              <a:sym typeface="Calibri"/>
            </a:endParaRPr>
          </a:p>
        </p:txBody>
      </p:sp>
      <p:sp>
        <p:nvSpPr>
          <p:cNvPr id="404" name="Google Shape;404;gd842e5c47e_0_1275"/>
          <p:cNvSpPr txBox="1">
            <a:spLocks noGrp="1"/>
          </p:cNvSpPr>
          <p:nvPr>
            <p:ph type="title"/>
          </p:nvPr>
        </p:nvSpPr>
        <p:spPr>
          <a:xfrm>
            <a:off x="8841750" y="454175"/>
            <a:ext cx="2572200" cy="661800"/>
          </a:xfrm>
          <a:prstGeom prst="rect">
            <a:avLst/>
          </a:prstGeom>
          <a:noFill/>
          <a:ln>
            <a:noFill/>
          </a:ln>
        </p:spPr>
        <p:txBody>
          <a:bodyPr spcFirstLastPara="1" wrap="square" lIns="240000" tIns="45700" rIns="48000" bIns="45700" anchor="ctr" anchorCtr="0">
            <a:normAutofit/>
          </a:bodyPr>
          <a:lstStyle/>
          <a:p>
            <a:pPr marL="0" lvl="0" indent="0" algn="r" rtl="0">
              <a:lnSpc>
                <a:spcPct val="90000"/>
              </a:lnSpc>
              <a:spcBef>
                <a:spcPts val="0"/>
              </a:spcBef>
              <a:spcAft>
                <a:spcPts val="0"/>
              </a:spcAft>
              <a:buClr>
                <a:schemeClr val="dk1"/>
              </a:buClr>
              <a:buSzPts val="4400"/>
              <a:buFont typeface="Arial"/>
              <a:buNone/>
            </a:pPr>
            <a:r>
              <a:rPr lang="fr-FR" sz="3300" b="1">
                <a:solidFill>
                  <a:schemeClr val="dk2"/>
                </a:solidFill>
                <a:latin typeface="Calibri"/>
                <a:ea typeface="Calibri"/>
                <a:cs typeface="Calibri"/>
                <a:sym typeface="Calibri"/>
              </a:rPr>
              <a:t>QUI SUIS-JE?</a:t>
            </a:r>
            <a:endParaRPr sz="3300" b="1">
              <a:solidFill>
                <a:schemeClr val="dk2"/>
              </a:solidFill>
              <a:latin typeface="Calibri"/>
              <a:ea typeface="Calibri"/>
              <a:cs typeface="Calibri"/>
              <a:sym typeface="Calibri"/>
            </a:endParaRPr>
          </a:p>
        </p:txBody>
      </p:sp>
      <p:pic>
        <p:nvPicPr>
          <p:cNvPr id="405" name="Google Shape;405;gd842e5c47e_0_1275"/>
          <p:cNvPicPr preferRelativeResize="0"/>
          <p:nvPr/>
        </p:nvPicPr>
        <p:blipFill rotWithShape="1">
          <a:blip r:embed="rId3">
            <a:alphaModFix/>
          </a:blip>
          <a:srcRect/>
          <a:stretch/>
        </p:blipFill>
        <p:spPr>
          <a:xfrm>
            <a:off x="8436700" y="88100"/>
            <a:ext cx="617474" cy="875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grpSp>
        <p:nvGrpSpPr>
          <p:cNvPr id="410" name="Google Shape;410;gd842e5c47e_0_1298"/>
          <p:cNvGrpSpPr/>
          <p:nvPr/>
        </p:nvGrpSpPr>
        <p:grpSpPr>
          <a:xfrm>
            <a:off x="8063703" y="2018751"/>
            <a:ext cx="4128303" cy="4839240"/>
            <a:chOff x="2698508" y="1540875"/>
            <a:chExt cx="3409848" cy="3596611"/>
          </a:xfrm>
        </p:grpSpPr>
        <p:sp>
          <p:nvSpPr>
            <p:cNvPr id="411" name="Google Shape;411;gd842e5c47e_0_1298"/>
            <p:cNvSpPr/>
            <p:nvPr/>
          </p:nvSpPr>
          <p:spPr>
            <a:xfrm>
              <a:off x="3158459" y="1540875"/>
              <a:ext cx="957322" cy="728994"/>
            </a:xfrm>
            <a:custGeom>
              <a:avLst/>
              <a:gdLst/>
              <a:ahLst/>
              <a:cxnLst/>
              <a:rect l="l" t="t" r="r" b="b"/>
              <a:pathLst>
                <a:path w="312" h="238" extrusionOk="0">
                  <a:moveTo>
                    <a:pt x="287" y="191"/>
                  </a:moveTo>
                  <a:cubicBezTo>
                    <a:pt x="231" y="238"/>
                    <a:pt x="159" y="236"/>
                    <a:pt x="118" y="163"/>
                  </a:cubicBezTo>
                  <a:cubicBezTo>
                    <a:pt x="88" y="107"/>
                    <a:pt x="58" y="57"/>
                    <a:pt x="0" y="23"/>
                  </a:cubicBezTo>
                  <a:cubicBezTo>
                    <a:pt x="88" y="0"/>
                    <a:pt x="169" y="3"/>
                    <a:pt x="238" y="55"/>
                  </a:cubicBezTo>
                  <a:cubicBezTo>
                    <a:pt x="238" y="55"/>
                    <a:pt x="312" y="99"/>
                    <a:pt x="295" y="177"/>
                  </a:cubicBezTo>
                  <a:cubicBezTo>
                    <a:pt x="237" y="111"/>
                    <a:pt x="159" y="67"/>
                    <a:pt x="77" y="39"/>
                  </a:cubicBezTo>
                  <a:cubicBezTo>
                    <a:pt x="173" y="79"/>
                    <a:pt x="237" y="127"/>
                    <a:pt x="287" y="191"/>
                  </a:cubicBezTo>
                  <a:close/>
                </a:path>
              </a:pathLst>
            </a:custGeom>
            <a:solidFill>
              <a:schemeClr val="dk2"/>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2" name="Google Shape;412;gd842e5c47e_0_1298"/>
            <p:cNvSpPr/>
            <p:nvPr/>
          </p:nvSpPr>
          <p:spPr>
            <a:xfrm>
              <a:off x="2698508" y="3521074"/>
              <a:ext cx="728951" cy="1039248"/>
            </a:xfrm>
            <a:custGeom>
              <a:avLst/>
              <a:gdLst/>
              <a:ahLst/>
              <a:cxnLst/>
              <a:rect l="l" t="t" r="r" b="b"/>
              <a:pathLst>
                <a:path w="265" h="378" extrusionOk="0">
                  <a:moveTo>
                    <a:pt x="240" y="75"/>
                  </a:moveTo>
                  <a:cubicBezTo>
                    <a:pt x="265" y="141"/>
                    <a:pt x="240" y="189"/>
                    <a:pt x="190" y="215"/>
                  </a:cubicBezTo>
                  <a:cubicBezTo>
                    <a:pt x="122" y="249"/>
                    <a:pt x="71" y="304"/>
                    <a:pt x="35" y="378"/>
                  </a:cubicBezTo>
                  <a:cubicBezTo>
                    <a:pt x="17" y="274"/>
                    <a:pt x="0" y="159"/>
                    <a:pt x="67" y="64"/>
                  </a:cubicBezTo>
                  <a:cubicBezTo>
                    <a:pt x="112" y="0"/>
                    <a:pt x="169" y="0"/>
                    <a:pt x="229" y="60"/>
                  </a:cubicBezTo>
                  <a:cubicBezTo>
                    <a:pt x="139" y="105"/>
                    <a:pt x="80" y="195"/>
                    <a:pt x="50" y="294"/>
                  </a:cubicBezTo>
                  <a:cubicBezTo>
                    <a:pt x="94" y="179"/>
                    <a:pt x="156" y="113"/>
                    <a:pt x="240" y="75"/>
                  </a:cubicBezTo>
                  <a:close/>
                </a:path>
              </a:pathLst>
            </a:custGeom>
            <a:solidFill>
              <a:schemeClr val="accent6"/>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3" name="Google Shape;413;gd842e5c47e_0_1298"/>
            <p:cNvSpPr/>
            <p:nvPr/>
          </p:nvSpPr>
          <p:spPr>
            <a:xfrm rot="-666128">
              <a:off x="5113145" y="2402818"/>
              <a:ext cx="934096" cy="725555"/>
            </a:xfrm>
            <a:custGeom>
              <a:avLst/>
              <a:gdLst/>
              <a:ahLst/>
              <a:cxnLst/>
              <a:rect l="l" t="t" r="r" b="b"/>
              <a:pathLst>
                <a:path w="369" h="231" extrusionOk="0">
                  <a:moveTo>
                    <a:pt x="0" y="100"/>
                  </a:moveTo>
                  <a:cubicBezTo>
                    <a:pt x="22" y="186"/>
                    <a:pt x="90" y="231"/>
                    <a:pt x="175" y="189"/>
                  </a:cubicBezTo>
                  <a:cubicBezTo>
                    <a:pt x="235" y="160"/>
                    <a:pt x="295" y="134"/>
                    <a:pt x="369" y="142"/>
                  </a:cubicBezTo>
                  <a:cubicBezTo>
                    <a:pt x="303" y="60"/>
                    <a:pt x="224" y="8"/>
                    <a:pt x="128" y="6"/>
                  </a:cubicBezTo>
                  <a:cubicBezTo>
                    <a:pt x="128" y="6"/>
                    <a:pt x="34" y="0"/>
                    <a:pt x="2" y="82"/>
                  </a:cubicBezTo>
                  <a:cubicBezTo>
                    <a:pt x="96" y="62"/>
                    <a:pt x="196" y="74"/>
                    <a:pt x="288" y="104"/>
                  </a:cubicBezTo>
                  <a:cubicBezTo>
                    <a:pt x="175" y="76"/>
                    <a:pt x="86" y="78"/>
                    <a:pt x="0" y="100"/>
                  </a:cubicBezTo>
                  <a:close/>
                </a:path>
              </a:pathLst>
            </a:custGeom>
            <a:solidFill>
              <a:schemeClr val="accent2"/>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4" name="Google Shape;414;gd842e5c47e_0_1298"/>
            <p:cNvSpPr/>
            <p:nvPr/>
          </p:nvSpPr>
          <p:spPr>
            <a:xfrm>
              <a:off x="3655464" y="2242747"/>
              <a:ext cx="199259" cy="344663"/>
            </a:xfrm>
            <a:custGeom>
              <a:avLst/>
              <a:gdLst/>
              <a:ahLst/>
              <a:cxnLst/>
              <a:rect l="l" t="t" r="r" b="b"/>
              <a:pathLst>
                <a:path w="100" h="172" extrusionOk="0">
                  <a:moveTo>
                    <a:pt x="39" y="170"/>
                  </a:moveTo>
                  <a:cubicBezTo>
                    <a:pt x="11" y="156"/>
                    <a:pt x="0" y="130"/>
                    <a:pt x="11" y="106"/>
                  </a:cubicBezTo>
                  <a:cubicBezTo>
                    <a:pt x="24" y="72"/>
                    <a:pt x="24" y="36"/>
                    <a:pt x="15" y="0"/>
                  </a:cubicBezTo>
                  <a:cubicBezTo>
                    <a:pt x="51" y="28"/>
                    <a:pt x="90" y="62"/>
                    <a:pt x="96" y="116"/>
                  </a:cubicBezTo>
                  <a:cubicBezTo>
                    <a:pt x="100" y="152"/>
                    <a:pt x="86" y="172"/>
                    <a:pt x="49" y="170"/>
                  </a:cubicBezTo>
                  <a:cubicBezTo>
                    <a:pt x="53" y="130"/>
                    <a:pt x="51" y="80"/>
                    <a:pt x="34" y="32"/>
                  </a:cubicBezTo>
                  <a:cubicBezTo>
                    <a:pt x="51" y="86"/>
                    <a:pt x="49" y="128"/>
                    <a:pt x="39" y="170"/>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5" name="Google Shape;415;gd842e5c47e_0_1298"/>
            <p:cNvSpPr/>
            <p:nvPr/>
          </p:nvSpPr>
          <p:spPr>
            <a:xfrm>
              <a:off x="4184194" y="2870249"/>
              <a:ext cx="199259" cy="341073"/>
            </a:xfrm>
            <a:custGeom>
              <a:avLst/>
              <a:gdLst/>
              <a:ahLst/>
              <a:cxnLst/>
              <a:rect l="l" t="t" r="r" b="b"/>
              <a:pathLst>
                <a:path w="100" h="171" extrusionOk="0">
                  <a:moveTo>
                    <a:pt x="40" y="169"/>
                  </a:moveTo>
                  <a:cubicBezTo>
                    <a:pt x="11" y="155"/>
                    <a:pt x="0" y="129"/>
                    <a:pt x="11" y="105"/>
                  </a:cubicBezTo>
                  <a:cubicBezTo>
                    <a:pt x="25" y="71"/>
                    <a:pt x="25" y="35"/>
                    <a:pt x="15" y="0"/>
                  </a:cubicBezTo>
                  <a:cubicBezTo>
                    <a:pt x="51" y="27"/>
                    <a:pt x="90" y="61"/>
                    <a:pt x="96" y="115"/>
                  </a:cubicBezTo>
                  <a:cubicBezTo>
                    <a:pt x="100" y="151"/>
                    <a:pt x="87" y="171"/>
                    <a:pt x="49" y="169"/>
                  </a:cubicBezTo>
                  <a:cubicBezTo>
                    <a:pt x="53" y="129"/>
                    <a:pt x="51" y="79"/>
                    <a:pt x="34" y="31"/>
                  </a:cubicBezTo>
                  <a:cubicBezTo>
                    <a:pt x="51" y="85"/>
                    <a:pt x="49" y="127"/>
                    <a:pt x="40" y="169"/>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6" name="Google Shape;416;gd842e5c47e_0_1298"/>
            <p:cNvSpPr/>
            <p:nvPr/>
          </p:nvSpPr>
          <p:spPr>
            <a:xfrm>
              <a:off x="3233285" y="3066584"/>
              <a:ext cx="184152" cy="307344"/>
            </a:xfrm>
            <a:custGeom>
              <a:avLst/>
              <a:gdLst/>
              <a:ahLst/>
              <a:cxnLst/>
              <a:rect l="l" t="t" r="r" b="b"/>
              <a:pathLst>
                <a:path w="130" h="217" extrusionOk="0">
                  <a:moveTo>
                    <a:pt x="80" y="217"/>
                  </a:moveTo>
                  <a:cubicBezTo>
                    <a:pt x="119" y="204"/>
                    <a:pt x="130" y="171"/>
                    <a:pt x="119" y="138"/>
                  </a:cubicBezTo>
                  <a:cubicBezTo>
                    <a:pt x="106" y="91"/>
                    <a:pt x="109" y="47"/>
                    <a:pt x="125" y="0"/>
                  </a:cubicBezTo>
                  <a:cubicBezTo>
                    <a:pt x="75" y="33"/>
                    <a:pt x="21" y="71"/>
                    <a:pt x="7" y="140"/>
                  </a:cubicBezTo>
                  <a:cubicBezTo>
                    <a:pt x="0" y="187"/>
                    <a:pt x="21" y="215"/>
                    <a:pt x="73" y="217"/>
                  </a:cubicBezTo>
                  <a:cubicBezTo>
                    <a:pt x="54" y="157"/>
                    <a:pt x="67" y="94"/>
                    <a:pt x="96" y="38"/>
                  </a:cubicBezTo>
                  <a:cubicBezTo>
                    <a:pt x="67" y="107"/>
                    <a:pt x="65" y="162"/>
                    <a:pt x="80" y="217"/>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7" name="Google Shape;417;gd842e5c47e_0_1298"/>
            <p:cNvSpPr/>
            <p:nvPr/>
          </p:nvSpPr>
          <p:spPr>
            <a:xfrm>
              <a:off x="4126750" y="2583030"/>
              <a:ext cx="262088" cy="206439"/>
            </a:xfrm>
            <a:custGeom>
              <a:avLst/>
              <a:gdLst/>
              <a:ahLst/>
              <a:cxnLst/>
              <a:rect l="l" t="t" r="r" b="b"/>
              <a:pathLst>
                <a:path w="130" h="103" extrusionOk="0">
                  <a:moveTo>
                    <a:pt x="116" y="84"/>
                  </a:moveTo>
                  <a:cubicBezTo>
                    <a:pt x="91" y="103"/>
                    <a:pt x="63" y="101"/>
                    <a:pt x="46" y="69"/>
                  </a:cubicBezTo>
                  <a:cubicBezTo>
                    <a:pt x="35" y="47"/>
                    <a:pt x="23" y="24"/>
                    <a:pt x="0" y="10"/>
                  </a:cubicBezTo>
                  <a:cubicBezTo>
                    <a:pt x="37" y="0"/>
                    <a:pt x="70" y="5"/>
                    <a:pt x="98" y="27"/>
                  </a:cubicBezTo>
                  <a:cubicBezTo>
                    <a:pt x="98" y="27"/>
                    <a:pt x="130" y="44"/>
                    <a:pt x="121" y="76"/>
                  </a:cubicBezTo>
                  <a:cubicBezTo>
                    <a:pt x="98" y="52"/>
                    <a:pt x="65" y="29"/>
                    <a:pt x="32" y="17"/>
                  </a:cubicBezTo>
                  <a:cubicBezTo>
                    <a:pt x="70" y="37"/>
                    <a:pt x="95" y="57"/>
                    <a:pt x="116" y="84"/>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8" name="Google Shape;418;gd842e5c47e_0_1298"/>
            <p:cNvSpPr/>
            <p:nvPr/>
          </p:nvSpPr>
          <p:spPr>
            <a:xfrm>
              <a:off x="4250674" y="2169198"/>
              <a:ext cx="455960" cy="342869"/>
            </a:xfrm>
            <a:custGeom>
              <a:avLst/>
              <a:gdLst/>
              <a:ahLst/>
              <a:cxnLst/>
              <a:rect l="l" t="t" r="r" b="b"/>
              <a:pathLst>
                <a:path w="228" h="171" extrusionOk="0">
                  <a:moveTo>
                    <a:pt x="187" y="151"/>
                  </a:moveTo>
                  <a:cubicBezTo>
                    <a:pt x="151" y="171"/>
                    <a:pt x="120" y="157"/>
                    <a:pt x="103" y="127"/>
                  </a:cubicBezTo>
                  <a:cubicBezTo>
                    <a:pt x="80" y="85"/>
                    <a:pt x="45" y="54"/>
                    <a:pt x="0" y="34"/>
                  </a:cubicBezTo>
                  <a:cubicBezTo>
                    <a:pt x="58" y="15"/>
                    <a:pt x="126" y="0"/>
                    <a:pt x="183" y="39"/>
                  </a:cubicBezTo>
                  <a:cubicBezTo>
                    <a:pt x="223" y="64"/>
                    <a:pt x="228" y="103"/>
                    <a:pt x="194" y="144"/>
                  </a:cubicBezTo>
                  <a:cubicBezTo>
                    <a:pt x="163" y="87"/>
                    <a:pt x="109" y="55"/>
                    <a:pt x="48" y="39"/>
                  </a:cubicBezTo>
                  <a:cubicBezTo>
                    <a:pt x="118" y="62"/>
                    <a:pt x="160" y="99"/>
                    <a:pt x="187" y="151"/>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19" name="Google Shape;419;gd842e5c47e_0_1298"/>
            <p:cNvSpPr/>
            <p:nvPr/>
          </p:nvSpPr>
          <p:spPr>
            <a:xfrm>
              <a:off x="4914807" y="2100143"/>
              <a:ext cx="529561" cy="384156"/>
            </a:xfrm>
            <a:custGeom>
              <a:avLst/>
              <a:gdLst/>
              <a:ahLst/>
              <a:cxnLst/>
              <a:rect l="l" t="t" r="r" b="b"/>
              <a:pathLst>
                <a:path w="264" h="192" extrusionOk="0">
                  <a:moveTo>
                    <a:pt x="8" y="136"/>
                  </a:moveTo>
                  <a:cubicBezTo>
                    <a:pt x="49" y="186"/>
                    <a:pt x="108" y="192"/>
                    <a:pt x="149" y="138"/>
                  </a:cubicBezTo>
                  <a:cubicBezTo>
                    <a:pt x="181" y="96"/>
                    <a:pt x="213" y="58"/>
                    <a:pt x="264" y="40"/>
                  </a:cubicBezTo>
                  <a:cubicBezTo>
                    <a:pt x="196" y="8"/>
                    <a:pt x="128" y="0"/>
                    <a:pt x="64" y="32"/>
                  </a:cubicBezTo>
                  <a:cubicBezTo>
                    <a:pt x="64" y="32"/>
                    <a:pt x="0" y="58"/>
                    <a:pt x="2" y="124"/>
                  </a:cubicBezTo>
                  <a:cubicBezTo>
                    <a:pt x="61" y="78"/>
                    <a:pt x="128" y="52"/>
                    <a:pt x="200" y="42"/>
                  </a:cubicBezTo>
                  <a:cubicBezTo>
                    <a:pt x="115" y="60"/>
                    <a:pt x="57" y="92"/>
                    <a:pt x="8" y="136"/>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20" name="Google Shape;420;gd842e5c47e_0_1298"/>
            <p:cNvSpPr/>
            <p:nvPr/>
          </p:nvSpPr>
          <p:spPr>
            <a:xfrm>
              <a:off x="5270241" y="3082438"/>
              <a:ext cx="132839" cy="201053"/>
            </a:xfrm>
            <a:custGeom>
              <a:avLst/>
              <a:gdLst/>
              <a:ahLst/>
              <a:cxnLst/>
              <a:rect l="l" t="t" r="r" b="b"/>
              <a:pathLst>
                <a:path w="66" h="100" extrusionOk="0">
                  <a:moveTo>
                    <a:pt x="30" y="100"/>
                  </a:moveTo>
                  <a:cubicBezTo>
                    <a:pt x="13" y="94"/>
                    <a:pt x="6" y="80"/>
                    <a:pt x="8" y="64"/>
                  </a:cubicBezTo>
                  <a:cubicBezTo>
                    <a:pt x="13" y="42"/>
                    <a:pt x="10" y="20"/>
                    <a:pt x="0" y="0"/>
                  </a:cubicBezTo>
                  <a:cubicBezTo>
                    <a:pt x="25" y="12"/>
                    <a:pt x="51" y="28"/>
                    <a:pt x="60" y="60"/>
                  </a:cubicBezTo>
                  <a:cubicBezTo>
                    <a:pt x="66" y="80"/>
                    <a:pt x="59" y="94"/>
                    <a:pt x="34" y="98"/>
                  </a:cubicBezTo>
                  <a:cubicBezTo>
                    <a:pt x="40" y="70"/>
                    <a:pt x="30" y="42"/>
                    <a:pt x="15" y="18"/>
                  </a:cubicBezTo>
                  <a:cubicBezTo>
                    <a:pt x="32" y="48"/>
                    <a:pt x="36" y="72"/>
                    <a:pt x="30" y="100"/>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21" name="Google Shape;421;gd842e5c47e_0_1298"/>
            <p:cNvSpPr/>
            <p:nvPr/>
          </p:nvSpPr>
          <p:spPr>
            <a:xfrm>
              <a:off x="3196878" y="1929606"/>
              <a:ext cx="2209794" cy="3207880"/>
            </a:xfrm>
            <a:custGeom>
              <a:avLst/>
              <a:gdLst/>
              <a:ahLst/>
              <a:cxnLst/>
              <a:rect l="l" t="t" r="r" b="b"/>
              <a:pathLst>
                <a:path w="1102" h="1601" extrusionOk="0">
                  <a:moveTo>
                    <a:pt x="935" y="802"/>
                  </a:moveTo>
                  <a:cubicBezTo>
                    <a:pt x="1004" y="772"/>
                    <a:pt x="1064" y="712"/>
                    <a:pt x="1068" y="631"/>
                  </a:cubicBezTo>
                  <a:cubicBezTo>
                    <a:pt x="1047" y="762"/>
                    <a:pt x="933" y="762"/>
                    <a:pt x="859" y="776"/>
                  </a:cubicBezTo>
                  <a:cubicBezTo>
                    <a:pt x="800" y="786"/>
                    <a:pt x="766" y="801"/>
                    <a:pt x="733" y="833"/>
                  </a:cubicBezTo>
                  <a:cubicBezTo>
                    <a:pt x="740" y="815"/>
                    <a:pt x="747" y="795"/>
                    <a:pt x="756" y="774"/>
                  </a:cubicBezTo>
                  <a:cubicBezTo>
                    <a:pt x="769" y="741"/>
                    <a:pt x="780" y="707"/>
                    <a:pt x="787" y="673"/>
                  </a:cubicBezTo>
                  <a:cubicBezTo>
                    <a:pt x="837" y="539"/>
                    <a:pt x="931" y="384"/>
                    <a:pt x="1102" y="378"/>
                  </a:cubicBezTo>
                  <a:cubicBezTo>
                    <a:pt x="1000" y="373"/>
                    <a:pt x="882" y="453"/>
                    <a:pt x="799" y="562"/>
                  </a:cubicBezTo>
                  <a:cubicBezTo>
                    <a:pt x="799" y="517"/>
                    <a:pt x="795" y="472"/>
                    <a:pt x="784" y="427"/>
                  </a:cubicBezTo>
                  <a:cubicBezTo>
                    <a:pt x="779" y="342"/>
                    <a:pt x="802" y="248"/>
                    <a:pt x="899" y="191"/>
                  </a:cubicBezTo>
                  <a:cubicBezTo>
                    <a:pt x="839" y="221"/>
                    <a:pt x="785" y="279"/>
                    <a:pt x="763" y="361"/>
                  </a:cubicBezTo>
                  <a:cubicBezTo>
                    <a:pt x="746" y="315"/>
                    <a:pt x="722" y="271"/>
                    <a:pt x="690" y="229"/>
                  </a:cubicBezTo>
                  <a:cubicBezTo>
                    <a:pt x="803" y="411"/>
                    <a:pt x="773" y="565"/>
                    <a:pt x="721" y="695"/>
                  </a:cubicBezTo>
                  <a:cubicBezTo>
                    <a:pt x="713" y="559"/>
                    <a:pt x="646" y="447"/>
                    <a:pt x="558" y="380"/>
                  </a:cubicBezTo>
                  <a:cubicBezTo>
                    <a:pt x="696" y="522"/>
                    <a:pt x="690" y="728"/>
                    <a:pt x="641" y="869"/>
                  </a:cubicBezTo>
                  <a:cubicBezTo>
                    <a:pt x="614" y="927"/>
                    <a:pt x="596" y="967"/>
                    <a:pt x="590" y="1012"/>
                  </a:cubicBezTo>
                  <a:cubicBezTo>
                    <a:pt x="552" y="943"/>
                    <a:pt x="518" y="871"/>
                    <a:pt x="493" y="807"/>
                  </a:cubicBezTo>
                  <a:cubicBezTo>
                    <a:pt x="549" y="704"/>
                    <a:pt x="539" y="595"/>
                    <a:pt x="539" y="595"/>
                  </a:cubicBezTo>
                  <a:cubicBezTo>
                    <a:pt x="540" y="660"/>
                    <a:pt x="494" y="719"/>
                    <a:pt x="471" y="746"/>
                  </a:cubicBezTo>
                  <a:cubicBezTo>
                    <a:pt x="466" y="731"/>
                    <a:pt x="462" y="717"/>
                    <a:pt x="459" y="704"/>
                  </a:cubicBezTo>
                  <a:cubicBezTo>
                    <a:pt x="417" y="531"/>
                    <a:pt x="425" y="253"/>
                    <a:pt x="605" y="0"/>
                  </a:cubicBezTo>
                  <a:cubicBezTo>
                    <a:pt x="558" y="58"/>
                    <a:pt x="511" y="131"/>
                    <a:pt x="474" y="213"/>
                  </a:cubicBezTo>
                  <a:cubicBezTo>
                    <a:pt x="462" y="127"/>
                    <a:pt x="415" y="60"/>
                    <a:pt x="357" y="22"/>
                  </a:cubicBezTo>
                  <a:cubicBezTo>
                    <a:pt x="457" y="97"/>
                    <a:pt x="461" y="209"/>
                    <a:pt x="440" y="298"/>
                  </a:cubicBezTo>
                  <a:cubicBezTo>
                    <a:pt x="398" y="414"/>
                    <a:pt x="376" y="541"/>
                    <a:pt x="391" y="665"/>
                  </a:cubicBezTo>
                  <a:cubicBezTo>
                    <a:pt x="395" y="695"/>
                    <a:pt x="406" y="786"/>
                    <a:pt x="423" y="846"/>
                  </a:cubicBezTo>
                  <a:cubicBezTo>
                    <a:pt x="321" y="706"/>
                    <a:pt x="254" y="499"/>
                    <a:pt x="282" y="227"/>
                  </a:cubicBezTo>
                  <a:cubicBezTo>
                    <a:pt x="267" y="310"/>
                    <a:pt x="263" y="406"/>
                    <a:pt x="271" y="507"/>
                  </a:cubicBezTo>
                  <a:cubicBezTo>
                    <a:pt x="192" y="422"/>
                    <a:pt x="86" y="400"/>
                    <a:pt x="0" y="422"/>
                  </a:cubicBezTo>
                  <a:cubicBezTo>
                    <a:pt x="143" y="398"/>
                    <a:pt x="233" y="482"/>
                    <a:pt x="276" y="569"/>
                  </a:cubicBezTo>
                  <a:cubicBezTo>
                    <a:pt x="289" y="663"/>
                    <a:pt x="310" y="754"/>
                    <a:pt x="346" y="842"/>
                  </a:cubicBezTo>
                  <a:cubicBezTo>
                    <a:pt x="301" y="826"/>
                    <a:pt x="256" y="822"/>
                    <a:pt x="212" y="826"/>
                  </a:cubicBezTo>
                  <a:cubicBezTo>
                    <a:pt x="139" y="798"/>
                    <a:pt x="67" y="740"/>
                    <a:pt x="54" y="627"/>
                  </a:cubicBezTo>
                  <a:cubicBezTo>
                    <a:pt x="58" y="702"/>
                    <a:pt x="96" y="784"/>
                    <a:pt x="167" y="836"/>
                  </a:cubicBezTo>
                  <a:cubicBezTo>
                    <a:pt x="114" y="850"/>
                    <a:pt x="64" y="876"/>
                    <a:pt x="22" y="913"/>
                  </a:cubicBezTo>
                  <a:cubicBezTo>
                    <a:pt x="188" y="850"/>
                    <a:pt x="303" y="870"/>
                    <a:pt x="389" y="929"/>
                  </a:cubicBezTo>
                  <a:cubicBezTo>
                    <a:pt x="404" y="955"/>
                    <a:pt x="421" y="983"/>
                    <a:pt x="440" y="1007"/>
                  </a:cubicBezTo>
                  <a:cubicBezTo>
                    <a:pt x="578" y="1192"/>
                    <a:pt x="661" y="1342"/>
                    <a:pt x="655" y="1517"/>
                  </a:cubicBezTo>
                  <a:cubicBezTo>
                    <a:pt x="653" y="1533"/>
                    <a:pt x="632" y="1582"/>
                    <a:pt x="485" y="1601"/>
                  </a:cubicBezTo>
                  <a:cubicBezTo>
                    <a:pt x="978" y="1601"/>
                    <a:pt x="978" y="1601"/>
                    <a:pt x="978" y="1601"/>
                  </a:cubicBezTo>
                  <a:cubicBezTo>
                    <a:pt x="978" y="1601"/>
                    <a:pt x="865" y="1568"/>
                    <a:pt x="843" y="1513"/>
                  </a:cubicBezTo>
                  <a:cubicBezTo>
                    <a:pt x="843" y="1513"/>
                    <a:pt x="843" y="1513"/>
                    <a:pt x="843" y="1513"/>
                  </a:cubicBezTo>
                  <a:cubicBezTo>
                    <a:pt x="836" y="1386"/>
                    <a:pt x="791" y="1260"/>
                    <a:pt x="707" y="1144"/>
                  </a:cubicBezTo>
                  <a:cubicBezTo>
                    <a:pt x="692" y="1093"/>
                    <a:pt x="685" y="1050"/>
                    <a:pt x="688" y="1006"/>
                  </a:cubicBezTo>
                  <a:cubicBezTo>
                    <a:pt x="721" y="915"/>
                    <a:pt x="766" y="845"/>
                    <a:pt x="874" y="822"/>
                  </a:cubicBezTo>
                  <a:cubicBezTo>
                    <a:pt x="876" y="822"/>
                    <a:pt x="876" y="822"/>
                    <a:pt x="876" y="822"/>
                  </a:cubicBezTo>
                  <a:cubicBezTo>
                    <a:pt x="953" y="822"/>
                    <a:pt x="1040" y="848"/>
                    <a:pt x="1091" y="949"/>
                  </a:cubicBezTo>
                  <a:cubicBezTo>
                    <a:pt x="1064" y="886"/>
                    <a:pt x="1010" y="828"/>
                    <a:pt x="935" y="802"/>
                  </a:cubicBezTo>
                  <a:close/>
                </a:path>
              </a:pathLst>
            </a:custGeom>
            <a:solidFill>
              <a:srgbClr val="BFBFBF"/>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22" name="Google Shape;422;gd842e5c47e_0_1298"/>
            <p:cNvSpPr/>
            <p:nvPr/>
          </p:nvSpPr>
          <p:spPr>
            <a:xfrm rot="10012446">
              <a:off x="5296837" y="3738667"/>
              <a:ext cx="184152" cy="307344"/>
            </a:xfrm>
            <a:custGeom>
              <a:avLst/>
              <a:gdLst/>
              <a:ahLst/>
              <a:cxnLst/>
              <a:rect l="l" t="t" r="r" b="b"/>
              <a:pathLst>
                <a:path w="130" h="217" extrusionOk="0">
                  <a:moveTo>
                    <a:pt x="80" y="217"/>
                  </a:moveTo>
                  <a:cubicBezTo>
                    <a:pt x="119" y="204"/>
                    <a:pt x="130" y="171"/>
                    <a:pt x="119" y="138"/>
                  </a:cubicBezTo>
                  <a:cubicBezTo>
                    <a:pt x="106" y="91"/>
                    <a:pt x="109" y="47"/>
                    <a:pt x="125" y="0"/>
                  </a:cubicBezTo>
                  <a:cubicBezTo>
                    <a:pt x="75" y="33"/>
                    <a:pt x="21" y="71"/>
                    <a:pt x="7" y="140"/>
                  </a:cubicBezTo>
                  <a:cubicBezTo>
                    <a:pt x="0" y="187"/>
                    <a:pt x="21" y="215"/>
                    <a:pt x="73" y="217"/>
                  </a:cubicBezTo>
                  <a:cubicBezTo>
                    <a:pt x="54" y="157"/>
                    <a:pt x="67" y="94"/>
                    <a:pt x="96" y="38"/>
                  </a:cubicBezTo>
                  <a:cubicBezTo>
                    <a:pt x="67" y="107"/>
                    <a:pt x="65" y="162"/>
                    <a:pt x="80" y="217"/>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23" name="Google Shape;423;gd842e5c47e_0_1298"/>
            <p:cNvSpPr/>
            <p:nvPr/>
          </p:nvSpPr>
          <p:spPr>
            <a:xfrm rot="1704946">
              <a:off x="4341653" y="1696650"/>
              <a:ext cx="199259" cy="341073"/>
            </a:xfrm>
            <a:custGeom>
              <a:avLst/>
              <a:gdLst/>
              <a:ahLst/>
              <a:cxnLst/>
              <a:rect l="l" t="t" r="r" b="b"/>
              <a:pathLst>
                <a:path w="100" h="171" extrusionOk="0">
                  <a:moveTo>
                    <a:pt x="40" y="169"/>
                  </a:moveTo>
                  <a:cubicBezTo>
                    <a:pt x="11" y="155"/>
                    <a:pt x="0" y="129"/>
                    <a:pt x="11" y="105"/>
                  </a:cubicBezTo>
                  <a:cubicBezTo>
                    <a:pt x="25" y="71"/>
                    <a:pt x="25" y="35"/>
                    <a:pt x="15" y="0"/>
                  </a:cubicBezTo>
                  <a:cubicBezTo>
                    <a:pt x="51" y="27"/>
                    <a:pt x="90" y="61"/>
                    <a:pt x="96" y="115"/>
                  </a:cubicBezTo>
                  <a:cubicBezTo>
                    <a:pt x="100" y="151"/>
                    <a:pt x="87" y="171"/>
                    <a:pt x="49" y="169"/>
                  </a:cubicBezTo>
                  <a:cubicBezTo>
                    <a:pt x="53" y="129"/>
                    <a:pt x="51" y="79"/>
                    <a:pt x="34" y="31"/>
                  </a:cubicBezTo>
                  <a:cubicBezTo>
                    <a:pt x="51" y="85"/>
                    <a:pt x="49" y="127"/>
                    <a:pt x="40" y="169"/>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424" name="Google Shape;424;gd842e5c47e_0_1298"/>
            <p:cNvSpPr/>
            <p:nvPr/>
          </p:nvSpPr>
          <p:spPr>
            <a:xfrm rot="-3832174">
              <a:off x="2908506" y="2669226"/>
              <a:ext cx="455960" cy="342869"/>
            </a:xfrm>
            <a:custGeom>
              <a:avLst/>
              <a:gdLst/>
              <a:ahLst/>
              <a:cxnLst/>
              <a:rect l="l" t="t" r="r" b="b"/>
              <a:pathLst>
                <a:path w="228" h="171" extrusionOk="0">
                  <a:moveTo>
                    <a:pt x="187" y="151"/>
                  </a:moveTo>
                  <a:cubicBezTo>
                    <a:pt x="151" y="171"/>
                    <a:pt x="120" y="157"/>
                    <a:pt x="103" y="127"/>
                  </a:cubicBezTo>
                  <a:cubicBezTo>
                    <a:pt x="80" y="85"/>
                    <a:pt x="45" y="54"/>
                    <a:pt x="0" y="34"/>
                  </a:cubicBezTo>
                  <a:cubicBezTo>
                    <a:pt x="58" y="15"/>
                    <a:pt x="126" y="0"/>
                    <a:pt x="183" y="39"/>
                  </a:cubicBezTo>
                  <a:cubicBezTo>
                    <a:pt x="223" y="64"/>
                    <a:pt x="228" y="103"/>
                    <a:pt x="194" y="144"/>
                  </a:cubicBezTo>
                  <a:cubicBezTo>
                    <a:pt x="163" y="87"/>
                    <a:pt x="109" y="55"/>
                    <a:pt x="48" y="39"/>
                  </a:cubicBezTo>
                  <a:cubicBezTo>
                    <a:pt x="118" y="62"/>
                    <a:pt x="160" y="99"/>
                    <a:pt x="187" y="151"/>
                  </a:cubicBezTo>
                  <a:close/>
                </a:path>
              </a:pathLst>
            </a:custGeom>
            <a:solidFill>
              <a:srgbClr val="B6D7A8"/>
            </a:solidFill>
            <a:ln>
              <a:noFill/>
            </a:ln>
          </p:spPr>
          <p:txBody>
            <a:bodyPr spcFirstLastPara="1" wrap="square" lIns="121900" tIns="60975" rIns="121900" bIns="6097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grpSp>
      <p:sp>
        <p:nvSpPr>
          <p:cNvPr id="425" name="Google Shape;425;gd842e5c47e_0_1298"/>
          <p:cNvSpPr txBox="1"/>
          <p:nvPr/>
        </p:nvSpPr>
        <p:spPr>
          <a:xfrm>
            <a:off x="3240775" y="1141200"/>
            <a:ext cx="6789000" cy="5573700"/>
          </a:xfrm>
          <a:prstGeom prst="rect">
            <a:avLst/>
          </a:prstGeom>
          <a:noFill/>
          <a:ln>
            <a:noFill/>
          </a:ln>
        </p:spPr>
        <p:txBody>
          <a:bodyPr spcFirstLastPara="1" wrap="square" lIns="360000" tIns="0" rIns="0" bIns="0" anchor="t" anchorCtr="0">
            <a:spAutoFit/>
          </a:bodyPr>
          <a:lstStyle/>
          <a:p>
            <a:pPr marL="0" marR="0" lvl="0" indent="0" algn="l" rtl="0">
              <a:lnSpc>
                <a:spcPct val="115000"/>
              </a:lnSpc>
              <a:spcBef>
                <a:spcPts val="0"/>
              </a:spcBef>
              <a:spcAft>
                <a:spcPts val="0"/>
              </a:spcAft>
              <a:buClr>
                <a:srgbClr val="000000"/>
              </a:buClr>
              <a:buSzPts val="2700"/>
              <a:buFont typeface="Arial"/>
              <a:buNone/>
            </a:pPr>
            <a:r>
              <a:rPr lang="fr-FR" sz="2700" b="1" i="0" u="none" strike="noStrike" cap="none" dirty="0">
                <a:solidFill>
                  <a:srgbClr val="516482"/>
                </a:solidFill>
                <a:latin typeface="Calibri"/>
                <a:ea typeface="Calibri"/>
                <a:cs typeface="Calibri"/>
                <a:sym typeface="Calibri"/>
              </a:rPr>
              <a:t>Je vous apporte</a:t>
            </a:r>
            <a:endParaRPr sz="2700" b="1" i="0" u="none" strike="noStrike" cap="none" dirty="0">
              <a:solidFill>
                <a:srgbClr val="516482"/>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2700"/>
              <a:buFont typeface="Arial"/>
              <a:buNone/>
            </a:pPr>
            <a:endParaRPr sz="2700" b="1" i="0" u="none" strike="noStrike" cap="none" dirty="0">
              <a:solidFill>
                <a:srgbClr val="516482"/>
              </a:solidFill>
              <a:latin typeface="Calibri"/>
              <a:ea typeface="Calibri"/>
              <a:cs typeface="Calibri"/>
              <a:sym typeface="Calibri"/>
            </a:endParaRPr>
          </a:p>
          <a:p>
            <a:pPr marL="457200" marR="0" lvl="0" indent="-381000" algn="l" rtl="0">
              <a:lnSpc>
                <a:spcPct val="115000"/>
              </a:lnSpc>
              <a:spcBef>
                <a:spcPts val="0"/>
              </a:spcBef>
              <a:spcAft>
                <a:spcPts val="0"/>
              </a:spcAft>
              <a:buClr>
                <a:srgbClr val="516482"/>
              </a:buClr>
              <a:buSzPts val="2400"/>
              <a:buFont typeface="Calibri"/>
              <a:buChar char="■"/>
            </a:pPr>
            <a:r>
              <a:rPr lang="fr-FR" sz="2400" b="1" i="1" dirty="0">
                <a:solidFill>
                  <a:srgbClr val="516482"/>
                </a:solidFill>
                <a:latin typeface="Calibri"/>
                <a:ea typeface="Calibri"/>
                <a:cs typeface="Calibri"/>
                <a:sym typeface="Calibri"/>
              </a:rPr>
              <a:t>20</a:t>
            </a:r>
            <a:r>
              <a:rPr lang="fr-FR" sz="2400" b="1" i="1" u="none" strike="noStrike" cap="none" dirty="0">
                <a:solidFill>
                  <a:srgbClr val="516482"/>
                </a:solidFill>
                <a:latin typeface="Calibri"/>
                <a:ea typeface="Calibri"/>
                <a:cs typeface="Calibri"/>
                <a:sym typeface="Calibri"/>
              </a:rPr>
              <a:t> ans</a:t>
            </a:r>
            <a:r>
              <a:rPr lang="fr-FR" sz="2400" b="0" i="0" u="none" strike="noStrike" cap="none" dirty="0">
                <a:solidFill>
                  <a:srgbClr val="516482"/>
                </a:solidFill>
                <a:latin typeface="Calibri"/>
                <a:ea typeface="Calibri"/>
                <a:cs typeface="Calibri"/>
                <a:sym typeface="Calibri"/>
              </a:rPr>
              <a:t> d’expérience dans les RH</a:t>
            </a:r>
            <a:endParaRPr sz="2400" b="0" i="0" u="none" strike="noStrike" cap="none" dirty="0">
              <a:solidFill>
                <a:srgbClr val="516482"/>
              </a:solidFill>
              <a:latin typeface="Calibri"/>
              <a:ea typeface="Calibri"/>
              <a:cs typeface="Calibri"/>
              <a:sym typeface="Calibri"/>
            </a:endParaRPr>
          </a:p>
          <a:p>
            <a:pPr marL="457200" marR="0" lvl="0" indent="-381000" algn="l" rtl="0">
              <a:lnSpc>
                <a:spcPct val="115000"/>
              </a:lnSpc>
              <a:spcBef>
                <a:spcPts val="0"/>
              </a:spcBef>
              <a:spcAft>
                <a:spcPts val="0"/>
              </a:spcAft>
              <a:buClr>
                <a:srgbClr val="516482"/>
              </a:buClr>
              <a:buSzPts val="2400"/>
              <a:buFont typeface="Calibri"/>
              <a:buChar char="■"/>
            </a:pPr>
            <a:r>
              <a:rPr lang="fr-FR" sz="2400" b="0" i="0" u="none" strike="noStrike" cap="none" dirty="0">
                <a:solidFill>
                  <a:srgbClr val="516482"/>
                </a:solidFill>
                <a:latin typeface="Calibri"/>
                <a:ea typeface="Calibri"/>
                <a:cs typeface="Calibri"/>
                <a:sym typeface="Calibri"/>
              </a:rPr>
              <a:t>Une action </a:t>
            </a:r>
            <a:r>
              <a:rPr lang="fr-FR" sz="2400" b="1" i="1" u="none" strike="noStrike" cap="none" dirty="0">
                <a:solidFill>
                  <a:srgbClr val="516482"/>
                </a:solidFill>
                <a:latin typeface="Calibri"/>
                <a:ea typeface="Calibri"/>
                <a:cs typeface="Calibri"/>
                <a:sym typeface="Calibri"/>
              </a:rPr>
              <a:t>bienveillante </a:t>
            </a:r>
            <a:r>
              <a:rPr lang="fr-FR" sz="2400" b="0" i="0" u="none" strike="noStrike" cap="none" dirty="0">
                <a:solidFill>
                  <a:srgbClr val="516482"/>
                </a:solidFill>
                <a:latin typeface="Calibri"/>
                <a:ea typeface="Calibri"/>
                <a:cs typeface="Calibri"/>
                <a:sym typeface="Calibri"/>
              </a:rPr>
              <a:t>alliant</a:t>
            </a:r>
            <a:br>
              <a:rPr lang="fr-FR" sz="2400" b="0" i="0" u="none" strike="noStrike" cap="none" dirty="0">
                <a:solidFill>
                  <a:srgbClr val="516482"/>
                </a:solidFill>
                <a:latin typeface="Calibri"/>
                <a:ea typeface="Calibri"/>
                <a:cs typeface="Calibri"/>
                <a:sym typeface="Calibri"/>
              </a:rPr>
            </a:br>
            <a:r>
              <a:rPr lang="fr-FR" sz="2400" b="1" i="1" u="none" strike="noStrike" cap="none" dirty="0">
                <a:solidFill>
                  <a:srgbClr val="516482"/>
                </a:solidFill>
                <a:latin typeface="Calibri"/>
                <a:ea typeface="Calibri"/>
                <a:cs typeface="Calibri"/>
                <a:sym typeface="Calibri"/>
              </a:rPr>
              <a:t>objectifs </a:t>
            </a:r>
            <a:r>
              <a:rPr lang="fr-FR" sz="2400" b="0" i="0" u="none" strike="noStrike" cap="none" dirty="0">
                <a:solidFill>
                  <a:srgbClr val="516482"/>
                </a:solidFill>
                <a:latin typeface="Calibri"/>
                <a:ea typeface="Calibri"/>
                <a:cs typeface="Calibri"/>
                <a:sym typeface="Calibri"/>
              </a:rPr>
              <a:t>de l’entreprise et </a:t>
            </a:r>
            <a:r>
              <a:rPr lang="fr-FR" sz="2400" b="1" i="1" u="none" strike="noStrike" cap="none" dirty="0">
                <a:solidFill>
                  <a:srgbClr val="516482"/>
                </a:solidFill>
                <a:latin typeface="Calibri"/>
                <a:ea typeface="Calibri"/>
                <a:cs typeface="Calibri"/>
                <a:sym typeface="Calibri"/>
              </a:rPr>
              <a:t>considération</a:t>
            </a:r>
            <a:br>
              <a:rPr lang="fr-FR" sz="2400" b="0" i="0" u="none" strike="noStrike" cap="none" dirty="0">
                <a:solidFill>
                  <a:srgbClr val="516482"/>
                </a:solidFill>
                <a:latin typeface="Calibri"/>
                <a:ea typeface="Calibri"/>
                <a:cs typeface="Calibri"/>
                <a:sym typeface="Calibri"/>
              </a:rPr>
            </a:br>
            <a:r>
              <a:rPr lang="fr-FR" sz="2400" b="0" i="0" u="none" strike="noStrike" cap="none" dirty="0">
                <a:solidFill>
                  <a:srgbClr val="516482"/>
                </a:solidFill>
                <a:latin typeface="Calibri"/>
                <a:ea typeface="Calibri"/>
                <a:cs typeface="Calibri"/>
                <a:sym typeface="Calibri"/>
              </a:rPr>
              <a:t>des salariés</a:t>
            </a:r>
            <a:endParaRPr sz="2400" b="0" i="0" u="none" strike="noStrike" cap="none" dirty="0">
              <a:solidFill>
                <a:srgbClr val="516482"/>
              </a:solidFill>
              <a:latin typeface="Calibri"/>
              <a:ea typeface="Calibri"/>
              <a:cs typeface="Calibri"/>
              <a:sym typeface="Calibri"/>
            </a:endParaRPr>
          </a:p>
          <a:p>
            <a:pPr marL="457200" marR="0" lvl="0" indent="-381000" algn="l" rtl="0">
              <a:lnSpc>
                <a:spcPct val="115000"/>
              </a:lnSpc>
              <a:spcBef>
                <a:spcPts val="0"/>
              </a:spcBef>
              <a:spcAft>
                <a:spcPts val="0"/>
              </a:spcAft>
              <a:buClr>
                <a:srgbClr val="516482"/>
              </a:buClr>
              <a:buSzPts val="2400"/>
              <a:buFont typeface="Calibri"/>
              <a:buChar char="■"/>
            </a:pPr>
            <a:r>
              <a:rPr lang="fr-FR" sz="2400" b="0" i="0" u="none" strike="noStrike" cap="none" dirty="0">
                <a:solidFill>
                  <a:srgbClr val="516482"/>
                </a:solidFill>
                <a:latin typeface="Calibri"/>
                <a:ea typeface="Calibri"/>
                <a:cs typeface="Calibri"/>
                <a:sym typeface="Calibri"/>
              </a:rPr>
              <a:t>Une démarche </a:t>
            </a:r>
            <a:r>
              <a:rPr lang="fr-FR" sz="2400" b="1" i="1" u="none" strike="noStrike" cap="none" dirty="0">
                <a:solidFill>
                  <a:srgbClr val="516482"/>
                </a:solidFill>
                <a:latin typeface="Calibri"/>
                <a:ea typeface="Calibri"/>
                <a:cs typeface="Calibri"/>
                <a:sym typeface="Calibri"/>
              </a:rPr>
              <a:t>structurée</a:t>
            </a:r>
            <a:endParaRPr sz="2400" b="1" i="1" u="none" strike="noStrike" cap="none" dirty="0">
              <a:solidFill>
                <a:srgbClr val="516482"/>
              </a:solidFill>
              <a:latin typeface="Calibri"/>
              <a:ea typeface="Calibri"/>
              <a:cs typeface="Calibri"/>
              <a:sym typeface="Calibri"/>
            </a:endParaRPr>
          </a:p>
          <a:p>
            <a:pPr marL="457200" marR="0" lvl="0" indent="-381000" algn="l" rtl="0">
              <a:lnSpc>
                <a:spcPct val="115000"/>
              </a:lnSpc>
              <a:spcBef>
                <a:spcPts val="0"/>
              </a:spcBef>
              <a:spcAft>
                <a:spcPts val="0"/>
              </a:spcAft>
              <a:buClr>
                <a:srgbClr val="516482"/>
              </a:buClr>
              <a:buSzPts val="2400"/>
              <a:buFont typeface="Calibri"/>
              <a:buChar char="■"/>
            </a:pPr>
            <a:r>
              <a:rPr lang="fr-FR" sz="2400" b="0" i="0" u="none" strike="noStrike" cap="none" dirty="0">
                <a:solidFill>
                  <a:srgbClr val="516482"/>
                </a:solidFill>
                <a:latin typeface="Calibri"/>
                <a:ea typeface="Calibri"/>
                <a:cs typeface="Calibri"/>
                <a:sym typeface="Calibri"/>
              </a:rPr>
              <a:t>Des </a:t>
            </a:r>
            <a:r>
              <a:rPr lang="fr-FR" sz="2400" b="1" i="1" u="none" strike="noStrike" cap="none" dirty="0">
                <a:solidFill>
                  <a:srgbClr val="516482"/>
                </a:solidFill>
                <a:latin typeface="Calibri"/>
                <a:ea typeface="Calibri"/>
                <a:cs typeface="Calibri"/>
                <a:sym typeface="Calibri"/>
              </a:rPr>
              <a:t>actions </a:t>
            </a:r>
            <a:r>
              <a:rPr lang="fr-FR" sz="2400" b="0" i="0" u="none" strike="noStrike" cap="none" dirty="0">
                <a:solidFill>
                  <a:srgbClr val="516482"/>
                </a:solidFill>
                <a:latin typeface="Calibri"/>
                <a:ea typeface="Calibri"/>
                <a:cs typeface="Calibri"/>
                <a:sym typeface="Calibri"/>
              </a:rPr>
              <a:t>ciblées et pragmatiques</a:t>
            </a:r>
            <a:endParaRPr sz="2400" b="0" i="0" u="none" strike="noStrike" cap="none" dirty="0">
              <a:solidFill>
                <a:srgbClr val="516482"/>
              </a:solidFill>
              <a:latin typeface="Calibri"/>
              <a:ea typeface="Calibri"/>
              <a:cs typeface="Calibri"/>
              <a:sym typeface="Calibri"/>
            </a:endParaRPr>
          </a:p>
          <a:p>
            <a:pPr marL="457200" marR="0" lvl="0" indent="-381000" algn="l" rtl="0">
              <a:lnSpc>
                <a:spcPct val="115000"/>
              </a:lnSpc>
              <a:spcBef>
                <a:spcPts val="0"/>
              </a:spcBef>
              <a:spcAft>
                <a:spcPts val="0"/>
              </a:spcAft>
              <a:buClr>
                <a:srgbClr val="516482"/>
              </a:buClr>
              <a:buSzPts val="2400"/>
              <a:buFont typeface="Calibri"/>
              <a:buChar char="■"/>
            </a:pPr>
            <a:r>
              <a:rPr lang="fr-FR" sz="2400" b="0" i="0" u="none" strike="noStrike" cap="none" dirty="0">
                <a:solidFill>
                  <a:srgbClr val="516482"/>
                </a:solidFill>
                <a:latin typeface="Calibri"/>
                <a:ea typeface="Calibri"/>
                <a:cs typeface="Calibri"/>
                <a:sym typeface="Calibri"/>
              </a:rPr>
              <a:t>L’expérience de différents</a:t>
            </a:r>
            <a:br>
              <a:rPr lang="fr-FR" sz="2400" b="0" i="0" u="none" strike="noStrike" cap="none" dirty="0">
                <a:solidFill>
                  <a:srgbClr val="516482"/>
                </a:solidFill>
                <a:latin typeface="Calibri"/>
                <a:ea typeface="Calibri"/>
                <a:cs typeface="Calibri"/>
                <a:sym typeface="Calibri"/>
              </a:rPr>
            </a:br>
            <a:r>
              <a:rPr lang="fr-FR" sz="2400" b="0" i="0" u="none" strike="noStrike" cap="none" dirty="0">
                <a:solidFill>
                  <a:srgbClr val="516482"/>
                </a:solidFill>
                <a:latin typeface="Calibri"/>
                <a:ea typeface="Calibri"/>
                <a:cs typeface="Calibri"/>
                <a:sym typeface="Calibri"/>
              </a:rPr>
              <a:t>secteurs d’activités pour</a:t>
            </a:r>
            <a:br>
              <a:rPr lang="fr-FR" sz="2400" b="0" i="0" u="none" strike="noStrike" cap="none" dirty="0">
                <a:solidFill>
                  <a:srgbClr val="516482"/>
                </a:solidFill>
                <a:latin typeface="Calibri"/>
                <a:ea typeface="Calibri"/>
                <a:cs typeface="Calibri"/>
                <a:sym typeface="Calibri"/>
              </a:rPr>
            </a:br>
            <a:r>
              <a:rPr lang="fr-FR" sz="2400" b="0" i="0" u="none" strike="noStrike" cap="none" dirty="0">
                <a:solidFill>
                  <a:srgbClr val="516482"/>
                </a:solidFill>
                <a:latin typeface="Calibri"/>
                <a:ea typeface="Calibri"/>
                <a:cs typeface="Calibri"/>
                <a:sym typeface="Calibri"/>
              </a:rPr>
              <a:t>identifier les solutions </a:t>
            </a:r>
            <a:r>
              <a:rPr lang="fr-FR" sz="2400" b="1" i="1" u="none" strike="noStrike" cap="none" dirty="0">
                <a:solidFill>
                  <a:srgbClr val="516482"/>
                </a:solidFill>
                <a:latin typeface="Calibri"/>
                <a:ea typeface="Calibri"/>
                <a:cs typeface="Calibri"/>
                <a:sym typeface="Calibri"/>
              </a:rPr>
              <a:t>adaptées</a:t>
            </a:r>
            <a:endParaRPr sz="2400" b="1" i="1" u="none" strike="noStrike" cap="none" dirty="0">
              <a:solidFill>
                <a:srgbClr val="516482"/>
              </a:solidFill>
              <a:latin typeface="Calibri"/>
              <a:ea typeface="Calibri"/>
              <a:cs typeface="Calibri"/>
              <a:sym typeface="Calibri"/>
            </a:endParaRPr>
          </a:p>
          <a:p>
            <a:pPr marL="457200" marR="0" lvl="0" indent="-381000" algn="l" rtl="0">
              <a:lnSpc>
                <a:spcPct val="115000"/>
              </a:lnSpc>
              <a:spcBef>
                <a:spcPts val="0"/>
              </a:spcBef>
              <a:spcAft>
                <a:spcPts val="0"/>
              </a:spcAft>
              <a:buClr>
                <a:srgbClr val="516482"/>
              </a:buClr>
              <a:buSzPts val="2400"/>
              <a:buFont typeface="Calibri"/>
              <a:buChar char="■"/>
            </a:pPr>
            <a:r>
              <a:rPr lang="fr-FR" sz="2400" b="0" i="0" u="none" strike="noStrike" cap="none" dirty="0">
                <a:solidFill>
                  <a:srgbClr val="516482"/>
                </a:solidFill>
                <a:latin typeface="Calibri"/>
                <a:ea typeface="Calibri"/>
                <a:cs typeface="Calibri"/>
                <a:sym typeface="Calibri"/>
              </a:rPr>
              <a:t>Un savoir-faire dans la création et la gestion </a:t>
            </a:r>
            <a:r>
              <a:rPr lang="fr-FR" sz="2400" b="1" i="1" u="none" strike="noStrike" cap="none" dirty="0">
                <a:solidFill>
                  <a:srgbClr val="516482"/>
                </a:solidFill>
                <a:latin typeface="Calibri"/>
                <a:ea typeface="Calibri"/>
                <a:cs typeface="Calibri"/>
                <a:sym typeface="Calibri"/>
              </a:rPr>
              <a:t>opérationnelle </a:t>
            </a:r>
            <a:r>
              <a:rPr lang="fr-FR" sz="2400" b="0" i="0" u="none" strike="noStrike" cap="none" dirty="0">
                <a:solidFill>
                  <a:srgbClr val="516482"/>
                </a:solidFill>
                <a:latin typeface="Calibri"/>
                <a:ea typeface="Calibri"/>
                <a:cs typeface="Calibri"/>
                <a:sym typeface="Calibri"/>
              </a:rPr>
              <a:t>de plusieurs services RH</a:t>
            </a:r>
            <a:endParaRPr sz="2700" b="1" i="0" u="none" strike="noStrike" cap="none" dirty="0">
              <a:solidFill>
                <a:srgbClr val="516482"/>
              </a:solidFill>
              <a:latin typeface="Calibri"/>
              <a:ea typeface="Calibri"/>
              <a:cs typeface="Calibri"/>
              <a:sym typeface="Calibri"/>
            </a:endParaRPr>
          </a:p>
        </p:txBody>
      </p:sp>
      <p:sp>
        <p:nvSpPr>
          <p:cNvPr id="426" name="Google Shape;426;gd842e5c47e_0_1298"/>
          <p:cNvSpPr txBox="1">
            <a:spLocks noGrp="1"/>
          </p:cNvSpPr>
          <p:nvPr>
            <p:ph type="title"/>
          </p:nvPr>
        </p:nvSpPr>
        <p:spPr>
          <a:xfrm>
            <a:off x="8841750" y="454175"/>
            <a:ext cx="2572200" cy="661800"/>
          </a:xfrm>
          <a:prstGeom prst="rect">
            <a:avLst/>
          </a:prstGeom>
          <a:noFill/>
          <a:ln>
            <a:noFill/>
          </a:ln>
        </p:spPr>
        <p:txBody>
          <a:bodyPr spcFirstLastPara="1" wrap="square" lIns="240000" tIns="45700" rIns="48000" bIns="45700" anchor="ctr" anchorCtr="0">
            <a:normAutofit/>
          </a:bodyPr>
          <a:lstStyle/>
          <a:p>
            <a:pPr marL="0" lvl="0" indent="0" algn="r" rtl="0">
              <a:lnSpc>
                <a:spcPct val="90000"/>
              </a:lnSpc>
              <a:spcBef>
                <a:spcPts val="0"/>
              </a:spcBef>
              <a:spcAft>
                <a:spcPts val="0"/>
              </a:spcAft>
              <a:buClr>
                <a:schemeClr val="dk1"/>
              </a:buClr>
              <a:buSzPts val="4400"/>
              <a:buFont typeface="Arial"/>
              <a:buNone/>
            </a:pPr>
            <a:r>
              <a:rPr lang="fr-FR" sz="3300" b="1">
                <a:solidFill>
                  <a:schemeClr val="dk2"/>
                </a:solidFill>
                <a:latin typeface="Calibri"/>
                <a:ea typeface="Calibri"/>
                <a:cs typeface="Calibri"/>
                <a:sym typeface="Calibri"/>
              </a:rPr>
              <a:t>QUI SUIS-JE?</a:t>
            </a:r>
            <a:endParaRPr sz="3300" b="1">
              <a:solidFill>
                <a:schemeClr val="dk2"/>
              </a:solidFill>
              <a:latin typeface="Calibri"/>
              <a:ea typeface="Calibri"/>
              <a:cs typeface="Calibri"/>
              <a:sym typeface="Calibri"/>
            </a:endParaRPr>
          </a:p>
        </p:txBody>
      </p:sp>
      <p:pic>
        <p:nvPicPr>
          <p:cNvPr id="427" name="Google Shape;427;gd842e5c47e_0_1298"/>
          <p:cNvPicPr preferRelativeResize="0"/>
          <p:nvPr/>
        </p:nvPicPr>
        <p:blipFill rotWithShape="1">
          <a:blip r:embed="rId3">
            <a:alphaModFix/>
          </a:blip>
          <a:srcRect/>
          <a:stretch/>
        </p:blipFill>
        <p:spPr>
          <a:xfrm>
            <a:off x="8436700" y="88100"/>
            <a:ext cx="617474" cy="875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gd83fd30aaf_0_67"/>
          <p:cNvSpPr txBox="1"/>
          <p:nvPr/>
        </p:nvSpPr>
        <p:spPr>
          <a:xfrm>
            <a:off x="2822025" y="1304850"/>
            <a:ext cx="8537700" cy="4248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fr-FR" sz="3300" b="0" i="0" u="none" strike="noStrike" cap="none">
                <a:solidFill>
                  <a:schemeClr val="dk2"/>
                </a:solidFill>
                <a:latin typeface="Calibri"/>
                <a:ea typeface="Calibri"/>
                <a:cs typeface="Calibri"/>
                <a:sym typeface="Calibri"/>
              </a:rPr>
              <a:t>Notre contexte nous donne l'opportunité de faire évoluer nos pratiques.</a:t>
            </a:r>
            <a:endParaRPr sz="33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300"/>
              <a:buFont typeface="Arial"/>
              <a:buNone/>
            </a:pPr>
            <a:r>
              <a:rPr lang="fr-FR" sz="3300" b="0" i="0" u="none" strike="noStrike" cap="none">
                <a:solidFill>
                  <a:schemeClr val="dk2"/>
                </a:solidFill>
                <a:latin typeface="Calibri"/>
                <a:ea typeface="Calibri"/>
                <a:cs typeface="Calibri"/>
                <a:sym typeface="Calibri"/>
              </a:rPr>
              <a:t>Je peux vous accompagner dans cette démarche, en m’adaptant à vos besoins et projets.</a:t>
            </a:r>
            <a:endParaRPr sz="33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300"/>
              <a:buFont typeface="Arial"/>
              <a:buNone/>
            </a:pPr>
            <a:r>
              <a:rPr lang="fr-FR" sz="3300" b="0" i="0" u="none" strike="noStrike" cap="none">
                <a:solidFill>
                  <a:schemeClr val="dk2"/>
                </a:solidFill>
                <a:latin typeface="Calibri"/>
                <a:ea typeface="Calibri"/>
                <a:cs typeface="Calibri"/>
                <a:sym typeface="Calibri"/>
              </a:rPr>
              <a:t>En face à face ou en visio-conférence, rencontrons-nous!</a:t>
            </a:r>
            <a:endParaRPr sz="3300" b="0" i="0" u="none" strike="noStrike" cap="none">
              <a:solidFill>
                <a:schemeClr val="dk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gd8e05dde71_0_19"/>
          <p:cNvSpPr/>
          <p:nvPr/>
        </p:nvSpPr>
        <p:spPr>
          <a:xfrm>
            <a:off x="1632455" y="1023104"/>
            <a:ext cx="1051200" cy="9717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 name="Google Shape;438;gd8e05dde71_0_19"/>
          <p:cNvSpPr/>
          <p:nvPr/>
        </p:nvSpPr>
        <p:spPr>
          <a:xfrm>
            <a:off x="988057" y="1501112"/>
            <a:ext cx="968100" cy="8133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9" name="Google Shape;439;gd8e05dde71_0_19"/>
          <p:cNvSpPr/>
          <p:nvPr/>
        </p:nvSpPr>
        <p:spPr>
          <a:xfrm>
            <a:off x="512250" y="460318"/>
            <a:ext cx="502500" cy="466200"/>
          </a:xfrm>
          <a:prstGeom prst="rect">
            <a:avLst/>
          </a:prstGeom>
          <a:noFill/>
          <a:ln w="571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40" name="Google Shape;440;gd8e05dde71_0_19"/>
          <p:cNvGrpSpPr/>
          <p:nvPr/>
        </p:nvGrpSpPr>
        <p:grpSpPr>
          <a:xfrm>
            <a:off x="3580949" y="1849900"/>
            <a:ext cx="7292826" cy="3624600"/>
            <a:chOff x="3580949" y="1849900"/>
            <a:chExt cx="7292826" cy="3624600"/>
          </a:xfrm>
        </p:grpSpPr>
        <p:grpSp>
          <p:nvGrpSpPr>
            <p:cNvPr id="441" name="Google Shape;441;gd8e05dde71_0_19"/>
            <p:cNvGrpSpPr/>
            <p:nvPr/>
          </p:nvGrpSpPr>
          <p:grpSpPr>
            <a:xfrm>
              <a:off x="3580949" y="1849900"/>
              <a:ext cx="7292826" cy="3624600"/>
              <a:chOff x="5123699" y="2229225"/>
              <a:chExt cx="7292826" cy="3624600"/>
            </a:xfrm>
          </p:grpSpPr>
          <p:sp>
            <p:nvSpPr>
              <p:cNvPr id="442" name="Google Shape;442;gd8e05dde71_0_19"/>
              <p:cNvSpPr/>
              <p:nvPr/>
            </p:nvSpPr>
            <p:spPr>
              <a:xfrm>
                <a:off x="5123699" y="2229225"/>
                <a:ext cx="2707200" cy="3624600"/>
              </a:xfrm>
              <a:prstGeom prst="rect">
                <a:avLst/>
              </a:prstGeom>
              <a:solidFill>
                <a:schemeClr val="dk2"/>
              </a:solidFill>
              <a:ln w="9525" cap="flat" cmpd="sng">
                <a:solidFill>
                  <a:schemeClr val="dk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207225" bIns="45700" anchor="ctr" anchorCtr="0">
                <a:noAutofit/>
              </a:bodyPr>
              <a:lstStyle/>
              <a:p>
                <a:pPr marL="0" marR="0" lvl="0" indent="0" algn="r" rtl="0">
                  <a:lnSpc>
                    <a:spcPct val="100000"/>
                  </a:lnSpc>
                  <a:spcBef>
                    <a:spcPts val="0"/>
                  </a:spcBef>
                  <a:spcAft>
                    <a:spcPts val="0"/>
                  </a:spcAft>
                  <a:buClr>
                    <a:schemeClr val="dk1"/>
                  </a:buClr>
                  <a:buSzPts val="1900"/>
                  <a:buFont typeface="Arial"/>
                  <a:buNone/>
                </a:pPr>
                <a:endParaRPr sz="1900" b="0" i="0" u="none" strike="noStrike" cap="none">
                  <a:solidFill>
                    <a:schemeClr val="lt1"/>
                  </a:solidFill>
                  <a:latin typeface="Calibri"/>
                  <a:ea typeface="Calibri"/>
                  <a:cs typeface="Calibri"/>
                  <a:sym typeface="Calibri"/>
                </a:endParaRPr>
              </a:p>
            </p:txBody>
          </p:sp>
          <p:sp>
            <p:nvSpPr>
              <p:cNvPr id="443" name="Google Shape;443;gd8e05dde71_0_19"/>
              <p:cNvSpPr/>
              <p:nvPr/>
            </p:nvSpPr>
            <p:spPr>
              <a:xfrm>
                <a:off x="7831325" y="2229225"/>
                <a:ext cx="4585200" cy="3624600"/>
              </a:xfrm>
              <a:prstGeom prst="rect">
                <a:avLst/>
              </a:prstGeom>
              <a:solidFill>
                <a:schemeClr val="lt1"/>
              </a:solidFill>
              <a:ln w="9525" cap="flat" cmpd="sng">
                <a:solidFill>
                  <a:srgbClr val="516482"/>
                </a:solidFill>
                <a:prstDash val="solid"/>
                <a:round/>
                <a:headEnd type="none" w="sm" len="sm"/>
                <a:tailEnd type="none" w="sm" len="sm"/>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444" name="Google Shape;444;gd8e05dde71_0_19"/>
              <p:cNvSpPr txBox="1"/>
              <p:nvPr/>
            </p:nvSpPr>
            <p:spPr>
              <a:xfrm>
                <a:off x="8383749" y="4241500"/>
                <a:ext cx="3899700" cy="13797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2400" b="0" i="0" u="none" strike="noStrike" cap="none">
                    <a:solidFill>
                      <a:srgbClr val="FEFFFF"/>
                    </a:solidFill>
                    <a:latin typeface="Kaushan Script"/>
                    <a:ea typeface="Kaushan Script"/>
                    <a:cs typeface="Kaushan Script"/>
                    <a:sym typeface="Kaushan Script"/>
                  </a:rPr>
                  <a:t>Valérie GAUDEL</a:t>
                </a:r>
                <a:endParaRPr sz="2400" b="0" i="0" u="none" strike="noStrike" cap="none">
                  <a:solidFill>
                    <a:srgbClr val="FEFFFF"/>
                  </a:solidFill>
                  <a:latin typeface="Kaushan Script"/>
                  <a:ea typeface="Kaushan Script"/>
                  <a:cs typeface="Kaushan Script"/>
                  <a:sym typeface="Kaushan Script"/>
                </a:endParaRPr>
              </a:p>
              <a:p>
                <a:pPr marL="0" marR="0" lvl="0" indent="0" algn="l" rtl="0">
                  <a:lnSpc>
                    <a:spcPct val="100000"/>
                  </a:lnSpc>
                  <a:spcBef>
                    <a:spcPts val="0"/>
                  </a:spcBef>
                  <a:spcAft>
                    <a:spcPts val="0"/>
                  </a:spcAft>
                  <a:buClr>
                    <a:srgbClr val="000000"/>
                  </a:buClr>
                  <a:buSzPts val="1600"/>
                  <a:buFont typeface="Arial"/>
                  <a:buNone/>
                </a:pPr>
                <a:r>
                  <a:rPr lang="fr-FR" sz="2200" b="0" i="1" u="none" strike="noStrike" cap="none">
                    <a:solidFill>
                      <a:srgbClr val="FEFFFF"/>
                    </a:solidFill>
                    <a:latin typeface="Calibri"/>
                    <a:ea typeface="Calibri"/>
                    <a:cs typeface="Calibri"/>
                    <a:sym typeface="Calibri"/>
                  </a:rPr>
                  <a:t>Tel: 07 56 99 92 49</a:t>
                </a:r>
                <a:endParaRPr sz="2200" b="0" i="1" u="none" strike="noStrike" cap="none">
                  <a:solidFill>
                    <a:srgbClr val="FEFFFF"/>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fr-FR" sz="2200" b="0" i="1" u="none" strike="noStrike" cap="none">
                    <a:solidFill>
                      <a:srgbClr val="FEFFFF"/>
                    </a:solidFill>
                    <a:latin typeface="Calibri"/>
                    <a:ea typeface="Calibri"/>
                    <a:cs typeface="Calibri"/>
                    <a:sym typeface="Calibri"/>
                  </a:rPr>
                  <a:t>@: valerie.gaudel@twiga-rh.fr</a:t>
                </a:r>
                <a:endParaRPr sz="2200" b="0" i="1" u="none" strike="noStrike" cap="none">
                  <a:solidFill>
                    <a:srgbClr val="FEFFFF"/>
                  </a:solidFill>
                  <a:latin typeface="Calibri"/>
                  <a:ea typeface="Calibri"/>
                  <a:cs typeface="Calibri"/>
                  <a:sym typeface="Calibri"/>
                </a:endParaRPr>
              </a:p>
            </p:txBody>
          </p:sp>
          <p:grpSp>
            <p:nvGrpSpPr>
              <p:cNvPr id="445" name="Google Shape;445;gd8e05dde71_0_19"/>
              <p:cNvGrpSpPr/>
              <p:nvPr/>
            </p:nvGrpSpPr>
            <p:grpSpPr>
              <a:xfrm>
                <a:off x="5288631" y="3476675"/>
                <a:ext cx="2143719" cy="1676560"/>
                <a:chOff x="3465622" y="2967692"/>
                <a:chExt cx="1531228" cy="1197201"/>
              </a:xfrm>
            </p:grpSpPr>
            <p:sp>
              <p:nvSpPr>
                <p:cNvPr id="446" name="Google Shape;446;gd8e05dde71_0_19"/>
                <p:cNvSpPr txBox="1"/>
                <p:nvPr/>
              </p:nvSpPr>
              <p:spPr>
                <a:xfrm>
                  <a:off x="3465853" y="2967692"/>
                  <a:ext cx="1059000" cy="6003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8000"/>
                    <a:buFont typeface="Arial"/>
                    <a:buNone/>
                  </a:pPr>
                  <a:r>
                    <a:rPr lang="fr-FR" sz="3900" b="1" i="0" u="none" strike="noStrike" cap="none">
                      <a:solidFill>
                        <a:srgbClr val="F8F8F8"/>
                      </a:solidFill>
                      <a:latin typeface="Kaushan Script"/>
                      <a:ea typeface="Kaushan Script"/>
                      <a:cs typeface="Kaushan Script"/>
                      <a:sym typeface="Kaushan Script"/>
                    </a:rPr>
                    <a:t>Twiga</a:t>
                  </a:r>
                  <a:endParaRPr sz="3900" b="1" i="0" u="none" strike="noStrike" cap="none">
                    <a:solidFill>
                      <a:srgbClr val="F8F8F8"/>
                    </a:solidFill>
                    <a:latin typeface="Kaushan Script"/>
                    <a:ea typeface="Kaushan Script"/>
                    <a:cs typeface="Kaushan Script"/>
                    <a:sym typeface="Kaushan Script"/>
                  </a:endParaRPr>
                </a:p>
              </p:txBody>
            </p:sp>
            <p:sp>
              <p:nvSpPr>
                <p:cNvPr id="447" name="Google Shape;447;gd8e05dde71_0_19"/>
                <p:cNvSpPr txBox="1"/>
                <p:nvPr/>
              </p:nvSpPr>
              <p:spPr>
                <a:xfrm>
                  <a:off x="3620446" y="3415600"/>
                  <a:ext cx="1376400" cy="2463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fr-FR" sz="1600" b="0" i="0" u="none" strike="noStrike" cap="none">
                      <a:solidFill>
                        <a:srgbClr val="F8F8F8"/>
                      </a:solidFill>
                      <a:latin typeface="Calibri"/>
                      <a:ea typeface="Calibri"/>
                      <a:cs typeface="Calibri"/>
                      <a:sym typeface="Calibri"/>
                    </a:rPr>
                    <a:t>Réussir par </a:t>
                  </a:r>
                  <a:r>
                    <a:rPr lang="fr-FR" sz="1600" b="0" i="0" u="none" strike="noStrike" cap="none">
                      <a:solidFill>
                        <a:srgbClr val="FEFFFF"/>
                      </a:solidFill>
                      <a:latin typeface="Calibri"/>
                      <a:ea typeface="Calibri"/>
                      <a:cs typeface="Calibri"/>
                      <a:sym typeface="Calibri"/>
                    </a:rPr>
                    <a:t>l’</a:t>
                  </a:r>
                  <a:endParaRPr sz="1600" b="0" i="0" u="none" strike="noStrike" cap="none">
                    <a:solidFill>
                      <a:schemeClr val="accent1"/>
                    </a:solidFill>
                    <a:latin typeface="Arial"/>
                    <a:ea typeface="Arial"/>
                    <a:cs typeface="Arial"/>
                    <a:sym typeface="Arial"/>
                  </a:endParaRPr>
                </a:p>
              </p:txBody>
            </p:sp>
            <p:sp>
              <p:nvSpPr>
                <p:cNvPr id="448" name="Google Shape;448;gd8e05dde71_0_19"/>
                <p:cNvSpPr txBox="1"/>
                <p:nvPr/>
              </p:nvSpPr>
              <p:spPr>
                <a:xfrm>
                  <a:off x="3465622" y="3564593"/>
                  <a:ext cx="1059000" cy="6003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8000"/>
                    <a:buFont typeface="Arial"/>
                    <a:buNone/>
                  </a:pPr>
                  <a:r>
                    <a:rPr lang="fr-FR" sz="3900" b="1" i="0" u="none" strike="noStrike" cap="none">
                      <a:solidFill>
                        <a:srgbClr val="FEFFFF"/>
                      </a:solidFill>
                      <a:latin typeface="Kaushan Script"/>
                      <a:ea typeface="Kaushan Script"/>
                      <a:cs typeface="Kaushan Script"/>
                      <a:sym typeface="Kaushan Script"/>
                    </a:rPr>
                    <a:t>R</a:t>
                  </a:r>
                  <a:r>
                    <a:rPr lang="fr-FR" sz="3900" b="1" i="0" u="none" strike="noStrike" cap="none">
                      <a:solidFill>
                        <a:schemeClr val="accent1"/>
                      </a:solidFill>
                      <a:latin typeface="Kaushan Script"/>
                      <a:ea typeface="Kaushan Script"/>
                      <a:cs typeface="Kaushan Script"/>
                      <a:sym typeface="Kaushan Script"/>
                    </a:rPr>
                    <a:t>H</a:t>
                  </a:r>
                  <a:endParaRPr sz="3900" b="1" i="0" u="none" strike="noStrike" cap="none">
                    <a:solidFill>
                      <a:schemeClr val="accent1"/>
                    </a:solidFill>
                    <a:latin typeface="Kaushan Script"/>
                    <a:ea typeface="Kaushan Script"/>
                    <a:cs typeface="Kaushan Script"/>
                    <a:sym typeface="Kaushan Script"/>
                  </a:endParaRPr>
                </a:p>
              </p:txBody>
            </p:sp>
            <p:sp>
              <p:nvSpPr>
                <p:cNvPr id="449" name="Google Shape;449;gd8e05dde71_0_19"/>
                <p:cNvSpPr txBox="1"/>
                <p:nvPr/>
              </p:nvSpPr>
              <p:spPr>
                <a:xfrm>
                  <a:off x="4152950" y="3632500"/>
                  <a:ext cx="843900" cy="3387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fr-FR" sz="1600" b="0" i="0" u="none" strike="noStrike" cap="none">
                      <a:solidFill>
                        <a:schemeClr val="accent1"/>
                      </a:solidFill>
                      <a:latin typeface="Calibri"/>
                      <a:ea typeface="Calibri"/>
                      <a:cs typeface="Calibri"/>
                      <a:sym typeface="Calibri"/>
                    </a:rPr>
                    <a:t>umain</a:t>
                  </a:r>
                  <a:endParaRPr sz="1600" b="0" i="0" u="none" strike="noStrike" cap="none">
                    <a:solidFill>
                      <a:srgbClr val="000000"/>
                    </a:solidFill>
                    <a:latin typeface="Arial"/>
                    <a:ea typeface="Arial"/>
                    <a:cs typeface="Arial"/>
                    <a:sym typeface="Arial"/>
                  </a:endParaRPr>
                </a:p>
              </p:txBody>
            </p:sp>
          </p:grpSp>
          <p:sp>
            <p:nvSpPr>
              <p:cNvPr id="450" name="Google Shape;450;gd8e05dde71_0_19"/>
              <p:cNvSpPr/>
              <p:nvPr/>
            </p:nvSpPr>
            <p:spPr>
              <a:xfrm>
                <a:off x="11813174" y="2623950"/>
                <a:ext cx="367800" cy="331800"/>
              </a:xfrm>
              <a:prstGeom prst="rect">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 name="Google Shape;451;gd8e05dde71_0_19"/>
              <p:cNvSpPr/>
              <p:nvPr/>
            </p:nvSpPr>
            <p:spPr>
              <a:xfrm>
                <a:off x="11587418" y="2786627"/>
                <a:ext cx="336000" cy="279300"/>
              </a:xfrm>
              <a:prstGeom prst="rect">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gd8e05dde71_0_19"/>
              <p:cNvSpPr/>
              <p:nvPr/>
            </p:nvSpPr>
            <p:spPr>
              <a:xfrm>
                <a:off x="11420726" y="2432422"/>
                <a:ext cx="178800" cy="163500"/>
              </a:xfrm>
              <a:prstGeom prst="rect">
                <a:avLst/>
              </a:prstGeom>
              <a:noFill/>
              <a:ln w="1905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 name="Google Shape;453;gd8e05dde71_0_19"/>
              <p:cNvSpPr/>
              <p:nvPr/>
            </p:nvSpPr>
            <p:spPr>
              <a:xfrm rot="-5400000">
                <a:off x="7729845" y="2560094"/>
                <a:ext cx="336110" cy="732488"/>
              </a:xfrm>
              <a:prstGeom prst="flowChartOffpageConnector">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454" name="Google Shape;454;gd8e05dde71_0_19"/>
              <p:cNvPicPr preferRelativeResize="0"/>
              <p:nvPr/>
            </p:nvPicPr>
            <p:blipFill rotWithShape="1">
              <a:blip r:embed="rId3">
                <a:alphaModFix/>
              </a:blip>
              <a:srcRect/>
              <a:stretch/>
            </p:blipFill>
            <p:spPr>
              <a:xfrm>
                <a:off x="7054110" y="4706985"/>
                <a:ext cx="640086" cy="907880"/>
              </a:xfrm>
              <a:prstGeom prst="rect">
                <a:avLst/>
              </a:prstGeom>
              <a:noFill/>
              <a:ln>
                <a:noFill/>
              </a:ln>
            </p:spPr>
          </p:pic>
        </p:grpSp>
        <p:pic>
          <p:nvPicPr>
            <p:cNvPr id="455" name="Google Shape;455;gd8e05dde71_0_19"/>
            <p:cNvPicPr preferRelativeResize="0"/>
            <p:nvPr/>
          </p:nvPicPr>
          <p:blipFill rotWithShape="1">
            <a:blip r:embed="rId4">
              <a:alphaModFix/>
            </a:blip>
            <a:srcRect/>
            <a:stretch/>
          </p:blipFill>
          <p:spPr>
            <a:xfrm>
              <a:off x="7029688" y="1994800"/>
              <a:ext cx="1924200" cy="1781100"/>
            </a:xfrm>
            <a:prstGeom prst="ellipse">
              <a:avLst/>
            </a:prstGeom>
            <a:noFill/>
            <a:ln w="38100" cap="flat" cmpd="sng">
              <a:solidFill>
                <a:schemeClr val="dk2"/>
              </a:solidFill>
              <a:prstDash val="solid"/>
              <a:round/>
              <a:headEnd type="none" w="sm" len="sm"/>
              <a:tailEnd type="none" w="sm" len="sm"/>
            </a:ln>
          </p:spPr>
        </p:pic>
      </p:grpSp>
    </p:spTree>
  </p:cSld>
  <p:clrMapOvr>
    <a:masterClrMapping/>
  </p:clrMapOvr>
</p:sld>
</file>

<file path=ppt/theme/theme1.xml><?xml version="1.0" encoding="utf-8"?>
<a:theme xmlns:a="http://schemas.openxmlformats.org/drawingml/2006/main" name="Brin">
  <a:themeElements>
    <a:clrScheme name="Twiga rH">
      <a:dk1>
        <a:srgbClr val="584B84"/>
      </a:dk1>
      <a:lt1>
        <a:srgbClr val="7F7F7F"/>
      </a:lt1>
      <a:dk2>
        <a:srgbClr val="CA0E7E"/>
      </a:dk2>
      <a:lt2>
        <a:srgbClr val="E5DEDB"/>
      </a:lt2>
      <a:accent1>
        <a:srgbClr val="FFCA08"/>
      </a:accent1>
      <a:accent2>
        <a:srgbClr val="FFDE1C"/>
      </a:accent2>
      <a:accent3>
        <a:srgbClr val="FFF230"/>
      </a:accent3>
      <a:accent4>
        <a:srgbClr val="FFFF44"/>
      </a:accent4>
      <a:accent5>
        <a:srgbClr val="F35AB5"/>
      </a:accent5>
      <a:accent6>
        <a:srgbClr val="F791CE"/>
      </a:accent6>
      <a:hlink>
        <a:srgbClr val="65063F"/>
      </a:hlink>
      <a:folHlink>
        <a:srgbClr val="784C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951</Words>
  <Application>Microsoft Office PowerPoint</Application>
  <PresentationFormat>Grand écran</PresentationFormat>
  <Paragraphs>146</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Kaushan Script</vt:lpstr>
      <vt:lpstr>Calibri</vt:lpstr>
      <vt:lpstr>Arial</vt:lpstr>
      <vt:lpstr>Brin</vt:lpstr>
      <vt:lpstr>Présentation PowerPoint</vt:lpstr>
      <vt:lpstr>POURQUOI PRENDRE SOIN DE VOS SALARIÉS?</vt:lpstr>
      <vt:lpstr>Présentation PowerPoint</vt:lpstr>
      <vt:lpstr>Présentation PowerPoint</vt:lpstr>
      <vt:lpstr>VOTRE CONTEXTE</vt:lpstr>
      <vt:lpstr>VOTRE CONTEXTE</vt:lpstr>
      <vt:lpstr>VOTRE CONTEXTE</vt:lpstr>
      <vt:lpstr>Présentation PowerPoint</vt:lpstr>
      <vt:lpstr>VOS BESOINS/MON OFFRE</vt:lpstr>
      <vt:lpstr>Présentation PowerPoint</vt:lpstr>
      <vt:lpstr>MA DÉMARCHE</vt:lpstr>
      <vt:lpstr>MA DÉMARCHE</vt:lpstr>
      <vt:lpstr>Présentation PowerPoint</vt:lpstr>
      <vt:lpstr>QUI SUIS-JE?</vt:lpstr>
      <vt:lpstr>QUI SUIS-JE?</vt:lpstr>
      <vt:lpstr>QUI SUIS-JE?</vt:lpstr>
      <vt:lpstr>QUI SUIS-JE?</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JM &amp; VAL</dc:creator>
  <cp:lastModifiedBy>Valérie Gaudel</cp:lastModifiedBy>
  <cp:revision>5</cp:revision>
  <dcterms:created xsi:type="dcterms:W3CDTF">2021-05-05T13:45:39Z</dcterms:created>
  <dcterms:modified xsi:type="dcterms:W3CDTF">2024-07-18T14:36:28Z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dbd7389-f965-4583-bf60-f9060cd03d8f_Enabled">
    <vt:lpwstr>true</vt:lpwstr>
  </property>
  <property fmtid="{D5CDD505-2E9C-101B-9397-08002B2CF9AE}" pid="3" name="MSIP_Label_7dbd7389-f965-4583-bf60-f9060cd03d8f_SetDate">
    <vt:lpwstr>2024-07-18T14:35:59Z</vt:lpwstr>
  </property>
  <property fmtid="{D5CDD505-2E9C-101B-9397-08002B2CF9AE}" pid="4" name="MSIP_Label_7dbd7389-f965-4583-bf60-f9060cd03d8f_Method">
    <vt:lpwstr>Standard</vt:lpwstr>
  </property>
  <property fmtid="{D5CDD505-2E9C-101B-9397-08002B2CF9AE}" pid="5" name="MSIP_Label_7dbd7389-f965-4583-bf60-f9060cd03d8f_Name">
    <vt:lpwstr>Général</vt:lpwstr>
  </property>
  <property fmtid="{D5CDD505-2E9C-101B-9397-08002B2CF9AE}" pid="6" name="MSIP_Label_7dbd7389-f965-4583-bf60-f9060cd03d8f_SiteId">
    <vt:lpwstr>33609305-3642-4eb9-b231-aa2c4d9f154c</vt:lpwstr>
  </property>
  <property fmtid="{D5CDD505-2E9C-101B-9397-08002B2CF9AE}" pid="7" name="MSIP_Label_7dbd7389-f965-4583-bf60-f9060cd03d8f_ActionId">
    <vt:lpwstr>5ce87bf4-09f7-4e76-baaf-765e9d3ef8d6</vt:lpwstr>
  </property>
  <property fmtid="{D5CDD505-2E9C-101B-9397-08002B2CF9AE}" pid="8" name="MSIP_Label_7dbd7389-f965-4583-bf60-f9060cd03d8f_ContentBits">
    <vt:lpwstr>0</vt:lpwstr>
  </property>
</Properties>
</file>